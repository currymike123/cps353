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50e1bc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50e1bc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8be8dc2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8be8dc2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8be8dc2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8be8dc2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8be8dc23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8be8dc2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8be8dc23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8be8dc23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8be8dc23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8be8dc23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8be8dc23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8be8dc23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8be8dc2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8be8dc2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be8dc23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be8dc23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8be8dc23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8be8dc23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8be8dc23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8be8dc23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8be8dc23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8be8dc23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8be8dc23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8be8dc23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be8dc23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8be8dc23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8be8dc23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8be8dc23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8be8dc23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8be8dc23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8be8dc23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8be8dc23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8be8dc23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8be8dc23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8be8dc23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8be8dc23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8be8dc23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8be8dc23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8be8dc23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8be8dc23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8be8dc23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8be8dc23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8be8dc23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8be8dc23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8be8dc23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8be8dc23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8be8dc23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8be8dc23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8be8dc23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8be8dc23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8be8dc23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8be8dc23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8be8dc23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68be8dc23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8be8dc230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68be8dc23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50e1bc6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50e1bc6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950e1bc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950e1bc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950e1bc6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950e1bc6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950e1bc6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950e1bc6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950e1bc6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950e1bc6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950e1bc6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950e1bc6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950e1bc6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950e1bc6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950e1bc6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a950e1bc6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950e1bc6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950e1bc6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950e1bc6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950e1bc6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950e1bc6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950e1bc6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950e1bc6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950e1bc6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950e1bc6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950e1bc6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950e1bc6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950e1bc6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950e1bc6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950e1bc6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950e1bc6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950e1bc6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950e1bc6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950e1bc6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950e1bc6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950e1bc6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950e1bc6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950e1bc6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950e1bc6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950e1bc6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950e1bc6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950e1bc6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950e1bc6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950e1bc6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950e1bc6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950e1bc6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950e1bc6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950e1bc6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950e1bc6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950e1bc6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950e1bc6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950e1bc6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950e1bc6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950e1bc6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950e1bc6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950e1bc6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950e1bc61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a950e1bc61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950e1bc61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950e1bc6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950e1bc6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950e1bc6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950e1bc61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950e1bc61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950e1bc6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950e1bc6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950e1bc6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950e1bc6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950e1bc61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a950e1bc6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950e1bc61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a950e1bc6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950e1bc6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950e1bc6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950e1bc61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950e1bc61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950e1bc61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950e1bc6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950e1bc6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950e1bc6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950e1bc61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950e1bc6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950e1bc61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a950e1bc6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950e1bc61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950e1bc61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vm5MNP7pn5g" TargetMode="External"/><Relationship Id="rId4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2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963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053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Threading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925" y="75750"/>
            <a:ext cx="481012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Actually Is Java Code?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java MyProgram </a:t>
            </a:r>
            <a:r>
              <a:rPr lang="en"/>
              <a:t>actually do?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Tells the operating system to start a </a:t>
            </a:r>
            <a:r>
              <a:rPr b="1" lang="en"/>
              <a:t>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process runs the JVM (Java Virtual Machine)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Fun fact: the JVM is an </a:t>
            </a:r>
            <a:r>
              <a:rPr b="1" lang="en"/>
              <a:t>API</a:t>
            </a:r>
            <a:r>
              <a:rPr lang="en"/>
              <a:t> between compiled java code and the actual 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JVM calls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static void main(String[] args)</a:t>
            </a:r>
            <a:r>
              <a:rPr lang="en"/>
              <a:t> that we know and love on the </a:t>
            </a:r>
            <a:r>
              <a:rPr b="1" lang="en"/>
              <a:t>main thread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 Thread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292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process</a:t>
            </a:r>
            <a:r>
              <a:rPr lang="en"/>
              <a:t> has an OS-level chunk of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process is allowed to mess with another's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other resources (File System, etc) are shared between processes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049" y="533725"/>
            <a:ext cx="5443275" cy="44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 Thread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283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thread</a:t>
            </a:r>
            <a:r>
              <a:rPr lang="en"/>
              <a:t> is contained within a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has its own memory (</a:t>
            </a:r>
            <a:r>
              <a:rPr b="1" lang="en"/>
              <a:t>stack</a:t>
            </a:r>
            <a:r>
              <a:rPr lang="en"/>
              <a:t>) and shared memory (</a:t>
            </a:r>
            <a:r>
              <a:rPr b="1" lang="en"/>
              <a:t>heap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can only use </a:t>
            </a:r>
            <a:r>
              <a:rPr b="1" lang="en"/>
              <a:t>one </a:t>
            </a:r>
            <a:r>
              <a:rPr lang="en"/>
              <a:t>core of one CPU at a time (linearly follows instructions)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550" y="445025"/>
            <a:ext cx="433362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Stack: (Mostly) Primitive Types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on the stack is a fixed, known size.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Local variable primitive types: int, boolean, long, etc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Local Variable: On the Stack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4;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388" y="1246325"/>
            <a:ext cx="260032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called the "Stack"?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get pushed onto the stack, then popped when you leave a </a:t>
            </a:r>
            <a:r>
              <a:rPr b="1" lang="en"/>
              <a:t>scope</a:t>
            </a:r>
            <a:r>
              <a:rPr lang="en"/>
              <a:t> (usually a curly-brace section)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4;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while (x &lt; 5)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y =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x = y + 1;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1876700" y="2881500"/>
            <a:ext cx="7158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875" y="1073075"/>
            <a:ext cx="25527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called the "Stack"?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y is now </a:t>
            </a:r>
            <a:r>
              <a:rPr b="1" lang="en"/>
              <a:t>in scope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4;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while (x &lt; 5)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y =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x = y + 1;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2483250" y="2890575"/>
            <a:ext cx="7158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250" y="1162050"/>
            <a:ext cx="261937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called the "Stack"?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still within the inner braces, so the stack is unchanged (just the values change)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4;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while (x &lt; 5)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y =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x = y + 1;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return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2483250" y="3652575"/>
            <a:ext cx="7158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400" y="1181100"/>
            <a:ext cx="26384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called the "Stack"?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y is out of scope, so it gets popped off the stack. This is why scopes are nested!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4;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while (x &lt; 5)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y =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x = y + 1;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return x;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1949850" y="4185975"/>
            <a:ext cx="7158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850" y="1152475"/>
            <a:ext cx="26098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Else is On The Stack?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Control Metadata: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Instruction Pointer - what line of code to go to next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Stack being tightly controlled ⇒ very difficult to accidentally overwrite this data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people say Java is a “secure” language, this is what they mean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on The Heap?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Almost everything!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fields within a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Anything to the right of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String literals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Claymation, pointers, and hilarity: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https://www.youtube.com/watch?v=vm5MNP7pn5g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Primitive type: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4;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Memory:			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					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75" y="3404413"/>
            <a:ext cx="24003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4067525" y="2868625"/>
            <a:ext cx="39522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Program: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"Hey computer, when I say </a:t>
            </a:r>
            <a:r>
              <a:rPr b="1" lang="en" sz="1800">
                <a:solidFill>
                  <a:schemeClr val="dk2"/>
                </a:solidFill>
              </a:rPr>
              <a:t>x</a:t>
            </a:r>
            <a:r>
              <a:rPr lang="en" sz="1800">
                <a:solidFill>
                  <a:schemeClr val="dk2"/>
                </a:solidFill>
              </a:rPr>
              <a:t>, I mean the 4 bytes located at 0x44ED"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 type: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 = "Hello World";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					</a:t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311700" y="2452625"/>
            <a:ext cx="39522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Program: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"Hey computer, when I say </a:t>
            </a:r>
            <a:r>
              <a:rPr b="1" lang="en" sz="1800">
                <a:solidFill>
                  <a:schemeClr val="dk2"/>
                </a:solidFill>
              </a:rPr>
              <a:t>s</a:t>
            </a:r>
            <a:r>
              <a:rPr lang="en" sz="1800">
                <a:solidFill>
                  <a:schemeClr val="dk2"/>
                </a:solidFill>
              </a:rPr>
              <a:t>, I mean the 8 bytes located at 0x44ED"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674" y="834224"/>
            <a:ext cx="3658250" cy="37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4407900" y="372525"/>
            <a:ext cx="47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Memory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 type: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 = "Hello World";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s.length();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					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311700" y="2452625"/>
            <a:ext cx="39522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Program: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"Hey computer, when I say </a:t>
            </a:r>
            <a:r>
              <a:rPr b="1" lang="en" sz="1800">
                <a:solidFill>
                  <a:schemeClr val="dk2"/>
                </a:solidFill>
              </a:rPr>
              <a:t>.</a:t>
            </a:r>
            <a:r>
              <a:rPr lang="en" sz="1800">
                <a:solidFill>
                  <a:schemeClr val="dk2"/>
                </a:solidFill>
              </a:rPr>
              <a:t>, start with the 8 bytes at the variables address, then 'follow the pointer' and use the data located at the memory address stored in those 8 bytes"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674" y="834224"/>
            <a:ext cx="3658250" cy="37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4407900" y="372525"/>
            <a:ext cx="47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Memory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 type: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 = "Hello World";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pointer “s” is on the </a:t>
            </a:r>
            <a:r>
              <a:rPr b="1" lang="en"/>
              <a:t>stack</a:t>
            </a:r>
            <a:r>
              <a:rPr lang="en"/>
              <a:t>, the data pointed to is on the 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					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4407900" y="372525"/>
            <a:ext cx="47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Shorthand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06713"/>
            <a:ext cx="3718250" cy="410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on The Heap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34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FileSystem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final File root;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int numFiles;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FileSystem()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root = new File("/home");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does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FileSystem fs = new FileSystem();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do?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329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on The Heap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34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FileSystem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final File root;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int numFiles;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FileSystem()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root = new File("/home");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Step 1: Create a "shell" FileSystem object on the heap</a:t>
            </a:r>
            <a:endParaRPr sz="1400"/>
          </a:p>
        </p:txBody>
      </p:sp>
      <p:grpSp>
        <p:nvGrpSpPr>
          <p:cNvPr id="180" name="Google Shape;180;p30"/>
          <p:cNvGrpSpPr/>
          <p:nvPr/>
        </p:nvGrpSpPr>
        <p:grpSpPr>
          <a:xfrm>
            <a:off x="3899075" y="608900"/>
            <a:ext cx="4687800" cy="3658800"/>
            <a:chOff x="3899075" y="608900"/>
            <a:chExt cx="4687800" cy="3658800"/>
          </a:xfrm>
        </p:grpSpPr>
        <p:sp>
          <p:nvSpPr>
            <p:cNvPr id="181" name="Google Shape;181;p30"/>
            <p:cNvSpPr/>
            <p:nvPr/>
          </p:nvSpPr>
          <p:spPr>
            <a:xfrm>
              <a:off x="3899075" y="608900"/>
              <a:ext cx="4687800" cy="36588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4094045" y="929075"/>
              <a:ext cx="2308800" cy="15549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0"/>
            <p:cNvSpPr txBox="1"/>
            <p:nvPr/>
          </p:nvSpPr>
          <p:spPr>
            <a:xfrm>
              <a:off x="4218800" y="1091100"/>
              <a:ext cx="1966500" cy="12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Type: FileSystem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root:   0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numFiles:   0</a:t>
              </a:r>
              <a:endParaRPr sz="1600">
                <a:solidFill>
                  <a:schemeClr val="dk2"/>
                </a:solidFill>
              </a:endParaRPr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4779846" y="1567700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5237046" y="1948700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445025"/>
            <a:ext cx="329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on The Heap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1152475"/>
            <a:ext cx="34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FileSystem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final File root;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int numFiles;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FileSystem()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root = new File("/home");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Step 2: Call the constructor: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root = new File("/home");</a:t>
            </a:r>
            <a:endParaRPr sz="1400"/>
          </a:p>
        </p:txBody>
      </p:sp>
      <p:grpSp>
        <p:nvGrpSpPr>
          <p:cNvPr id="192" name="Google Shape;192;p31"/>
          <p:cNvGrpSpPr/>
          <p:nvPr/>
        </p:nvGrpSpPr>
        <p:grpSpPr>
          <a:xfrm>
            <a:off x="3899075" y="589975"/>
            <a:ext cx="4687800" cy="3658800"/>
            <a:chOff x="3899075" y="608900"/>
            <a:chExt cx="4687800" cy="3658800"/>
          </a:xfrm>
        </p:grpSpPr>
        <p:sp>
          <p:nvSpPr>
            <p:cNvPr id="193" name="Google Shape;193;p31"/>
            <p:cNvSpPr/>
            <p:nvPr/>
          </p:nvSpPr>
          <p:spPr>
            <a:xfrm>
              <a:off x="3899075" y="608900"/>
              <a:ext cx="4687800" cy="36588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4094045" y="929075"/>
              <a:ext cx="2308800" cy="15549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1"/>
            <p:cNvSpPr txBox="1"/>
            <p:nvPr/>
          </p:nvSpPr>
          <p:spPr>
            <a:xfrm>
              <a:off x="4218800" y="1091100"/>
              <a:ext cx="1966500" cy="12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Type: FileSystem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root:   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numFiles:   0</a:t>
              </a:r>
              <a:endParaRPr sz="1600">
                <a:solidFill>
                  <a:schemeClr val="dk2"/>
                </a:solidFill>
              </a:endParaRPr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4864796" y="1538675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5237046" y="1948700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31"/>
          <p:cNvSpPr/>
          <p:nvPr/>
        </p:nvSpPr>
        <p:spPr>
          <a:xfrm>
            <a:off x="6151445" y="2605475"/>
            <a:ext cx="2308800" cy="15549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6276200" y="2767500"/>
            <a:ext cx="1966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Type: File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…fields go here…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200" name="Google Shape;200;p31"/>
          <p:cNvCxnSpPr>
            <a:endCxn id="198" idx="0"/>
          </p:cNvCxnSpPr>
          <p:nvPr/>
        </p:nvCxnSpPr>
        <p:spPr>
          <a:xfrm>
            <a:off x="5088545" y="1705475"/>
            <a:ext cx="2217300" cy="9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329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on The Heap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3427800" cy="3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FileSystem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final File root;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int numFiles;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FileSystem()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root = new File("/home");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Step 3: Call the constructor: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Notice that the fields are on the </a:t>
            </a:r>
            <a:r>
              <a:rPr b="1" lang="en" sz="1400"/>
              <a:t>heap</a:t>
            </a:r>
            <a:r>
              <a:rPr lang="en" sz="1400"/>
              <a:t>, even if they have a primitive type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07" name="Google Shape;207;p32"/>
          <p:cNvGrpSpPr/>
          <p:nvPr/>
        </p:nvGrpSpPr>
        <p:grpSpPr>
          <a:xfrm>
            <a:off x="3899075" y="589975"/>
            <a:ext cx="4687800" cy="3658800"/>
            <a:chOff x="3899075" y="608900"/>
            <a:chExt cx="4687800" cy="3658800"/>
          </a:xfrm>
        </p:grpSpPr>
        <p:sp>
          <p:nvSpPr>
            <p:cNvPr id="208" name="Google Shape;208;p32"/>
            <p:cNvSpPr/>
            <p:nvPr/>
          </p:nvSpPr>
          <p:spPr>
            <a:xfrm>
              <a:off x="3899075" y="608900"/>
              <a:ext cx="4687800" cy="36588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4094045" y="929075"/>
              <a:ext cx="2308800" cy="15549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2"/>
            <p:cNvSpPr txBox="1"/>
            <p:nvPr/>
          </p:nvSpPr>
          <p:spPr>
            <a:xfrm>
              <a:off x="4218800" y="1091100"/>
              <a:ext cx="1966500" cy="12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Type: FileSystem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root:   </a:t>
              </a:r>
              <a:endParaRPr sz="1600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numFiles:   1</a:t>
              </a:r>
              <a:endParaRPr sz="1600">
                <a:solidFill>
                  <a:schemeClr val="dk2"/>
                </a:solidFill>
              </a:endParaRPr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4864796" y="1538675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2"/>
            <p:cNvSpPr/>
            <p:nvPr/>
          </p:nvSpPr>
          <p:spPr>
            <a:xfrm>
              <a:off x="5237046" y="1948700"/>
              <a:ext cx="605700" cy="30660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32"/>
          <p:cNvSpPr/>
          <p:nvPr/>
        </p:nvSpPr>
        <p:spPr>
          <a:xfrm>
            <a:off x="6151445" y="2605475"/>
            <a:ext cx="2308800" cy="15549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6276200" y="2767500"/>
            <a:ext cx="1966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Type: File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…fields go here…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215" name="Google Shape;215;p32"/>
          <p:cNvCxnSpPr>
            <a:endCxn id="213" idx="0"/>
          </p:cNvCxnSpPr>
          <p:nvPr/>
        </p:nvCxnSpPr>
        <p:spPr>
          <a:xfrm>
            <a:off x="5088545" y="1705475"/>
            <a:ext cx="2217300" cy="9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445025"/>
            <a:ext cx="329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on The Heap</a:t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1152475"/>
            <a:ext cx="3427800" cy="3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FileSystem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final File root;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int numFiles;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FileSystem()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root = new File("/home");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numFiles = 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Step 4: Set up the local variable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FileSystem fs = new FileSystem();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Note that Java is a </a:t>
            </a:r>
            <a:r>
              <a:rPr b="1" lang="en" sz="1400"/>
              <a:t>strongly typed</a:t>
            </a:r>
            <a:r>
              <a:rPr lang="en" sz="1400"/>
              <a:t> language - each blob o' bytes knows what type it is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Not true in languages like C or Python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975" y="1716678"/>
            <a:ext cx="3127625" cy="248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33"/>
          <p:cNvGrpSpPr/>
          <p:nvPr/>
        </p:nvGrpSpPr>
        <p:grpSpPr>
          <a:xfrm>
            <a:off x="3899131" y="589968"/>
            <a:ext cx="1642605" cy="1786958"/>
            <a:chOff x="3899075" y="608900"/>
            <a:chExt cx="4687800" cy="3658800"/>
          </a:xfrm>
        </p:grpSpPr>
        <p:sp>
          <p:nvSpPr>
            <p:cNvPr id="224" name="Google Shape;224;p33"/>
            <p:cNvSpPr/>
            <p:nvPr/>
          </p:nvSpPr>
          <p:spPr>
            <a:xfrm>
              <a:off x="3899075" y="608900"/>
              <a:ext cx="4687800" cy="3658800"/>
            </a:xfrm>
            <a:prstGeom prst="rect">
              <a:avLst/>
            </a:prstGeom>
            <a:noFill/>
            <a:ln cap="flat" cmpd="sng" w="19050">
              <a:solidFill>
                <a:srgbClr val="000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5398843" y="1085112"/>
              <a:ext cx="2066400" cy="918900"/>
            </a:xfrm>
            <a:prstGeom prst="rect">
              <a:avLst/>
            </a:prstGeom>
            <a:noFill/>
            <a:ln cap="flat" cmpd="sng" w="19050">
              <a:solidFill>
                <a:srgbClr val="000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33"/>
          <p:cNvSpPr txBox="1"/>
          <p:nvPr/>
        </p:nvSpPr>
        <p:spPr>
          <a:xfrm>
            <a:off x="4048625" y="798000"/>
            <a:ext cx="51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7" name="Google Shape;227;p33"/>
          <p:cNvCxnSpPr/>
          <p:nvPr/>
        </p:nvCxnSpPr>
        <p:spPr>
          <a:xfrm>
            <a:off x="4738825" y="1024925"/>
            <a:ext cx="1957200" cy="9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33"/>
          <p:cNvSpPr txBox="1"/>
          <p:nvPr/>
        </p:nvSpPr>
        <p:spPr>
          <a:xfrm>
            <a:off x="3935150" y="173975"/>
            <a:ext cx="52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Stack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6875650" y="1374750"/>
            <a:ext cx="22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Applications of Deconstruction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AddingMachine machine = new AddingMachine();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25" y="1615400"/>
            <a:ext cx="6762750" cy="3448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34"/>
          <p:cNvCxnSpPr/>
          <p:nvPr/>
        </p:nvCxnSpPr>
        <p:spPr>
          <a:xfrm flipH="1" rot="10800000">
            <a:off x="3533325" y="2553875"/>
            <a:ext cx="1067400" cy="43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8" name="Google Shape;2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4550" y="346200"/>
            <a:ext cx="14097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Distinction Between "class" and "instance"</a:t>
            </a:r>
            <a:endParaRPr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713" y="1235488"/>
            <a:ext cx="29241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6048" y="1152475"/>
            <a:ext cx="3966241" cy="414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Arrays?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Contiguous block </a:t>
            </a:r>
            <a:r>
              <a:rPr b="1" lang="en"/>
              <a:t>on the heap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array knows its length (big difference in Java)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Match the code with the memory layout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out the ThreadingExercises repo (link on Brightspace)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 through </a:t>
            </a:r>
            <a:r>
              <a:rPr lang="en"/>
              <a:t>MemoryMatching.pdf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Parameters: Pointers vs Pointees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Java: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primitive types are passed by </a:t>
            </a:r>
            <a:r>
              <a:rPr b="1" lang="en"/>
              <a:t>value</a:t>
            </a:r>
            <a:r>
              <a:rPr lang="en"/>
              <a:t>: a copy of the data is made, modifying it doesn’t change the original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object types are passed by </a:t>
            </a:r>
            <a:r>
              <a:rPr b="1" lang="en"/>
              <a:t>reference</a:t>
            </a:r>
            <a:r>
              <a:rPr lang="en"/>
              <a:t>: a copy of the </a:t>
            </a:r>
            <a:r>
              <a:rPr b="1" lang="en"/>
              <a:t>pointer</a:t>
            </a:r>
            <a:r>
              <a:rPr lang="en"/>
              <a:t> is made, but not the data, so modifying the data changes the original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Alt interpretation: all parameters are passed by making a copy of what’s on the </a:t>
            </a:r>
            <a:r>
              <a:rPr b="1" lang="en"/>
              <a:t>stack</a:t>
            </a:r>
            <a:r>
              <a:rPr lang="en"/>
              <a:t>, but not copying what’s on the the </a:t>
            </a:r>
            <a:r>
              <a:rPr b="1" lang="en"/>
              <a:t>heap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Print?</a:t>
            </a:r>
            <a:endParaRPr/>
          </a:p>
        </p:txBody>
      </p:sp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increment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3F5FBF"/>
                </a:solidFill>
                <a:latin typeface="Consolas"/>
                <a:ea typeface="Consolas"/>
                <a:cs typeface="Consolas"/>
                <a:sym typeface="Consolas"/>
              </a:rPr>
              <a:t>/**  Adds 1 to the value */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increment(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3F7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        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600">
              <a:solidFill>
                <a:srgbClr val="3F7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This?</a:t>
            </a:r>
            <a:endParaRPr/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311700" y="1152475"/>
            <a:ext cx="5098500" cy="3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IntObject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IntObject(1);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IntObject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increment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3F5FBF"/>
                </a:solidFill>
                <a:latin typeface="Consolas"/>
                <a:ea typeface="Consolas"/>
                <a:cs typeface="Consolas"/>
                <a:sym typeface="Consolas"/>
              </a:rPr>
              <a:t>/**  Adds 1 to the value */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IntObject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increment(IntObject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intObject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intObject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IntObject(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intObject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277" name="Google Shape;277;p40"/>
          <p:cNvSpPr txBox="1"/>
          <p:nvPr/>
        </p:nvSpPr>
        <p:spPr>
          <a:xfrm>
            <a:off x="5343950" y="1299100"/>
            <a:ext cx="37536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IntObject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IntObject(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initialValue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initialValue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78" name="Google Shape;278;p40"/>
          <p:cNvCxnSpPr/>
          <p:nvPr/>
        </p:nvCxnSpPr>
        <p:spPr>
          <a:xfrm>
            <a:off x="5343950" y="835825"/>
            <a:ext cx="18900" cy="41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(Pointers, Heap, Stack recap)</a:t>
            </a:r>
            <a:endParaRPr/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Look at the exercise1 package in ThreadingExercises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program is supposed to print out a week's worth of dates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Info for the day 9/25/2024 (the next day will be 9/26/2024)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Info for the day 9/26/2024 (the next day will be 9/27/2024)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it's not quite right - first identify what's wrong with the output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Now, fix the code to print the days as it’s supposed 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</a:t>
            </a:r>
            <a:endParaRPr/>
          </a:p>
        </p:txBody>
      </p:sp>
      <p:pic>
        <p:nvPicPr>
          <p:cNvPr id="290" name="Google Shape;29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873" y="1152475"/>
            <a:ext cx="3648600" cy="362480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/>
          <p:cNvSpPr txBox="1"/>
          <p:nvPr/>
        </p:nvSpPr>
        <p:spPr>
          <a:xfrm>
            <a:off x="1179950" y="1600400"/>
            <a:ext cx="92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Thread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1458950" y="3839825"/>
            <a:ext cx="6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Stack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3" name="Google Shape;293;p42"/>
          <p:cNvSpPr txBox="1"/>
          <p:nvPr/>
        </p:nvSpPr>
        <p:spPr>
          <a:xfrm>
            <a:off x="6675225" y="2420525"/>
            <a:ext cx="24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Heap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94" name="Google Shape;294;p42"/>
          <p:cNvCxnSpPr>
            <a:stCxn id="291" idx="3"/>
          </p:cNvCxnSpPr>
          <p:nvPr/>
        </p:nvCxnSpPr>
        <p:spPr>
          <a:xfrm flipH="1" rot="10800000">
            <a:off x="2101850" y="1353050"/>
            <a:ext cx="1370700" cy="533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42"/>
          <p:cNvCxnSpPr>
            <a:stCxn id="291" idx="3"/>
          </p:cNvCxnSpPr>
          <p:nvPr/>
        </p:nvCxnSpPr>
        <p:spPr>
          <a:xfrm>
            <a:off x="2101850" y="1886750"/>
            <a:ext cx="400500" cy="31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42"/>
          <p:cNvCxnSpPr>
            <a:stCxn id="291" idx="3"/>
          </p:cNvCxnSpPr>
          <p:nvPr/>
        </p:nvCxnSpPr>
        <p:spPr>
          <a:xfrm>
            <a:off x="2101850" y="1886750"/>
            <a:ext cx="376200" cy="1746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42"/>
          <p:cNvCxnSpPr/>
          <p:nvPr/>
        </p:nvCxnSpPr>
        <p:spPr>
          <a:xfrm flipH="1" rot="10800000">
            <a:off x="2016975" y="3318275"/>
            <a:ext cx="1249500" cy="618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42"/>
          <p:cNvCxnSpPr/>
          <p:nvPr/>
        </p:nvCxnSpPr>
        <p:spPr>
          <a:xfrm>
            <a:off x="2041225" y="3985400"/>
            <a:ext cx="1698300" cy="24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42"/>
          <p:cNvCxnSpPr/>
          <p:nvPr/>
        </p:nvCxnSpPr>
        <p:spPr>
          <a:xfrm flipH="1">
            <a:off x="4528125" y="2651375"/>
            <a:ext cx="2147100" cy="375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305" name="Google Shape;305;p43"/>
          <p:cNvSpPr txBox="1"/>
          <p:nvPr>
            <p:ph idx="1" type="body"/>
          </p:nvPr>
        </p:nvSpPr>
        <p:spPr>
          <a:xfrm>
            <a:off x="311700" y="1152475"/>
            <a:ext cx="39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thread follows the same rules, but the actual behavior can differ: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Player 1 plays a yellow 9 ⇒ Player 2 plays a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Player 1 plays a green 3 ⇒ Player 2 plays a 5</a:t>
            </a:r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200" y="1680521"/>
            <a:ext cx="980850" cy="14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 txBox="1"/>
          <p:nvPr/>
        </p:nvSpPr>
        <p:spPr>
          <a:xfrm>
            <a:off x="4443150" y="285475"/>
            <a:ext cx="1322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Player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43"/>
          <p:cNvSpPr txBox="1"/>
          <p:nvPr/>
        </p:nvSpPr>
        <p:spPr>
          <a:xfrm>
            <a:off x="4831325" y="4058200"/>
            <a:ext cx="106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Player 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9" name="Google Shape;30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8250" y="77213"/>
            <a:ext cx="870625" cy="130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3300" y="110821"/>
            <a:ext cx="870625" cy="1241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3474" y="3824123"/>
            <a:ext cx="870625" cy="1308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8719" y="3817303"/>
            <a:ext cx="870625" cy="1308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18" name="Google Shape;31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ever use low-level threading classes: Thread, wait, notify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multi-threaded code has enough bugs as it is, don't make your life harder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Instead, use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java.util.concurrent</a:t>
            </a:r>
            <a:r>
              <a:rPr lang="en"/>
              <a:t> library (comes with the jre, much like java Collections)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</a:t>
            </a:r>
            <a:r>
              <a:rPr b="1" lang="en"/>
              <a:t>create </a:t>
            </a:r>
            <a:r>
              <a:rPr lang="en"/>
              <a:t>a thread: use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ThreadPool</a:t>
            </a:r>
            <a:r>
              <a:rPr lang="en"/>
              <a:t>, generally wrapped by an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ExecutorService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tell the thread </a:t>
            </a:r>
            <a:r>
              <a:rPr b="1" lang="en"/>
              <a:t>what it should do</a:t>
            </a:r>
            <a:r>
              <a:rPr lang="en"/>
              <a:t>, use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Callable&lt;T&gt;</a:t>
            </a:r>
            <a:r>
              <a:rPr lang="en"/>
              <a:t> (supports lambda syntax)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check on </a:t>
            </a:r>
            <a:r>
              <a:rPr b="1" lang="en"/>
              <a:t>what the thread did</a:t>
            </a:r>
            <a:r>
              <a:rPr lang="en"/>
              <a:t>, use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Future&lt;T&gt;</a:t>
            </a:r>
            <a:r>
              <a:rPr lang="en"/>
              <a:t> and call get()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00" y="976425"/>
            <a:ext cx="5358650" cy="35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25" name="Google Shape;325;p45"/>
          <p:cNvSpPr txBox="1"/>
          <p:nvPr>
            <p:ph idx="1" type="body"/>
          </p:nvPr>
        </p:nvSpPr>
        <p:spPr>
          <a:xfrm>
            <a:off x="311700" y="1152475"/>
            <a:ext cx="35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java.util.concurrent </a:t>
            </a:r>
            <a:r>
              <a:rPr lang="en"/>
              <a:t>library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IDE will figure out these imports for you!</a:t>
            </a:r>
            <a:endParaRPr/>
          </a:p>
        </p:txBody>
      </p:sp>
      <p:sp>
        <p:nvSpPr>
          <p:cNvPr id="326" name="Google Shape;326;p45"/>
          <p:cNvSpPr/>
          <p:nvPr/>
        </p:nvSpPr>
        <p:spPr>
          <a:xfrm>
            <a:off x="3763825" y="1013325"/>
            <a:ext cx="3639300" cy="572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00" y="976425"/>
            <a:ext cx="5358650" cy="35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311700" y="1152475"/>
            <a:ext cx="35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Callable </a:t>
            </a:r>
            <a:r>
              <a:rPr lang="en"/>
              <a:t>determines what each thread will 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return value ⇒ use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/>
              <a:t>type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null </a:t>
            </a:r>
            <a:r>
              <a:rPr lang="en"/>
              <a:t>is the only valid value for something of type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/>
              <a:t>⇒ always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return null</a:t>
            </a:r>
            <a:r>
              <a:rPr lang="en"/>
              <a:t> for this type</a:t>
            </a:r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3763825" y="2156325"/>
            <a:ext cx="3639300" cy="1149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00" y="976425"/>
            <a:ext cx="5358650" cy="35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41" name="Google Shape;341;p47"/>
          <p:cNvSpPr txBox="1"/>
          <p:nvPr>
            <p:ph idx="1" type="body"/>
          </p:nvPr>
        </p:nvSpPr>
        <p:spPr>
          <a:xfrm>
            <a:off x="311700" y="1152475"/>
            <a:ext cx="35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Executors </a:t>
            </a:r>
            <a:r>
              <a:rPr lang="en"/>
              <a:t>to get an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ExecutorService </a:t>
            </a:r>
            <a:r>
              <a:rPr lang="en"/>
              <a:t>to run the threads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newCachedThreadPool </a:t>
            </a:r>
            <a:r>
              <a:rPr lang="en"/>
              <a:t>is a good default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Other options: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give all the threads a name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a fixed size pool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define what should happen if too many things are submitted to the service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many more</a:t>
            </a:r>
            <a:endParaRPr/>
          </a:p>
        </p:txBody>
      </p:sp>
      <p:sp>
        <p:nvSpPr>
          <p:cNvPr id="342" name="Google Shape;342;p47"/>
          <p:cNvSpPr/>
          <p:nvPr/>
        </p:nvSpPr>
        <p:spPr>
          <a:xfrm>
            <a:off x="4273300" y="3354600"/>
            <a:ext cx="4821600" cy="218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00" y="976425"/>
            <a:ext cx="5358650" cy="35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311700" y="1152475"/>
            <a:ext cx="35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b="1" lang="en"/>
              <a:t>submit</a:t>
            </a:r>
            <a:r>
              <a:rPr lang="en"/>
              <a:t> to actually start a thread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code is missing something important!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Handling exceptions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Waiting for the threads to finish running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8"/>
          <p:cNvSpPr/>
          <p:nvPr/>
        </p:nvSpPr>
        <p:spPr>
          <a:xfrm>
            <a:off x="4273300" y="3888350"/>
            <a:ext cx="4821600" cy="206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7" y="2246092"/>
            <a:ext cx="790300" cy="7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 &amp; Threads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311700" y="1152475"/>
            <a:ext cx="283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exception </a:t>
            </a:r>
            <a:r>
              <a:rPr lang="en"/>
              <a:t>will halt the thread it happens on, but doesn't cross thread boundaries on its 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</a:t>
            </a:r>
            <a:r>
              <a:rPr b="1" lang="en"/>
              <a:t>Future</a:t>
            </a:r>
            <a:r>
              <a:rPr lang="en"/>
              <a:t> to find out about those exceptions</a:t>
            </a:r>
            <a:endParaRPr/>
          </a:p>
        </p:txBody>
      </p:sp>
      <p:pic>
        <p:nvPicPr>
          <p:cNvPr id="358" name="Google Shape;3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550" y="445025"/>
            <a:ext cx="433362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68729"/>
          <a:stretch/>
        </p:blipFill>
        <p:spPr>
          <a:xfrm>
            <a:off x="3812400" y="346150"/>
            <a:ext cx="5358650" cy="10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in Java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311700" y="1152475"/>
            <a:ext cx="35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b="1" lang="en"/>
              <a:t>Future </a:t>
            </a:r>
            <a:r>
              <a:rPr lang="en"/>
              <a:t>to do two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Wait for a thread to finish, and return its result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for an 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.get() is a </a:t>
            </a:r>
            <a:r>
              <a:rPr b="1" lang="en"/>
              <a:t>blocking</a:t>
            </a:r>
            <a:r>
              <a:rPr lang="en"/>
              <a:t> call - you may not want to call it right away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9025" y="2053475"/>
            <a:ext cx="4905375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0"/>
          <p:cNvSpPr/>
          <p:nvPr/>
        </p:nvSpPr>
        <p:spPr>
          <a:xfrm>
            <a:off x="4321825" y="3002800"/>
            <a:ext cx="3323700" cy="9825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the exercise2 package in ThreadingExercises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that the smoke test runs successfully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Modify the PlayGame code to allow two players to play at once (there are no turns in this game, everyone plays as fast as they can)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that the smoke test still runs successfully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Don't worry about any of the logic in AbstractGame for now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Threads</a:t>
            </a:r>
            <a:endParaRPr/>
          </a:p>
        </p:txBody>
      </p:sp>
      <p:sp>
        <p:nvSpPr>
          <p:cNvPr id="379" name="Google Shape;379;p52"/>
          <p:cNvSpPr txBox="1"/>
          <p:nvPr>
            <p:ph idx="1" type="body"/>
          </p:nvPr>
        </p:nvSpPr>
        <p:spPr>
          <a:xfrm>
            <a:off x="311700" y="1152475"/>
            <a:ext cx="41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code works just fine with a single thread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what about with threads?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the IDE!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950" y="542875"/>
            <a:ext cx="35623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174023"/>
            <a:ext cx="5732725" cy="17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Threads </a:t>
            </a:r>
            <a:endParaRPr/>
          </a:p>
        </p:txBody>
      </p:sp>
      <p:sp>
        <p:nvSpPr>
          <p:cNvPr id="387" name="Google Shape;387;p53"/>
          <p:cNvSpPr txBox="1"/>
          <p:nvPr>
            <p:ph idx="1" type="body"/>
          </p:nvPr>
        </p:nvSpPr>
        <p:spPr>
          <a:xfrm>
            <a:off x="311700" y="1152475"/>
            <a:ext cx="41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Heisenbugs: </a:t>
            </a:r>
            <a:r>
              <a:rPr lang="en"/>
              <a:t>observing multithreaded code in the debugger changes the behavior of the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debugging multi-threaded code: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Make it single-threaded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Slowly shrink the section that is multi-threaded until you find the bug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section of code is called a </a:t>
            </a:r>
            <a:r>
              <a:rPr b="1" lang="en"/>
              <a:t>critical section</a:t>
            </a:r>
            <a:r>
              <a:rPr lang="en"/>
              <a:t>, and must be protected from concurrent execution</a:t>
            </a:r>
            <a:endParaRPr/>
          </a:p>
        </p:txBody>
      </p:sp>
      <p:pic>
        <p:nvPicPr>
          <p:cNvPr id="388" name="Google Shape;38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950" y="542875"/>
            <a:ext cx="356235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Locking</a:t>
            </a:r>
            <a:endParaRPr/>
          </a:p>
        </p:txBody>
      </p:sp>
      <p:sp>
        <p:nvSpPr>
          <p:cNvPr id="394" name="Google Shape;394;p54"/>
          <p:cNvSpPr txBox="1"/>
          <p:nvPr>
            <p:ph idx="1" type="body"/>
          </p:nvPr>
        </p:nvSpPr>
        <p:spPr>
          <a:xfrm>
            <a:off x="311700" y="1152475"/>
            <a:ext cx="6145200" cy="3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lock</a:t>
            </a:r>
            <a:r>
              <a:rPr lang="en"/>
              <a:t> is a shared (on the heap!) object that only allows one thread to execute a piece of code at once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execute the code, the thread </a:t>
            </a:r>
            <a:r>
              <a:rPr b="1" lang="en"/>
              <a:t>acquires</a:t>
            </a:r>
            <a:r>
              <a:rPr lang="en"/>
              <a:t> the lock, </a:t>
            </a:r>
            <a:r>
              <a:rPr b="1" lang="en"/>
              <a:t>holds</a:t>
            </a:r>
            <a:r>
              <a:rPr lang="en"/>
              <a:t> the lock while running, and then </a:t>
            </a:r>
            <a:r>
              <a:rPr b="1" lang="en"/>
              <a:t>releases </a:t>
            </a:r>
            <a:r>
              <a:rPr lang="en"/>
              <a:t>the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Lock Attributes: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re-entrant: </a:t>
            </a:r>
            <a:r>
              <a:rPr lang="en"/>
              <a:t>If a thread already holds the lock, it can re-acquire the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Important to avoid </a:t>
            </a:r>
            <a:r>
              <a:rPr b="1" lang="en"/>
              <a:t>deadlock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fair</a:t>
            </a:r>
            <a:r>
              <a:rPr lang="en"/>
              <a:t>: threads receive the lock in roughly the order they request it</a:t>
            </a:r>
            <a:endParaRPr/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220" y="1765450"/>
            <a:ext cx="2298125" cy="306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Synchronized</a:t>
            </a:r>
            <a:endParaRPr/>
          </a:p>
        </p:txBody>
      </p:sp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311700" y="1152475"/>
            <a:ext cx="8316600" cy="3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synchronized</a:t>
            </a:r>
            <a:r>
              <a:rPr lang="en"/>
              <a:t>: Java keyword to protect code that must be single-threaded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fair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Re-entrant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By default, lock is </a:t>
            </a:r>
            <a:r>
              <a:rPr b="1" lang="en"/>
              <a:t>per object, </a:t>
            </a:r>
            <a:r>
              <a:rPr lang="en"/>
              <a:t>but can specify any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9,941 Classroom Clipart Royalty-Free Photos and Stock Images | Shutterstock" id="402" name="Google Shape;40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675" y="3158250"/>
            <a:ext cx="2193375" cy="166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,941 Classroom Clipart Royalty-Free Photos and Stock Images | Shutterstock" id="403" name="Google Shape;4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300" y="3158250"/>
            <a:ext cx="2193375" cy="166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,941 Classroom Clipart Royalty-Free Photos and Stock Images | Shutterstock" id="404" name="Google Shape;40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50" y="3158250"/>
            <a:ext cx="2193375" cy="16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Synchronized</a:t>
            </a:r>
            <a:endParaRPr/>
          </a:p>
        </p:txBody>
      </p:sp>
      <p:sp>
        <p:nvSpPr>
          <p:cNvPr id="410" name="Google Shape;410;p56"/>
          <p:cNvSpPr txBox="1"/>
          <p:nvPr>
            <p:ph idx="1" type="body"/>
          </p:nvPr>
        </p:nvSpPr>
        <p:spPr>
          <a:xfrm>
            <a:off x="311700" y="1152475"/>
            <a:ext cx="83166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synchronized</a:t>
            </a:r>
            <a:r>
              <a:rPr lang="en"/>
              <a:t>: Java keyword to protect code that must be single-threaded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Heuristic: always synchronize on the </a:t>
            </a:r>
            <a:r>
              <a:rPr b="1" lang="en"/>
              <a:t>shared </a:t>
            </a:r>
            <a:r>
              <a:rPr lang="en"/>
              <a:t>object</a:t>
            </a:r>
            <a:endParaRPr/>
          </a:p>
        </p:txBody>
      </p:sp>
      <p:pic>
        <p:nvPicPr>
          <p:cNvPr id="411" name="Google Shape;41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24" y="2492574"/>
            <a:ext cx="6943640" cy="2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6"/>
          <p:cNvSpPr/>
          <p:nvPr/>
        </p:nvSpPr>
        <p:spPr>
          <a:xfrm>
            <a:off x="1458950" y="3657875"/>
            <a:ext cx="2923500" cy="194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In Doubt, Synchronize Broadly</a:t>
            </a:r>
            <a:endParaRPr/>
          </a:p>
        </p:txBody>
      </p:sp>
      <p:sp>
        <p:nvSpPr>
          <p:cNvPr id="418" name="Google Shape;41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Then binary-search to where the bug is</a:t>
            </a:r>
            <a:endParaRPr/>
          </a:p>
        </p:txBody>
      </p:sp>
      <p:pic>
        <p:nvPicPr>
          <p:cNvPr id="419" name="Google Shape;41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855663"/>
            <a:ext cx="3743325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900" y="1692325"/>
            <a:ext cx="434340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7"/>
          <p:cNvSpPr/>
          <p:nvPr/>
        </p:nvSpPr>
        <p:spPr>
          <a:xfrm>
            <a:off x="1022225" y="3051325"/>
            <a:ext cx="1953000" cy="242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7"/>
          <p:cNvSpPr/>
          <p:nvPr/>
        </p:nvSpPr>
        <p:spPr>
          <a:xfrm>
            <a:off x="5213225" y="2975125"/>
            <a:ext cx="3354300" cy="242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Synchronized on Methods</a:t>
            </a:r>
            <a:endParaRPr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1152475"/>
            <a:ext cx="394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 a method, </a:t>
            </a:r>
            <a:r>
              <a:rPr b="1" lang="en"/>
              <a:t>synchronized </a:t>
            </a:r>
            <a:r>
              <a:rPr lang="en"/>
              <a:t>implicitly uses (this) as the lock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makes the method </a:t>
            </a:r>
            <a:r>
              <a:rPr b="1" lang="en"/>
              <a:t>atomic</a:t>
            </a:r>
            <a:r>
              <a:rPr lang="en"/>
              <a:t> (ie, single-threaded - it's run as one atomic, indivisible, block)</a:t>
            </a:r>
            <a:endParaRPr/>
          </a:p>
        </p:txBody>
      </p:sp>
      <p:pic>
        <p:nvPicPr>
          <p:cNvPr id="429" name="Google Shape;42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725" y="1225138"/>
            <a:ext cx="42862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8"/>
          <p:cNvSpPr/>
          <p:nvPr/>
        </p:nvSpPr>
        <p:spPr>
          <a:xfrm>
            <a:off x="4820725" y="1340875"/>
            <a:ext cx="1370700" cy="242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</a:t>
            </a:r>
            <a:endParaRPr/>
          </a:p>
        </p:txBody>
      </p:sp>
      <p:sp>
        <p:nvSpPr>
          <p:cNvPr id="436" name="Google Shape;436;p59"/>
          <p:cNvSpPr txBox="1"/>
          <p:nvPr>
            <p:ph idx="1" type="body"/>
          </p:nvPr>
        </p:nvSpPr>
        <p:spPr>
          <a:xfrm>
            <a:off x="311700" y="1152475"/>
            <a:ext cx="83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are </a:t>
            </a:r>
            <a:r>
              <a:rPr b="1" lang="en"/>
              <a:t>racing</a:t>
            </a:r>
            <a:r>
              <a:rPr lang="en"/>
              <a:t> to get to the code, and they trip over each 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numChildren = numChildren + 1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Thread: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Copy the value of numChildren into a register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Increment that value by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the result back to numChildren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</a:t>
            </a:r>
            <a:endParaRPr/>
          </a:p>
        </p:txBody>
      </p:sp>
      <p:sp>
        <p:nvSpPr>
          <p:cNvPr id="442" name="Google Shape;442;p60"/>
          <p:cNvSpPr txBox="1"/>
          <p:nvPr>
            <p:ph idx="1" type="body"/>
          </p:nvPr>
        </p:nvSpPr>
        <p:spPr>
          <a:xfrm>
            <a:off x="311700" y="1152475"/>
            <a:ext cx="83529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numChildren = numChildren + 1</a:t>
            </a:r>
            <a:r>
              <a:rPr lang="en"/>
              <a:t>: Assume numChildren = 4 to start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0"/>
          <p:cNvSpPr txBox="1"/>
          <p:nvPr/>
        </p:nvSpPr>
        <p:spPr>
          <a:xfrm>
            <a:off x="342900" y="1704800"/>
            <a:ext cx="389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Thread: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Copy the value of numChildren into a register (register = 4)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Increment that value by 1 (register = 5)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Write the result back to numChildren (numChildren = 5)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44" name="Google Shape;444;p60"/>
          <p:cNvSpPr txBox="1"/>
          <p:nvPr/>
        </p:nvSpPr>
        <p:spPr>
          <a:xfrm>
            <a:off x="4572000" y="1522825"/>
            <a:ext cx="41775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Thread: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Copy the value of numChildren into a register (register = 4)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Increment that value by 1 (register = 5)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Write the result back to numChildren (numChildren = 5)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450" name="Google Shape;45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the exercise3 package in ThreadingExercises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synchronized </a:t>
            </a:r>
            <a:r>
              <a:rPr lang="en"/>
              <a:t>blocks to fix the failing unit test (note: the test may not fail right away, you may have to run it a few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What’s another way to fix this that doesn’t involve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synchronized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Semaphore</a:t>
            </a:r>
            <a:endParaRPr/>
          </a:p>
        </p:txBody>
      </p:sp>
      <p:sp>
        <p:nvSpPr>
          <p:cNvPr id="456" name="Google Shape;456;p62"/>
          <p:cNvSpPr txBox="1"/>
          <p:nvPr>
            <p:ph idx="1" type="body"/>
          </p:nvPr>
        </p:nvSpPr>
        <p:spPr>
          <a:xfrm>
            <a:off x="311700" y="1152475"/>
            <a:ext cx="42603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you want threads to take turns in a more organized fashion?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semaphore</a:t>
            </a:r>
            <a:r>
              <a:rPr lang="en"/>
              <a:t> allows some number of threads to run at once, but no more than that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a section of train track with only two tracks should only permit two trains at a time to enter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Supports </a:t>
            </a:r>
            <a:r>
              <a:rPr b="1" lang="en"/>
              <a:t>fair</a:t>
            </a:r>
            <a:r>
              <a:rPr lang="en"/>
              <a:t> rotation through waiting threads: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Semaphore s = new Semaphore(2, true);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57" name="Google Shape;45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888" y="445025"/>
            <a:ext cx="34385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CountDownLatch</a:t>
            </a:r>
            <a:endParaRPr/>
          </a:p>
        </p:txBody>
      </p:sp>
      <p:sp>
        <p:nvSpPr>
          <p:cNvPr id="463" name="Google Shape;463;p63"/>
          <p:cNvSpPr txBox="1"/>
          <p:nvPr>
            <p:ph idx="1" type="body"/>
          </p:nvPr>
        </p:nvSpPr>
        <p:spPr>
          <a:xfrm>
            <a:off x="311700" y="1152475"/>
            <a:ext cx="42603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wait for several threads to all complete a task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Similar to using get on a Future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Everyone picks a card to play, and places it face down in front of them. Once everyone has picked a card, then everyone flips theirs over.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4" name="Google Shape;46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075" y="375400"/>
            <a:ext cx="4819925" cy="282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Read/Write Locks</a:t>
            </a:r>
            <a:endParaRPr/>
          </a:p>
        </p:txBody>
      </p:sp>
      <p:sp>
        <p:nvSpPr>
          <p:cNvPr id="470" name="Google Shape;470;p64"/>
          <p:cNvSpPr txBox="1"/>
          <p:nvPr>
            <p:ph idx="1" type="body"/>
          </p:nvPr>
        </p:nvSpPr>
        <p:spPr>
          <a:xfrm>
            <a:off x="311700" y="1152475"/>
            <a:ext cx="4260300" cy="39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related locks - one allows for many threads to access something, one locks all threads 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Reading vs writing a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Write lock </a:t>
            </a:r>
            <a:r>
              <a:rPr lang="en"/>
              <a:t>- identify under what circumstances code needs to be single threaded (generally, changing a value)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Read lock </a:t>
            </a:r>
            <a:r>
              <a:rPr lang="en"/>
              <a:t>- add this around any code that can't run while the write lock is held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the try/finally - necessary whenever you're handling locking/unlocking</a:t>
            </a:r>
            <a:endParaRPr/>
          </a:p>
        </p:txBody>
      </p:sp>
      <p:pic>
        <p:nvPicPr>
          <p:cNvPr id="471" name="Google Shape;47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61462"/>
            <a:ext cx="4419600" cy="315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Deadlock</a:t>
            </a:r>
            <a:endParaRPr/>
          </a:p>
        </p:txBody>
      </p:sp>
      <p:sp>
        <p:nvSpPr>
          <p:cNvPr id="477" name="Google Shape;477;p6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(or more) threads are waiting on resources the other thread holds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thread can make further progress, and the program grinds to a halt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803" y="394650"/>
            <a:ext cx="3579399" cy="371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Deadlock</a:t>
            </a:r>
            <a:endParaRPr/>
          </a:p>
        </p:txBody>
      </p:sp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311700" y="1152475"/>
            <a:ext cx="42603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threadOne acquires the FlipCards.class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Next, threadTwo acquires the notThreadSafe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Now they're stuck - neither thread can execute its next line of code until the other thread exits its synchronized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For multi-threading tests, it's a good idea to include a </a:t>
            </a:r>
            <a:r>
              <a:rPr b="1" lang="en"/>
              <a:t>timeout</a:t>
            </a:r>
            <a:endParaRPr/>
          </a:p>
        </p:txBody>
      </p:sp>
      <p:pic>
        <p:nvPicPr>
          <p:cNvPr id="485" name="Google Shape;48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50" y="445025"/>
            <a:ext cx="4019225" cy="367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" name="Google Shape;486;p66"/>
          <p:cNvCxnSpPr/>
          <p:nvPr/>
        </p:nvCxnSpPr>
        <p:spPr>
          <a:xfrm flipH="1" rot="10800000">
            <a:off x="3424150" y="989125"/>
            <a:ext cx="2256300" cy="448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p66"/>
          <p:cNvCxnSpPr/>
          <p:nvPr/>
        </p:nvCxnSpPr>
        <p:spPr>
          <a:xfrm>
            <a:off x="3060225" y="2432650"/>
            <a:ext cx="2632200" cy="400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Deadlock</a:t>
            </a:r>
            <a:endParaRPr/>
          </a:p>
        </p:txBody>
      </p:sp>
      <p:sp>
        <p:nvSpPr>
          <p:cNvPr id="493" name="Google Shape;493;p67"/>
          <p:cNvSpPr txBox="1"/>
          <p:nvPr>
            <p:ph idx="1" type="body"/>
          </p:nvPr>
        </p:nvSpPr>
        <p:spPr>
          <a:xfrm>
            <a:off x="311700" y="1152475"/>
            <a:ext cx="8520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ReadWrite Locks are especially prone to this, even when they're mostly re-entrant: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Acquire read lock, then read lock - re-entrant; if this thread already has a read lock, no one else can hold a write lock, so it's always safe to grant the read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Acquire write lock, then write lock - re-entrant; if this thread already has a write lock, no one else can hold a read or write lock, so it's always safe to grant the write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Acquire write lock then read lock - that's fine, we know no other thread can be holding either the read or write 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Acquire the read lock then the write lock - NOPE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Deadlock</a:t>
            </a:r>
            <a:endParaRPr/>
          </a:p>
        </p:txBody>
      </p:sp>
      <p:sp>
        <p:nvSpPr>
          <p:cNvPr id="499" name="Google Shape;499;p68"/>
          <p:cNvSpPr txBox="1"/>
          <p:nvPr>
            <p:ph idx="1" type="body"/>
          </p:nvPr>
        </p:nvSpPr>
        <p:spPr>
          <a:xfrm>
            <a:off x="311700" y="1152475"/>
            <a:ext cx="8520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ReadWrite Locks are especially prone to this: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Thread 1: "I would like to acquire the read lock"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ReadWrite Lock: "Sure, here you go!"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Thread 2: "I would like to acquire the read lock"</a:t>
            </a:r>
            <a:endParaRPr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ReadWrite Lock: "Sure, here you go!"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Thread 1: "I would like to acquire the write lock"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ReadWrite Lock: "Sure thing, as soon as everyone releases the read lock"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Thread 2: "I would like to acquire the write lock"</a:t>
            </a:r>
            <a:endParaRPr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ReadWrite Lock: "Sure thing, as soon as everyone releases the read lock"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Thread 2: …</a:t>
            </a:r>
            <a:endParaRPr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Thread 1: …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ReadWrite Lock: …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505" name="Google Shape;505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the exercise4 package in ThreadingExercises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Fix the warning/TODO around the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Update the code so that the output list is sorted in descending order (you can check by running the test)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Note that there is also a race condition that causes some numbers to be skipped entirely! Fixing the ordering will fix this too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It's ok if the factorials print to the console out-of-order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Hint: You'll need multiple locks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11" name="Google Shape;511;p70"/>
          <p:cNvSpPr txBox="1"/>
          <p:nvPr>
            <p:ph idx="1" type="body"/>
          </p:nvPr>
        </p:nvSpPr>
        <p:spPr>
          <a:xfrm>
            <a:off x="311700" y="1152475"/>
            <a:ext cx="42603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Not just for single-threaded code!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parallelize code that runs through a </a:t>
            </a:r>
            <a:r>
              <a:rPr b="1" lang="en"/>
              <a:t>pipeline?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Solution</a:t>
            </a:r>
            <a:r>
              <a:rPr lang="en"/>
              <a:t>: Use locks to handle passing partially completed jobs from one task to another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ex: allows IO intensive computation at the same time as a CPU or network computation</a:t>
            </a:r>
            <a:endParaRPr/>
          </a:p>
        </p:txBody>
      </p:sp>
      <p:pic>
        <p:nvPicPr>
          <p:cNvPr id="512" name="Google Shape;51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775" y="575700"/>
            <a:ext cx="2654425" cy="26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18" name="Google Shape;518;p7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1: Set up how each stage will hand off to the next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Often, an </a:t>
            </a:r>
            <a:r>
              <a:rPr b="1" lang="en"/>
              <a:t>ArrayBlockingQueue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Configure the queue with how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items can pile up while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waiting to be processed</a:t>
            </a:r>
            <a:endParaRPr/>
          </a:p>
        </p:txBody>
      </p:sp>
      <p:pic>
        <p:nvPicPr>
          <p:cNvPr id="519" name="Google Shape;51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9050" y="3143250"/>
            <a:ext cx="52959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71"/>
          <p:cNvSpPr/>
          <p:nvPr/>
        </p:nvSpPr>
        <p:spPr>
          <a:xfrm>
            <a:off x="4108425" y="3888350"/>
            <a:ext cx="16134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71"/>
          <p:cNvSpPr/>
          <p:nvPr/>
        </p:nvSpPr>
        <p:spPr>
          <a:xfrm>
            <a:off x="7385025" y="4040750"/>
            <a:ext cx="16134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27" name="Google Shape;527;p7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1: Set up how each stage will hand off to the next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sure to signal when no more work is coming</a:t>
            </a:r>
            <a:endParaRPr/>
          </a:p>
        </p:txBody>
      </p:sp>
      <p:pic>
        <p:nvPicPr>
          <p:cNvPr id="528" name="Google Shape;52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163" y="3008888"/>
            <a:ext cx="5572125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2"/>
          <p:cNvSpPr/>
          <p:nvPr/>
        </p:nvSpPr>
        <p:spPr>
          <a:xfrm>
            <a:off x="4139875" y="4640475"/>
            <a:ext cx="22686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650" y="1162025"/>
            <a:ext cx="4805350" cy="385724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36" name="Google Shape;536;p7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2: Set up each stage of the pipeline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classic Callable we saw last week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Callable handles one stage</a:t>
            </a:r>
            <a:endParaRPr/>
          </a:p>
        </p:txBody>
      </p:sp>
      <p:sp>
        <p:nvSpPr>
          <p:cNvPr id="537" name="Google Shape;537;p73"/>
          <p:cNvSpPr/>
          <p:nvPr/>
        </p:nvSpPr>
        <p:spPr>
          <a:xfrm>
            <a:off x="4343400" y="1465025"/>
            <a:ext cx="22686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3"/>
          <p:cNvSpPr/>
          <p:nvPr/>
        </p:nvSpPr>
        <p:spPr>
          <a:xfrm>
            <a:off x="4495800" y="3293825"/>
            <a:ext cx="22686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3"/>
          <p:cNvSpPr/>
          <p:nvPr/>
        </p:nvSpPr>
        <p:spPr>
          <a:xfrm>
            <a:off x="4867725" y="1850375"/>
            <a:ext cx="2499000" cy="511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3"/>
          <p:cNvSpPr/>
          <p:nvPr/>
        </p:nvSpPr>
        <p:spPr>
          <a:xfrm>
            <a:off x="5029200" y="3883625"/>
            <a:ext cx="2417100" cy="40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989425"/>
            <a:ext cx="4419599" cy="354760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47" name="Google Shape;547;p7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3: Coordinate the handoff between stages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offer</a:t>
            </a:r>
            <a:r>
              <a:rPr lang="en"/>
              <a:t> - similar to put/add/enqueue, except that this will </a:t>
            </a:r>
            <a:r>
              <a:rPr b="1" lang="en"/>
              <a:t>block</a:t>
            </a:r>
            <a:r>
              <a:rPr lang="en"/>
              <a:t> until space is 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pressure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evenly distribute CPU/disk/etc among stages</a:t>
            </a:r>
            <a:endParaRPr/>
          </a:p>
        </p:txBody>
      </p:sp>
      <p:sp>
        <p:nvSpPr>
          <p:cNvPr id="548" name="Google Shape;548;p74"/>
          <p:cNvSpPr/>
          <p:nvPr/>
        </p:nvSpPr>
        <p:spPr>
          <a:xfrm>
            <a:off x="5282075" y="2058875"/>
            <a:ext cx="20100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941525"/>
            <a:ext cx="4419599" cy="354759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55" name="Google Shape;555;p7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3: Coordinate the handoff between stages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poll </a:t>
            </a:r>
            <a:r>
              <a:rPr lang="en"/>
              <a:t>- similar to get/remove/dequeue, except that this will </a:t>
            </a:r>
            <a:r>
              <a:rPr b="1" lang="en"/>
              <a:t>block</a:t>
            </a:r>
            <a:r>
              <a:rPr lang="en"/>
              <a:t> until an element is 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Tricky part: what if no more dough is going to be made?</a:t>
            </a:r>
            <a:endParaRPr/>
          </a:p>
        </p:txBody>
      </p:sp>
      <p:sp>
        <p:nvSpPr>
          <p:cNvPr id="556" name="Google Shape;556;p75"/>
          <p:cNvSpPr/>
          <p:nvPr/>
        </p:nvSpPr>
        <p:spPr>
          <a:xfrm>
            <a:off x="5358275" y="3201875"/>
            <a:ext cx="3573300" cy="230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471" y="1017725"/>
            <a:ext cx="4514530" cy="36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63" name="Google Shape;563;p7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 the pipeline: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3: Coordinate the handoff between stages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Always include a </a:t>
            </a:r>
            <a:r>
              <a:rPr b="1" lang="en"/>
              <a:t>timeout</a:t>
            </a:r>
            <a:r>
              <a:rPr lang="en"/>
              <a:t> with poll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previous stage fails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previous stage may not immediately know when it's done (filter step, waiting on a previous stage)</a:t>
            </a:r>
            <a:endParaRPr/>
          </a:p>
        </p:txBody>
      </p:sp>
      <p:sp>
        <p:nvSpPr>
          <p:cNvPr id="564" name="Google Shape;564;p76"/>
          <p:cNvSpPr/>
          <p:nvPr/>
        </p:nvSpPr>
        <p:spPr>
          <a:xfrm>
            <a:off x="5053475" y="3184775"/>
            <a:ext cx="4014300" cy="497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61850"/>
            <a:ext cx="3873538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71" name="Google Shape;571;p77"/>
          <p:cNvSpPr txBox="1"/>
          <p:nvPr>
            <p:ph idx="1" type="body"/>
          </p:nvPr>
        </p:nvSpPr>
        <p:spPr>
          <a:xfrm>
            <a:off x="311700" y="1152475"/>
            <a:ext cx="37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for the pipeline to finish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Future.get() will </a:t>
            </a:r>
            <a:r>
              <a:rPr b="1" lang="en"/>
              <a:t>block</a:t>
            </a:r>
            <a:r>
              <a:rPr lang="en"/>
              <a:t> until the task completes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a stage fails, make sure to still inform subsequent stages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7"/>
          <p:cNvSpPr/>
          <p:nvPr/>
        </p:nvSpPr>
        <p:spPr>
          <a:xfrm>
            <a:off x="4998100" y="2154250"/>
            <a:ext cx="2696100" cy="232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400" y="1019350"/>
            <a:ext cx="5002800" cy="27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79" name="Google Shape;579;p78"/>
          <p:cNvSpPr txBox="1"/>
          <p:nvPr>
            <p:ph idx="1" type="body"/>
          </p:nvPr>
        </p:nvSpPr>
        <p:spPr>
          <a:xfrm>
            <a:off x="311700" y="1152475"/>
            <a:ext cx="37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better error handling: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try</a:t>
            </a:r>
            <a:r>
              <a:rPr lang="en"/>
              <a:t> must be combined with at least one of: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try-with-resources, ex: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try (FileWriter f = new FileWriter("out.txt")) {}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catch</a:t>
            </a:r>
            <a:r>
              <a:rPr lang="en"/>
              <a:t> which includes exception handling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finally</a:t>
            </a:r>
            <a:r>
              <a:rPr lang="en"/>
              <a:t> which runs some very short code whether an exception is thrown or not</a:t>
            </a:r>
            <a:endParaRPr/>
          </a:p>
        </p:txBody>
      </p:sp>
      <p:sp>
        <p:nvSpPr>
          <p:cNvPr id="580" name="Google Shape;580;p78"/>
          <p:cNvSpPr/>
          <p:nvPr/>
        </p:nvSpPr>
        <p:spPr>
          <a:xfrm>
            <a:off x="4540900" y="2687650"/>
            <a:ext cx="2696100" cy="232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400" y="1019350"/>
            <a:ext cx="5002800" cy="27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Producer/Consumer Pattern</a:t>
            </a:r>
            <a:endParaRPr/>
          </a:p>
        </p:txBody>
      </p:sp>
      <p:sp>
        <p:nvSpPr>
          <p:cNvPr id="587" name="Google Shape;587;p79"/>
          <p:cNvSpPr txBox="1"/>
          <p:nvPr>
            <p:ph idx="1" type="body"/>
          </p:nvPr>
        </p:nvSpPr>
        <p:spPr>
          <a:xfrm>
            <a:off x="311700" y="1152475"/>
            <a:ext cx="37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with finally/catch blocks: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Throwing an exception </a:t>
            </a:r>
            <a:r>
              <a:rPr b="1" lang="en"/>
              <a:t>within </a:t>
            </a:r>
            <a:r>
              <a:rPr lang="en"/>
              <a:t>the finally block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obscures the original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not handle all cleanup properly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Often untested in the failure case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NPEs are common</a:t>
            </a:r>
            <a:endParaRPr/>
          </a:p>
        </p:txBody>
      </p:sp>
      <p:sp>
        <p:nvSpPr>
          <p:cNvPr id="588" name="Google Shape;588;p79"/>
          <p:cNvSpPr/>
          <p:nvPr/>
        </p:nvSpPr>
        <p:spPr>
          <a:xfrm>
            <a:off x="4540900" y="2687650"/>
            <a:ext cx="2696100" cy="232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594" name="Google Shape;594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the exercise5 package in ThreadingExercises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Change the ExerciseSolver to a parallel pipeline with 2 stages; assume you can queue up 10 exercises to be solved at a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Verify that both tests in TestExerciseSolver pass; initially, only one should pass, but they take a few seconds to run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</a:t>
            </a:r>
            <a:endParaRPr/>
          </a:p>
        </p:txBody>
      </p:sp>
      <p:sp>
        <p:nvSpPr>
          <p:cNvPr id="600" name="Google Shape;600;p81"/>
          <p:cNvSpPr txBox="1"/>
          <p:nvPr>
            <p:ph idx="1" type="body"/>
          </p:nvPr>
        </p:nvSpPr>
        <p:spPr>
          <a:xfrm>
            <a:off x="311700" y="1152475"/>
            <a:ext cx="41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you unexpectedly want to stop a Callable early?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interrupt</a:t>
            </a:r>
            <a:r>
              <a:rPr lang="en"/>
              <a:t> flag on a thread tracks whether another thread has asked this one to stop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Caution: generally </a:t>
            </a:r>
            <a:r>
              <a:rPr b="1" lang="en"/>
              <a:t>checking</a:t>
            </a:r>
            <a:r>
              <a:rPr lang="en"/>
              <a:t> whether a thread is interrupted also </a:t>
            </a:r>
            <a:r>
              <a:rPr b="1" lang="en"/>
              <a:t>clears</a:t>
            </a:r>
            <a:r>
              <a:rPr lang="en"/>
              <a:t> this flag: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Thread.interrupted()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= 'have I been interrupted since the last time I asked?'</a:t>
            </a:r>
            <a:endParaRPr/>
          </a:p>
        </p:txBody>
      </p:sp>
      <p:pic>
        <p:nvPicPr>
          <p:cNvPr id="601" name="Google Shape;60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725" y="3695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</a:t>
            </a:r>
            <a:endParaRPr/>
          </a:p>
        </p:txBody>
      </p:sp>
      <p:sp>
        <p:nvSpPr>
          <p:cNvPr id="607" name="Google Shape;607;p82"/>
          <p:cNvSpPr txBox="1"/>
          <p:nvPr>
            <p:ph idx="1" type="body"/>
          </p:nvPr>
        </p:nvSpPr>
        <p:spPr>
          <a:xfrm>
            <a:off x="311700" y="1152475"/>
            <a:ext cx="41799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tell a thread to stop early,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Future.cancel(true)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keep the Callable from ever running if it hasn't started yet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set the </a:t>
            </a:r>
            <a:r>
              <a:rPr b="1" lang="en"/>
              <a:t>interrupt</a:t>
            </a:r>
            <a:r>
              <a:rPr lang="en"/>
              <a:t> flag if the Callable has started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Note: any calls to Future.get will </a:t>
            </a:r>
            <a:r>
              <a:rPr b="1" lang="en"/>
              <a:t>immediately </a:t>
            </a:r>
            <a:r>
              <a:rPr lang="en"/>
              <a:t>throw a CancellationException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 wait for the thread to actually cancel, you need a lock/shared state</a:t>
            </a:r>
            <a:endParaRPr/>
          </a:p>
        </p:txBody>
      </p:sp>
      <p:pic>
        <p:nvPicPr>
          <p:cNvPr id="608" name="Google Shape;60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875" y="991225"/>
            <a:ext cx="4347600" cy="3017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</a:t>
            </a:r>
            <a:endParaRPr/>
          </a:p>
        </p:txBody>
      </p:sp>
      <p:sp>
        <p:nvSpPr>
          <p:cNvPr id="614" name="Google Shape;614;p83"/>
          <p:cNvSpPr txBox="1"/>
          <p:nvPr>
            <p:ph idx="1" type="body"/>
          </p:nvPr>
        </p:nvSpPr>
        <p:spPr>
          <a:xfrm>
            <a:off x="311700" y="1152475"/>
            <a:ext cx="809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things check the interrupt flag?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</a:t>
            </a:r>
            <a:r>
              <a:rPr b="1" lang="en"/>
              <a:t>blocking</a:t>
            </a:r>
            <a:r>
              <a:rPr lang="en"/>
              <a:t>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Anything that throws InterruptedException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option if you don't want to re-throw an InterruptedException: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catch (InterruptedException)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Thread.interrupt();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Review: Threading</a:t>
            </a:r>
            <a:endParaRPr/>
          </a:p>
        </p:txBody>
      </p:sp>
      <p:sp>
        <p:nvSpPr>
          <p:cNvPr id="620" name="Google Shape;620;p84"/>
          <p:cNvSpPr txBox="1"/>
          <p:nvPr>
            <p:ph idx="1" type="body"/>
          </p:nvPr>
        </p:nvSpPr>
        <p:spPr>
          <a:xfrm>
            <a:off x="311700" y="1152475"/>
            <a:ext cx="8520600" cy="3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Stack vs Heap - what data goes where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Translating code to a sketch of what memory looks like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are pointers configured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Pass by Reference vs Pass by Value for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Threading Libraries: What are 3 major classes that you would use for handling threads in java?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is: a deadlock, a critical section of code, and a race condition?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does the synchronized keyword do, and how do you use 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are 3 useful classes for handling locking?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