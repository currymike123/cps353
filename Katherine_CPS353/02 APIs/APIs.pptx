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acbef378a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acbef378a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f81647ecb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f81647ecb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b6ea6e4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b6ea6e4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ab6ea6e41f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ab6ea6e41f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ab6ea6e41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ab6ea6e4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ee5af5fdc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ee5af5fdc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b6ea6e41f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ab6ea6e41f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f82ed76f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f82ed76f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82ed76f1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f82ed76f1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964892e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964892e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964892e7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964892e7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f82ed76f1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f82ed76f1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f82ed76f1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f82ed76f1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f82ed76f1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f82ed76f1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f82ed76f1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f82ed76f1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82ed76f1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f82ed76f1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82ed76f1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82ed76f1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82ed76f1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82ed76f1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82ed76f1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f82ed76f1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f82ed76f1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f82ed76f1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82ed76f15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f82ed76f1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ab6ea6e4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ab6ea6e4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acbef378a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acbef378a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acbef378a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acbef378a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acbef378a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acbef378a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acbef378a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acbef378a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acbef378a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acbef378a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acbef378a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acbef378a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acbef378a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acbef378a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ab6ea6e41f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ab6ea6e41f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ee5af5fdc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ee5af5fdc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ee5af5fdc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ee5af5fdc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ab6ea6e41f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ab6ea6e41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ee5af5fdc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ee5af5fdc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acbef378a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acbef378a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948fd17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948fd17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948fd170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948fd170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948fd170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948fd170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948fd170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948fd170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948fd170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a948fd170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948fd170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948fd170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948fd170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a948fd170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948fd170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948fd170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948fd170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948fd170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948fd170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a948fd170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948fd170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a948fd170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948fd170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a948fd170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948fd170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a948fd170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948fd170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a948fd170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948fd170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a948fd170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948fd170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a948fd170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948fd170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a948fd170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948fd170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a948fd170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948fd170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a948fd170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948fd170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a948fd170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a948fd170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a948fd170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948fd170c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a948fd170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948fd170c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a948fd170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948fd170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a948fd170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948fd170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a948fd170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948fd170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a948fd170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a948fd170c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a948fd170c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a948fd170c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a948fd170c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948fd170c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a948fd170c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948fd170c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a948fd170c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a948fd170c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a948fd170c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948fd170c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a948fd170c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948fd170c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a948fd170c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948fd170c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a948fd170c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a948fd170c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a948fd170c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a948fd170c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a948fd170c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a948fd170c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a948fd170c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948fd170c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a948fd170c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a948fd170c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a948fd170c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gif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gif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gif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gif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gif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gif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Top-Down vs Bottom-Up Design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Common pitfall: start with the details first</a:t>
            </a:r>
            <a:endParaRPr b="1"/>
          </a:p>
        </p:txBody>
      </p:sp>
      <p:pic>
        <p:nvPicPr>
          <p:cNvPr descr="The Senate's Transportation Plan Reckons With Climate Change | WIRED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050" y="1850238"/>
            <a:ext cx="3343275" cy="25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Top-Down vs Bottom-Up Design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Better solution: Figure out how all the components fit together first, then build them</a:t>
            </a:r>
            <a:endParaRPr b="1"/>
          </a:p>
        </p:txBody>
      </p:sp>
      <p:pic>
        <p:nvPicPr>
          <p:cNvPr descr="The Senate's Transportation Plan Reckons With Climate Change | WIRED"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050" y="1850238"/>
            <a:ext cx="3343275" cy="25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API?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</a:t>
            </a:r>
            <a:r>
              <a:rPr lang="en"/>
              <a:t>pplication </a:t>
            </a:r>
            <a:r>
              <a:rPr b="1" lang="en"/>
              <a:t>P</a:t>
            </a:r>
            <a:r>
              <a:rPr lang="en"/>
              <a:t>rogramming </a:t>
            </a:r>
            <a:r>
              <a:rPr b="1" lang="en"/>
              <a:t>I</a:t>
            </a:r>
            <a:r>
              <a:rPr lang="en"/>
              <a:t>nterface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Sits between layers or components in a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Defines a </a:t>
            </a:r>
            <a:r>
              <a:rPr b="1" lang="en"/>
              <a:t>contract </a:t>
            </a:r>
            <a:r>
              <a:rPr lang="en"/>
              <a:t>for how the components will behave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Anything that an external component </a:t>
            </a:r>
            <a:r>
              <a:rPr b="1" lang="en"/>
              <a:t>relies on</a:t>
            </a:r>
            <a:r>
              <a:rPr lang="en"/>
              <a:t> is part of the API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Example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Cars have an API: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the steering wheel to steer, the gas to go, the brake to stop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Users don't need to know the details: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Drive-by-wire vs mechanical linkages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Different types of brake disks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an internal combustion </a:t>
            </a:r>
            <a:r>
              <a:rPr lang="en"/>
              <a:t>engine works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APIs?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Allows </a:t>
            </a:r>
            <a:r>
              <a:rPr b="1" lang="en"/>
              <a:t>interacting </a:t>
            </a:r>
            <a:r>
              <a:rPr lang="en"/>
              <a:t>with a component without knowing the </a:t>
            </a:r>
            <a:r>
              <a:rPr b="1" lang="en"/>
              <a:t>details </a:t>
            </a:r>
            <a:r>
              <a:rPr lang="en"/>
              <a:t>of how it works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Important for scaling software: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Each piece is complicated, no one can keep track of all details at once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APIs let you focus on just one piece at a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Any separation between components has an </a:t>
            </a:r>
            <a:r>
              <a:rPr b="1" lang="en"/>
              <a:t>implicit</a:t>
            </a:r>
            <a:r>
              <a:rPr lang="en"/>
              <a:t> API, but not necessarily a good one (organic APIs are usually bad)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APIs?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Side benefit: Promotes better design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Highly-coupled</a:t>
            </a:r>
            <a:r>
              <a:rPr lang="en"/>
              <a:t> components tend to be </a:t>
            </a:r>
            <a:r>
              <a:rPr b="1" lang="en"/>
              <a:t>fragile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APIs push design to a </a:t>
            </a:r>
            <a:r>
              <a:rPr b="1" lang="en"/>
              <a:t>top-down</a:t>
            </a:r>
            <a:r>
              <a:rPr lang="en"/>
              <a:t> approach, which produces more flexible and simpler coding than bottom-up design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APIs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346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boundary between components needs an API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network </a:t>
            </a:r>
            <a:r>
              <a:rPr lang="en"/>
              <a:t>boundaries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process </a:t>
            </a:r>
            <a:r>
              <a:rPr lang="en"/>
              <a:t>boundaries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conceptual </a:t>
            </a:r>
            <a:r>
              <a:rPr lang="en"/>
              <a:t>boundaries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950" y="1167300"/>
            <a:ext cx="5301176" cy="28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 Diagram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402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identify where APIs are needed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Helpful first step before architecting a large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Useful for parallelizing work across many people/teams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Acts like an informal UML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Not a Flowchart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575" y="1813950"/>
            <a:ext cx="4757601" cy="252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Systems Design Diagrams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352900" cy="38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an overall workflow for the system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Initial Layout: </a:t>
            </a:r>
            <a:r>
              <a:rPr lang="en"/>
              <a:t>For each step, assign it to a component - draw a </a:t>
            </a:r>
            <a:r>
              <a:rPr b="1" lang="en"/>
              <a:t>box </a:t>
            </a:r>
            <a:r>
              <a:rPr lang="en"/>
              <a:t>and label it</a:t>
            </a:r>
            <a:endParaRPr/>
          </a:p>
          <a:p>
            <a:pPr indent="-325755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Environmental Features: </a:t>
            </a:r>
            <a:r>
              <a:rPr lang="en"/>
              <a:t>Surround any components that live on either the same physical </a:t>
            </a:r>
            <a:r>
              <a:rPr b="1" lang="en"/>
              <a:t>server </a:t>
            </a:r>
            <a:r>
              <a:rPr lang="en"/>
              <a:t>or in the same </a:t>
            </a:r>
            <a:r>
              <a:rPr b="1" lang="en"/>
              <a:t>process </a:t>
            </a:r>
            <a:r>
              <a:rPr lang="en"/>
              <a:t>with an extra box</a:t>
            </a:r>
            <a:endParaRPr/>
          </a:p>
          <a:p>
            <a:pPr indent="-325755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Interactions: </a:t>
            </a:r>
            <a:r>
              <a:rPr lang="en"/>
              <a:t>Each time a component interacts with another, draw an </a:t>
            </a:r>
            <a:r>
              <a:rPr b="1" lang="en"/>
              <a:t>arrow </a:t>
            </a:r>
            <a:r>
              <a:rPr lang="en"/>
              <a:t>to connect them - these will be the APIs</a:t>
            </a:r>
            <a:endParaRPr/>
          </a:p>
          <a:p>
            <a:pPr indent="-325755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Simplify: </a:t>
            </a:r>
            <a:r>
              <a:rPr lang="en"/>
              <a:t>Sometimes two components will be the </a:t>
            </a:r>
            <a:r>
              <a:rPr b="1" lang="en"/>
              <a:t>request/response</a:t>
            </a:r>
            <a:r>
              <a:rPr lang="en"/>
              <a:t> steps for a single user action; identify these and combine them into a single component. Similarly, if any components are the </a:t>
            </a:r>
            <a:r>
              <a:rPr b="1" lang="en"/>
              <a:t>only component </a:t>
            </a:r>
            <a:r>
              <a:rPr lang="en"/>
              <a:t>within a server/process boundary, you can remove the double-box around them.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b="1" lang="en"/>
              <a:t>Note: </a:t>
            </a:r>
            <a:r>
              <a:rPr lang="en"/>
              <a:t>a component from 'outside' a box should only interact with the outermost layer, which in turn will interact with internal components; this separates external and internal APIs to simplify backwards-compatibility guarantees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Systems Design Diagrams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352900" cy="38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have you simplified enough?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Whenever possible, have </a:t>
            </a:r>
            <a:r>
              <a:rPr b="1" lang="en"/>
              <a:t>pairs of arrows</a:t>
            </a:r>
            <a:r>
              <a:rPr lang="en"/>
              <a:t> between components representing </a:t>
            </a:r>
            <a:r>
              <a:rPr b="1" lang="en"/>
              <a:t>request/response </a:t>
            </a:r>
            <a:r>
              <a:rPr lang="en"/>
              <a:t>pairs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system with a </a:t>
            </a:r>
            <a:r>
              <a:rPr b="1" lang="en"/>
              <a:t>single arrow</a:t>
            </a:r>
            <a:r>
              <a:rPr lang="en"/>
              <a:t> is unusual and more complicated: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single arrow means there </a:t>
            </a:r>
            <a:r>
              <a:rPr b="1" lang="en"/>
              <a:t>is no response</a:t>
            </a:r>
            <a:r>
              <a:rPr lang="en"/>
              <a:t> to </a:t>
            </a:r>
            <a:r>
              <a:rPr lang="en"/>
              <a:t>indicate</a:t>
            </a:r>
            <a:r>
              <a:rPr lang="en"/>
              <a:t> that a task is completed, successful, or failed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Any such system also needs components to </a:t>
            </a:r>
            <a:r>
              <a:rPr b="1" lang="en"/>
              <a:t>monitor and potentially redo </a:t>
            </a:r>
            <a:r>
              <a:rPr lang="en"/>
              <a:t>the task in question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Systems Design Diagrams - Removing Single Arrows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352900" cy="38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Protocols with no response (SMTP): "resend this email"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way to remove the single arrow, just build a way to re-send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Tasks with delayed response: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some sort of id/lookup key response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another component to "check status" using the key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ex: placing an order on a website returns an order number, which allows someone to look up the status of the order over several days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Systems Diagrams Example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780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Adding a 'Search' feature to an application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Overall workflow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user will enter terms in the search bar and hit enter. That request will go to a server that will create a parsed version of the query, then compare that against indexed data. The results will be compiled into a user-friendly format and then returned to the application.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Systems Diagrams Example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780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Overall workflow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user will enter terms in the search bar and hit enter. That request will go to a server that will create a parsed version of the query, then compare that against indexed data. The results will be compiled into a user-friendly format and then returned to the application.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Step 1:</a:t>
            </a:r>
            <a:r>
              <a:rPr lang="en"/>
              <a:t> Create a component for each step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50" y="3491100"/>
            <a:ext cx="8609349" cy="157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Systems Diagrams Example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7807200" cy="3416400"/>
          </a:xfrm>
          <a:prstGeom prst="rect">
            <a:avLst/>
          </a:prstGeom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 2:</a:t>
            </a:r>
            <a:r>
              <a:rPr lang="en"/>
              <a:t> Add server/process boundary boxes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15651"/>
            <a:ext cx="9144001" cy="198974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/>
          <p:nvPr/>
        </p:nvSpPr>
        <p:spPr>
          <a:xfrm>
            <a:off x="63900" y="2820850"/>
            <a:ext cx="1746900" cy="15405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Systems Diagrams Example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780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 3:</a:t>
            </a:r>
            <a:r>
              <a:rPr lang="en"/>
              <a:t> Draw component interactions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02911"/>
            <a:ext cx="8832301" cy="202846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/>
          <p:nvPr/>
        </p:nvSpPr>
        <p:spPr>
          <a:xfrm>
            <a:off x="311700" y="2507325"/>
            <a:ext cx="1419000" cy="12720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Systems Diagrams Example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780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 4:</a:t>
            </a:r>
            <a:r>
              <a:rPr lang="en"/>
              <a:t> Combine request/response components &amp; remove extra boxes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663" y="2203788"/>
            <a:ext cx="848677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Systems Diagrams Example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152475"/>
            <a:ext cx="7807200" cy="22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we can read the required APIs off the diagram: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one network API from the search bar to the network-facing server (needs </a:t>
            </a:r>
            <a:r>
              <a:rPr b="1" lang="en"/>
              <a:t>wire </a:t>
            </a:r>
            <a:r>
              <a:rPr lang="en"/>
              <a:t>compatibility)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one internal/in-process API from the networking layer to the query-parsing/translation component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one internal/in-process API from the parsing component to the indexed data searching component.</a:t>
            </a:r>
            <a:endParaRPr/>
          </a:p>
        </p:txBody>
      </p:sp>
      <p:pic>
        <p:nvPicPr>
          <p:cNvPr id="162" name="Google Shape;1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377" y="3318202"/>
            <a:ext cx="6679849" cy="168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311700" y="1152475"/>
            <a:ext cx="8520600" cy="3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systems diagram for the following workflow: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user will enter data in a website form and submit it. That information will get sent to the server, which will transform it into a SQL query and send that to a database. The database results will get transformed back into javascript-friendly results, and returned to the website to be displayed.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Run through the four steps to create the systems diagram: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Initial Layout: </a:t>
            </a:r>
            <a:r>
              <a:rPr lang="en"/>
              <a:t>For each step, assign it to a component - draw a </a:t>
            </a:r>
            <a:r>
              <a:rPr b="1" lang="en"/>
              <a:t>box </a:t>
            </a:r>
            <a:r>
              <a:rPr lang="en"/>
              <a:t>and label it</a:t>
            </a:r>
            <a:endParaRPr/>
          </a:p>
          <a:p>
            <a:pPr indent="-317182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Environmental Features: </a:t>
            </a:r>
            <a:r>
              <a:rPr lang="en"/>
              <a:t>Surround any components that live on either the same physical </a:t>
            </a:r>
            <a:r>
              <a:rPr b="1" lang="en"/>
              <a:t>server </a:t>
            </a:r>
            <a:r>
              <a:rPr lang="en"/>
              <a:t>or in the same </a:t>
            </a:r>
            <a:r>
              <a:rPr b="1" lang="en"/>
              <a:t>process </a:t>
            </a:r>
            <a:r>
              <a:rPr lang="en"/>
              <a:t>with an extra box</a:t>
            </a:r>
            <a:endParaRPr/>
          </a:p>
          <a:p>
            <a:pPr indent="-317182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Interactions: </a:t>
            </a:r>
            <a:r>
              <a:rPr lang="en"/>
              <a:t>Each time a component interacts with another, draw an </a:t>
            </a:r>
            <a:r>
              <a:rPr b="1" lang="en"/>
              <a:t>arrow </a:t>
            </a:r>
            <a:r>
              <a:rPr lang="en"/>
              <a:t>to connect them - these will be the APIs</a:t>
            </a:r>
            <a:endParaRPr/>
          </a:p>
          <a:p>
            <a:pPr indent="-317182" lvl="0" marL="457200" rtl="0" algn="l">
              <a:spcBef>
                <a:spcPts val="1000"/>
              </a:spcBef>
              <a:spcAft>
                <a:spcPts val="1000"/>
              </a:spcAft>
              <a:buSzPct val="100000"/>
              <a:buAutoNum type="arabicPeriod"/>
            </a:pPr>
            <a:r>
              <a:rPr b="1" lang="en"/>
              <a:t>Simplify: </a:t>
            </a:r>
            <a:r>
              <a:rPr lang="en"/>
              <a:t>Sometimes two components will be the </a:t>
            </a:r>
            <a:r>
              <a:rPr b="1" lang="en"/>
              <a:t>request/response</a:t>
            </a:r>
            <a:r>
              <a:rPr lang="en"/>
              <a:t> steps for a single user action; identify these and combine them into a single component. Similarly, if any components are the </a:t>
            </a:r>
            <a:r>
              <a:rPr b="1" lang="en"/>
              <a:t>only component </a:t>
            </a:r>
            <a:r>
              <a:rPr lang="en"/>
              <a:t>within a server/process boundary, you can remove the double-box around them.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Form Systems Diagram</a:t>
            </a:r>
            <a:endParaRPr/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user will enter data in a website form and submit it. That information will get sent to the server, which will transform it into a SQL query and send that to a database. The database results will get transformed back into javascript-friendly results, and returned to the website to be displayed.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463" y="2958750"/>
            <a:ext cx="7686675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Form Systems Diagram (Alt)</a:t>
            </a:r>
            <a:endParaRPr/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different here?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would you choose one vs the other?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463" y="2958750"/>
            <a:ext cx="7686675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2"/>
          <p:cNvSpPr/>
          <p:nvPr/>
        </p:nvSpPr>
        <p:spPr>
          <a:xfrm>
            <a:off x="3348950" y="3031050"/>
            <a:ext cx="5039400" cy="15318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the API</a:t>
            </a:r>
            <a:endParaRPr/>
          </a:p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API is the layer </a:t>
            </a:r>
            <a:r>
              <a:rPr b="1" lang="en"/>
              <a:t>between</a:t>
            </a:r>
            <a:r>
              <a:rPr lang="en"/>
              <a:t> components, and acts as a </a:t>
            </a:r>
            <a:r>
              <a:rPr b="1" lang="en"/>
              <a:t>contract</a:t>
            </a:r>
            <a:r>
              <a:rPr lang="en"/>
              <a:t> between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component has a copy of the contract, but "the API" isn't a single piece of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463" y="2958750"/>
            <a:ext cx="7686675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3"/>
          <p:cNvSpPr/>
          <p:nvPr/>
        </p:nvSpPr>
        <p:spPr>
          <a:xfrm>
            <a:off x="3348950" y="3031050"/>
            <a:ext cx="5039400" cy="15318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33"/>
          <p:cNvCxnSpPr/>
          <p:nvPr/>
        </p:nvCxnSpPr>
        <p:spPr>
          <a:xfrm flipH="1">
            <a:off x="2876200" y="2376975"/>
            <a:ext cx="18900" cy="9078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a Good API</a:t>
            </a:r>
            <a:endParaRPr/>
          </a:p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APIs should be designed from the perspective of the </a:t>
            </a:r>
            <a:r>
              <a:rPr b="1" lang="en"/>
              <a:t>user</a:t>
            </a:r>
            <a:r>
              <a:rPr lang="en"/>
              <a:t>, not the implementer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Avoids a "leaky abstraction", where details of how a component works end up in the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Captures behavior, not data (although the line can be blurry)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Needs enough power to be useful, but also an easy learning curve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 the common things easy, and the weird things possible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Remember: you can always </a:t>
            </a:r>
            <a:r>
              <a:rPr b="1" lang="en"/>
              <a:t>add</a:t>
            </a:r>
            <a:r>
              <a:rPr lang="en"/>
              <a:t> things to an API, but it's difficult to </a:t>
            </a:r>
            <a:r>
              <a:rPr b="1" lang="en"/>
              <a:t>remove</a:t>
            </a:r>
            <a:r>
              <a:rPr lang="en"/>
              <a:t> or </a:t>
            </a:r>
            <a:r>
              <a:rPr b="1" lang="en"/>
              <a:t>change </a:t>
            </a:r>
            <a:r>
              <a:rPr lang="en"/>
              <a:t>things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Initially, aim for a Minimum Viable Product (MVP) approach - what's the smallest set of things that will let a user accomplish what they need to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Backwards Compatibility</a:t>
            </a:r>
            <a:endParaRPr/>
          </a:p>
        </p:txBody>
      </p:sp>
      <p:sp>
        <p:nvSpPr>
          <p:cNvPr id="204" name="Google Shape;20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widely used, public, open source projects (Ex: protocol buffers, the JRE):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Many clients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complete list of all clients, much less access to their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Breaking changes are a Big Deal, and very rare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Ever wondered why generics are wonky in Java? To maintain 1.4/1.5 compatibility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Backwards Compatibility</a:t>
            </a:r>
            <a:endParaRPr/>
          </a:p>
        </p:txBody>
      </p:sp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APIs have a narrower scope: within a company, team, or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Backwards compatibility is still important!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Consider a simple web server: a client process and a server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upgrading, one option is to turn everything off, upgrade everything, and then turn it back 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Ex: "Caution: AmateurHour.com will be going down for maintenance from 3am to 6am on Friday"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Updates</a:t>
            </a:r>
            <a:endParaRPr/>
          </a:p>
        </p:txBody>
      </p:sp>
      <p:sp>
        <p:nvSpPr>
          <p:cNvPr id="216" name="Google Shape;21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option: At least 2 copies of every process with network failover.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a user is connected to Client 1, which starts off connected to Server 1; both clients/servers are running identical software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175" y="2480200"/>
            <a:ext cx="4930725" cy="236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Updates</a:t>
            </a:r>
            <a:endParaRPr/>
          </a:p>
        </p:txBody>
      </p:sp>
      <p:sp>
        <p:nvSpPr>
          <p:cNvPr id="223" name="Google Shape;22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update to v1.1: first stop the Server 1 process. Client 1 will fail over to Server 2; this will at worst cause a browser-refresh style hiccup for a </a:t>
            </a:r>
            <a:r>
              <a:rPr lang="en"/>
              <a:t>user, but typically it's not noticeable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0347" y="2164197"/>
            <a:ext cx="5423301" cy="265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Updates</a:t>
            </a:r>
            <a:endParaRPr/>
          </a:p>
        </p:txBody>
      </p:sp>
      <p:sp>
        <p:nvSpPr>
          <p:cNvPr id="230" name="Google Shape;230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update the binaries on the server, start Server 1 back up, and do the same for Server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3749" y="1798875"/>
            <a:ext cx="5412124" cy="27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Updates</a:t>
            </a:r>
            <a:endParaRPr/>
          </a:p>
        </p:txBody>
      </p:sp>
      <p:sp>
        <p:nvSpPr>
          <p:cNvPr id="237" name="Google Shape;23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 the servers are updated, the clients can get sequentially updated as well. All of this relies on a client running v1.0 still being able to talk to a server with v1.1, which means the API must be </a:t>
            </a:r>
            <a:r>
              <a:rPr b="1" lang="en"/>
              <a:t>backwards compatible</a:t>
            </a:r>
            <a:r>
              <a:rPr lang="en"/>
              <a:t> for at least one version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4834" y="2342322"/>
            <a:ext cx="5274324" cy="257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Updates</a:t>
            </a:r>
            <a:endParaRPr/>
          </a:p>
        </p:txBody>
      </p:sp>
      <p:sp>
        <p:nvSpPr>
          <p:cNvPr id="244" name="Google Shape;24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practice, this whole process is often automated, with Server 1 having to pass some automated health checks before Server 2 gets upgraded, as part of a </a:t>
            </a:r>
            <a:r>
              <a:rPr b="1" lang="en"/>
              <a:t>continuous deployment</a:t>
            </a:r>
            <a:r>
              <a:rPr lang="en"/>
              <a:t> pipeline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4834" y="2342322"/>
            <a:ext cx="5274324" cy="25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1"/>
          <p:cNvPicPr preferRelativeResize="0"/>
          <p:nvPr/>
        </p:nvPicPr>
        <p:blipFill rotWithShape="1">
          <a:blip r:embed="rId3">
            <a:alphaModFix/>
          </a:blip>
          <a:srcRect b="20497" l="77384" r="7163" t="71071"/>
          <a:stretch/>
        </p:blipFill>
        <p:spPr>
          <a:xfrm>
            <a:off x="3959050" y="4250625"/>
            <a:ext cx="814975" cy="21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Backwards Compatibility</a:t>
            </a:r>
            <a:endParaRPr/>
          </a:p>
        </p:txBody>
      </p:sp>
      <p:sp>
        <p:nvSpPr>
          <p:cNvPr id="252" name="Google Shape;25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APIs are contract between different components, which may change and upgrade at different rates, with different people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It's important to </a:t>
            </a:r>
            <a:r>
              <a:rPr lang="en"/>
              <a:t>maintain </a:t>
            </a:r>
            <a:r>
              <a:rPr b="1" lang="en"/>
              <a:t>backwards compatibility</a:t>
            </a:r>
            <a:r>
              <a:rPr lang="en"/>
              <a:t> with an API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type of backward compatibility is actually </a:t>
            </a:r>
            <a:r>
              <a:rPr b="1" lang="en"/>
              <a:t>part</a:t>
            </a:r>
            <a:r>
              <a:rPr lang="en"/>
              <a:t> of the API: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Source compatibility: code written with a previous version still compiles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Wire compatibility: an application built against a previous version can still talk to a new server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Semantic compatibility: an application's behavior doesn't change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Breaking Changes</a:t>
            </a:r>
            <a:endParaRPr/>
          </a:p>
        </p:txBody>
      </p:sp>
      <p:sp>
        <p:nvSpPr>
          <p:cNvPr id="258" name="Google Shape;258;p43"/>
          <p:cNvSpPr txBox="1"/>
          <p:nvPr>
            <p:ph idx="1" type="body"/>
          </p:nvPr>
        </p:nvSpPr>
        <p:spPr>
          <a:xfrm>
            <a:off x="311700" y="1152475"/>
            <a:ext cx="8520600" cy="37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Source compatibility: code written with a previous version still compiles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Previous API: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public Set&lt;Object&gt; createCollection();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Breaking Change: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public Collection&lt;Object&gt; createCollection();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Non-breaking Change: returning a HashSet instead of a TreeSet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⇒ Make your return types as </a:t>
            </a:r>
            <a:r>
              <a:rPr b="1" lang="en"/>
              <a:t>general </a:t>
            </a:r>
            <a:r>
              <a:rPr lang="en"/>
              <a:t>as possible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Breaking Changes</a:t>
            </a:r>
            <a:endParaRPr/>
          </a:p>
        </p:txBody>
      </p:sp>
      <p:sp>
        <p:nvSpPr>
          <p:cNvPr id="264" name="Google Shape;264;p44"/>
          <p:cNvSpPr txBox="1"/>
          <p:nvPr>
            <p:ph idx="1" type="body"/>
          </p:nvPr>
        </p:nvSpPr>
        <p:spPr>
          <a:xfrm>
            <a:off x="311700" y="1152475"/>
            <a:ext cx="8520600" cy="37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Wire compatibility: an application built against a previous version can still talk to a new 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Previous API: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Using default Java serialization: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public Widget createWidget();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Breaking Change: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Create a new class that implements Widget and return it; Java serialization will fail on the application side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Non-breaking Change: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Use an explicitly backwards/forwards compatible wire format such as JSON or protocol buffers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⇒ Make </a:t>
            </a:r>
            <a:r>
              <a:rPr b="1" lang="en"/>
              <a:t>serialization </a:t>
            </a:r>
            <a:r>
              <a:rPr lang="en"/>
              <a:t>and </a:t>
            </a:r>
            <a:r>
              <a:rPr b="1" lang="en"/>
              <a:t>persistence</a:t>
            </a:r>
            <a:r>
              <a:rPr lang="en"/>
              <a:t> explicit parts of the API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For Change - Versioning</a:t>
            </a:r>
            <a:endParaRPr/>
          </a:p>
        </p:txBody>
      </p:sp>
      <p:sp>
        <p:nvSpPr>
          <p:cNvPr id="270" name="Google Shape;270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time something is </a:t>
            </a:r>
            <a:r>
              <a:rPr b="1" lang="en"/>
              <a:t>serialized </a:t>
            </a:r>
            <a:r>
              <a:rPr lang="en"/>
              <a:t>or </a:t>
            </a:r>
            <a:r>
              <a:rPr b="1" lang="en"/>
              <a:t>persisted</a:t>
            </a:r>
            <a:r>
              <a:rPr lang="en"/>
              <a:t> it should have a version number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Default for java Serializable is serialVersionUID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Two major properties: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version number should an incrementing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Version should be automatically set given the compiled version of the code: ex: protocolBufferBuilder.setVersion(VERSION);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Breaking Changes</a:t>
            </a:r>
            <a:endParaRPr/>
          </a:p>
        </p:txBody>
      </p:sp>
      <p:sp>
        <p:nvSpPr>
          <p:cNvPr id="276" name="Google Shape;276;p46"/>
          <p:cNvSpPr txBox="1"/>
          <p:nvPr>
            <p:ph idx="1" type="body"/>
          </p:nvPr>
        </p:nvSpPr>
        <p:spPr>
          <a:xfrm>
            <a:off x="311700" y="1152475"/>
            <a:ext cx="4495500" cy="38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Semantic compatibility: an application's behavior doesn't change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Previous API: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public float parseString(String number) throws NumberFormatException;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Breaking Change: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/* Returns Float.NaN if the number doesn't parse */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public float parseString(String number);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⇒ Build in </a:t>
            </a:r>
            <a:r>
              <a:rPr b="1" lang="en"/>
              <a:t>error handling</a:t>
            </a:r>
            <a:r>
              <a:rPr lang="en"/>
              <a:t> from the beginning</a:t>
            </a:r>
            <a:endParaRPr/>
          </a:p>
        </p:txBody>
      </p:sp>
      <p:sp>
        <p:nvSpPr>
          <p:cNvPr id="277" name="Google Shape;277;p46"/>
          <p:cNvSpPr txBox="1"/>
          <p:nvPr/>
        </p:nvSpPr>
        <p:spPr>
          <a:xfrm>
            <a:off x="4746425" y="1235725"/>
            <a:ext cx="4397700" cy="3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Non-breaking Change: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@deprecated /** Prefer parseStringNoThrow */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public default float parseString(String number) throws NumberFormatException {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float result = parseStringNoThrow(number);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if (result == Float.NaN) {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throw new NumberFormatException();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/* Returns Float.NaN if the number doesn't parse */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public float parseStringNoThrow(String number);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Versions of Compatibility</a:t>
            </a:r>
            <a:endParaRPr/>
          </a:p>
        </p:txBody>
      </p:sp>
      <p:sp>
        <p:nvSpPr>
          <p:cNvPr id="283" name="Google Shape;283;p47"/>
          <p:cNvSpPr txBox="1"/>
          <p:nvPr>
            <p:ph idx="1" type="body"/>
          </p:nvPr>
        </p:nvSpPr>
        <p:spPr>
          <a:xfrm>
            <a:off x="311700" y="1152475"/>
            <a:ext cx="8316600" cy="38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open-source projects will typically support APIs for many years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Breaking changes are indicated by incrementing the </a:t>
            </a:r>
            <a:r>
              <a:rPr b="1" lang="en"/>
              <a:t>major </a:t>
            </a:r>
            <a:r>
              <a:rPr lang="en"/>
              <a:t>version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Internal-only or smaller projects may have shorter support windows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Most common is one </a:t>
            </a:r>
            <a:r>
              <a:rPr b="1" lang="en"/>
              <a:t>minor</a:t>
            </a:r>
            <a:r>
              <a:rPr lang="en"/>
              <a:t> release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 numbers: major.minor.hotfix/patch (ex: Java 1.6.u45)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Generally, </a:t>
            </a:r>
            <a:r>
              <a:rPr b="1" lang="en"/>
              <a:t>deprecate</a:t>
            </a:r>
            <a:r>
              <a:rPr lang="en"/>
              <a:t> functionality for one support window, then remove it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Design Feels Backwards</a:t>
            </a:r>
            <a:endParaRPr/>
          </a:p>
        </p:txBody>
      </p:sp>
      <p:sp>
        <p:nvSpPr>
          <p:cNvPr id="289" name="Google Shape;289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until now: I want to build a thing → I go build the thing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New and improved: I want to build a thing → I go do something else entirely, and then eventually come back to building the thing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Seems </a:t>
            </a:r>
            <a:r>
              <a:rPr b="1" lang="en"/>
              <a:t>counterintuitive</a:t>
            </a:r>
            <a:r>
              <a:rPr lang="en"/>
              <a:t>, but trust the process! Somewhere around the middle of the semester, suddenly all that "something else entirely" will really start to pay off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Design Feels Backwards</a:t>
            </a:r>
            <a:endParaRPr/>
          </a:p>
        </p:txBody>
      </p:sp>
      <p:sp>
        <p:nvSpPr>
          <p:cNvPr id="295" name="Google Shape;295;p49"/>
          <p:cNvSpPr txBox="1"/>
          <p:nvPr>
            <p:ph idx="1" type="body"/>
          </p:nvPr>
        </p:nvSpPr>
        <p:spPr>
          <a:xfrm>
            <a:off x="311700" y="1152475"/>
            <a:ext cx="492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API Design steps don't seem to be </a:t>
            </a:r>
            <a:r>
              <a:rPr b="1" lang="en"/>
              <a:t>getting anywhere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Think of it like an image loading over time - the first few steps are really blurry, but they're still important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What does an interlaced PNG mean? - Quora" id="296" name="Google Shape;29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675" y="1619250"/>
            <a:ext cx="347662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Example: Building a Server For a Website</a:t>
            </a:r>
            <a:endParaRPr/>
          </a:p>
        </p:txBody>
      </p:sp>
      <p:sp>
        <p:nvSpPr>
          <p:cNvPr id="302" name="Google Shape;302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building the System Design Diagram, focus on each API between components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user (via their browser) will connect to a web server for a social media site. Initially, we just want the user to be able to view their profile and make changes to 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Example: Building a Server For a Website</a:t>
            </a:r>
            <a:endParaRPr/>
          </a:p>
        </p:txBody>
      </p:sp>
      <p:sp>
        <p:nvSpPr>
          <p:cNvPr id="308" name="Google Shape;308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 1</a:t>
            </a:r>
            <a:r>
              <a:rPr lang="en"/>
              <a:t>: Identify the </a:t>
            </a:r>
            <a:r>
              <a:rPr b="1" lang="en"/>
              <a:t>client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this case, the website frontend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Note that the client isn't always a person, or the </a:t>
            </a:r>
            <a:r>
              <a:rPr b="1" lang="en"/>
              <a:t>end user</a:t>
            </a:r>
            <a:r>
              <a:rPr lang="en"/>
              <a:t> - the client of an API is the person or (usually) program that will be interacting with it directly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What does an interlaced PNG mean? - Quora" id="309" name="Google Shape;309;p51"/>
          <p:cNvPicPr preferRelativeResize="0"/>
          <p:nvPr/>
        </p:nvPicPr>
        <p:blipFill rotWithShape="1">
          <a:blip r:embed="rId3">
            <a:alphaModFix/>
          </a:blip>
          <a:srcRect b="0" l="0" r="66614" t="0"/>
          <a:stretch/>
        </p:blipFill>
        <p:spPr>
          <a:xfrm>
            <a:off x="7312325" y="172625"/>
            <a:ext cx="116067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 (Part 1 of Many)</a:t>
            </a:r>
            <a:endParaRPr/>
          </a:p>
        </p:txBody>
      </p:sp>
      <p:sp>
        <p:nvSpPr>
          <p:cNvPr id="315" name="Google Shape;315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seeing how each piece works with our social media site example, you’ll implement the same part of the process with a different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Goal: You've been asked to build a key-value store system, where another program can store and retrieve arbitrary bytes of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1: Who is the </a:t>
            </a:r>
            <a:r>
              <a:rPr b="1" lang="en"/>
              <a:t>client </a:t>
            </a:r>
            <a:r>
              <a:rPr lang="en"/>
              <a:t>for this system?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 Solution</a:t>
            </a:r>
            <a:endParaRPr/>
          </a:p>
        </p:txBody>
      </p:sp>
      <p:sp>
        <p:nvSpPr>
          <p:cNvPr id="321" name="Google Shape;321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You've been asked to build a key-value store system, where clients can store and retrieve arbitrary bytes of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client </a:t>
            </a:r>
            <a:r>
              <a:rPr lang="en"/>
              <a:t>will likely be another piece of code: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web server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another backend server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probably not an actual person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The user can be trusted (mostly)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The user (for a given system) is likely </a:t>
            </a:r>
            <a:r>
              <a:rPr b="1" lang="en"/>
              <a:t>unique</a:t>
            </a:r>
            <a:r>
              <a:rPr lang="en"/>
              <a:t> - no need to manage different profiles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Example: Building a Server For a Website</a:t>
            </a:r>
            <a:endParaRPr/>
          </a:p>
        </p:txBody>
      </p:sp>
      <p:sp>
        <p:nvSpPr>
          <p:cNvPr id="327" name="Google Shape;327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 2:</a:t>
            </a:r>
            <a:r>
              <a:rPr lang="en"/>
              <a:t> List out what the user needs to be able to do.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our case, that might be: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Log in to the site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Load a profile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 changes to a profile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What does an interlaced PNG mean? - Quora" id="328" name="Google Shape;328;p54"/>
          <p:cNvPicPr preferRelativeResize="0"/>
          <p:nvPr/>
        </p:nvPicPr>
        <p:blipFill rotWithShape="1">
          <a:blip r:embed="rId3">
            <a:alphaModFix/>
          </a:blip>
          <a:srcRect b="0" l="0" r="66614" t="0"/>
          <a:stretch/>
        </p:blipFill>
        <p:spPr>
          <a:xfrm>
            <a:off x="7283950" y="371175"/>
            <a:ext cx="116067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 (Part 2)</a:t>
            </a:r>
            <a:endParaRPr/>
          </a:p>
        </p:txBody>
      </p:sp>
      <p:sp>
        <p:nvSpPr>
          <p:cNvPr id="334" name="Google Shape;334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You've been asked to build a key-value store system, where clients can store and retrieve arbitrary bytes of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client </a:t>
            </a:r>
            <a:r>
              <a:rPr lang="en"/>
              <a:t>will be another piece of code (some sort of server)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2: List out what operations the client will need to perform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 Solution</a:t>
            </a:r>
            <a:endParaRPr/>
          </a:p>
        </p:txBody>
      </p:sp>
      <p:sp>
        <p:nvSpPr>
          <p:cNvPr id="340" name="Google Shape;340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You've been asked to build a key-value store system, where clients can store and retrieve arbitrary bytes of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functionality it needs to support: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Store bytes of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Later, look up the corresponding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the Actual API</a:t>
            </a:r>
            <a:endParaRPr/>
          </a:p>
        </p:txBody>
      </p:sp>
      <p:sp>
        <p:nvSpPr>
          <p:cNvPr id="346" name="Google Shape;346;p57"/>
          <p:cNvSpPr txBox="1"/>
          <p:nvPr>
            <p:ph idx="1" type="body"/>
          </p:nvPr>
        </p:nvSpPr>
        <p:spPr>
          <a:xfrm>
            <a:off x="311700" y="1152475"/>
            <a:ext cx="8520600" cy="3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 3:</a:t>
            </a:r>
            <a:r>
              <a:rPr lang="en"/>
              <a:t> Build a prototype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go from a high-level approach to the actual code, build a </a:t>
            </a:r>
            <a:r>
              <a:rPr b="1" lang="en"/>
              <a:t>prototype use case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isn't an actual website, or anything that will ever be used; it's to iron out the details to make sure the API is both well-specified and sufficiently powerful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the actual website will have forms for input, responses to user actions, etc, the prototype just focuses on the </a:t>
            </a:r>
            <a:r>
              <a:rPr b="1" lang="en"/>
              <a:t>interactions </a:t>
            </a:r>
            <a:r>
              <a:rPr lang="en"/>
              <a:t>with the API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the high-level approach as comments, and fill it out as you go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the Actual API (Next Checkpoint)</a:t>
            </a:r>
            <a:endParaRPr/>
          </a:p>
        </p:txBody>
      </p:sp>
      <p:sp>
        <p:nvSpPr>
          <p:cNvPr id="352" name="Google Shape;352;p58"/>
          <p:cNvSpPr txBox="1"/>
          <p:nvPr>
            <p:ph idx="1" type="body"/>
          </p:nvPr>
        </p:nvSpPr>
        <p:spPr>
          <a:xfrm>
            <a:off x="311700" y="1152475"/>
            <a:ext cx="8520600" cy="3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Prototypes are frequently </a:t>
            </a:r>
            <a:r>
              <a:rPr b="1" lang="en"/>
              <a:t>JUnit Tests</a:t>
            </a:r>
            <a:r>
              <a:rPr lang="en"/>
              <a:t>, but we won't cover testing until next class.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now, the prototype for SomeApi will have the format: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PrototypeSomeApi.java: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PrototypeSomeApi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prototype(SomeApi server)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prototype goes here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code isn't accessible from any code entry points (no main method or @Test annotation), so it will never </a:t>
            </a:r>
            <a:r>
              <a:rPr b="1" lang="en"/>
              <a:t>run</a:t>
            </a:r>
            <a:r>
              <a:rPr lang="en"/>
              <a:t>, that's ok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code just needs to </a:t>
            </a:r>
            <a:r>
              <a:rPr b="1" lang="en"/>
              <a:t>compile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the Use Case</a:t>
            </a:r>
            <a:endParaRPr/>
          </a:p>
        </p:txBody>
      </p:sp>
      <p:sp>
        <p:nvSpPr>
          <p:cNvPr id="358" name="Google Shape;358;p59"/>
          <p:cNvSpPr txBox="1"/>
          <p:nvPr>
            <p:ph idx="1" type="body"/>
          </p:nvPr>
        </p:nvSpPr>
        <p:spPr>
          <a:xfrm>
            <a:off x="311700" y="1152475"/>
            <a:ext cx="8520600" cy="3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just add comments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prototype(WebServer server)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log in the user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load their profile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make a change to the profile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reload the updated version of the profile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step will often flag functionality that was missed during the initial brainstorming, such as a 'log out' option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What does an interlaced PNG mean? - Quora" id="359" name="Google Shape;359;p59"/>
          <p:cNvPicPr preferRelativeResize="0"/>
          <p:nvPr/>
        </p:nvPicPr>
        <p:blipFill rotWithShape="1">
          <a:blip r:embed="rId3">
            <a:alphaModFix/>
          </a:blip>
          <a:srcRect b="0" l="34073" r="33709" t="0"/>
          <a:stretch/>
        </p:blipFill>
        <p:spPr>
          <a:xfrm>
            <a:off x="6951275" y="289775"/>
            <a:ext cx="1040050" cy="176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the Use Case</a:t>
            </a:r>
            <a:endParaRPr/>
          </a:p>
        </p:txBody>
      </p:sp>
      <p:sp>
        <p:nvSpPr>
          <p:cNvPr id="365" name="Google Shape;365;p60"/>
          <p:cNvSpPr txBox="1"/>
          <p:nvPr>
            <p:ph idx="1" type="body"/>
          </p:nvPr>
        </p:nvSpPr>
        <p:spPr>
          <a:xfrm>
            <a:off x="311700" y="1152475"/>
            <a:ext cx="8520600" cy="3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just add comments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prototype(WebServer server)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log in the user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load their profile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make a change to the profile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reload the updated version of the profile</a:t>
            </a:r>
            <a:endParaRPr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logout</a:t>
            </a:r>
            <a:endParaRPr b="1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fixed!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What does an interlaced PNG mean? - Quora" id="366" name="Google Shape;366;p60"/>
          <p:cNvPicPr preferRelativeResize="0"/>
          <p:nvPr/>
        </p:nvPicPr>
        <p:blipFill rotWithShape="1">
          <a:blip r:embed="rId3">
            <a:alphaModFix/>
          </a:blip>
          <a:srcRect b="0" l="34073" r="33709" t="0"/>
          <a:stretch/>
        </p:blipFill>
        <p:spPr>
          <a:xfrm>
            <a:off x="6951275" y="289775"/>
            <a:ext cx="1040050" cy="176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Code Compile</a:t>
            </a:r>
            <a:endParaRPr/>
          </a:p>
        </p:txBody>
      </p:sp>
      <p:sp>
        <p:nvSpPr>
          <p:cNvPr id="372" name="Google Shape;372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previous slide created a new </a:t>
            </a:r>
            <a:r>
              <a:rPr b="1" lang="en"/>
              <a:t>type</a:t>
            </a:r>
            <a:r>
              <a:rPr lang="en"/>
              <a:t> (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WebServer)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 you're writing the code, you want it to compile - when you have a referenced type that you haven't implemented yet, create it as an </a:t>
            </a:r>
            <a:r>
              <a:rPr b="1" lang="en"/>
              <a:t>empty interface: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WebServer.java: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WebServer</a:t>
            </a: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6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nothing here yet!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⇒ Your IDE can help you with this! Try hovering over the red squiggle, and use the option to create a new type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 (Part 3)</a:t>
            </a:r>
            <a:endParaRPr/>
          </a:p>
        </p:txBody>
      </p:sp>
      <p:sp>
        <p:nvSpPr>
          <p:cNvPr id="378" name="Google Shape;378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You've been asked to build a key-value store system, where clients can store and retrieve arbitrary bytes of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</a:t>
            </a:r>
            <a:r>
              <a:rPr b="1" lang="en"/>
              <a:t>client </a:t>
            </a:r>
            <a:r>
              <a:rPr lang="en"/>
              <a:t>is another piece of code/other 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functionality it needs to support: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Store bytes of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Later, look up the corresponding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a </a:t>
            </a:r>
            <a:r>
              <a:rPr b="1" lang="en"/>
              <a:t>PrototypeDataStore.java</a:t>
            </a:r>
            <a:r>
              <a:rPr lang="en"/>
              <a:t> with the comments + methods version of the API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Hint</a:t>
            </a:r>
            <a:r>
              <a:rPr lang="en"/>
              <a:t>: This should compile, so you may need to create an empty interface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 Solution</a:t>
            </a:r>
            <a:endParaRPr/>
          </a:p>
        </p:txBody>
      </p:sp>
      <p:sp>
        <p:nvSpPr>
          <p:cNvPr id="384" name="Google Shape;384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prototype(DataStore dataStore)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store some data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retrieve the data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DataStore.java: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DataStore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nothing here yet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the Use Case</a:t>
            </a:r>
            <a:endParaRPr/>
          </a:p>
        </p:txBody>
      </p:sp>
      <p:sp>
        <p:nvSpPr>
          <p:cNvPr id="390" name="Google Shape;390;p64"/>
          <p:cNvSpPr txBox="1"/>
          <p:nvPr>
            <p:ph idx="1" type="body"/>
          </p:nvPr>
        </p:nvSpPr>
        <p:spPr>
          <a:xfrm>
            <a:off x="311700" y="1152475"/>
            <a:ext cx="8520600" cy="3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 4</a:t>
            </a:r>
            <a:r>
              <a:rPr lang="en"/>
              <a:t>: Fill out the 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8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608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8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608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prototype(WebServer server) {</a:t>
            </a:r>
            <a:endParaRPr sz="1608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8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608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log in the user: what do we need to build a LoginRequest?</a:t>
            </a:r>
            <a:endParaRPr sz="1608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8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LoginResponse response = server.login(</a:t>
            </a:r>
            <a:r>
              <a:rPr lang="en" sz="1608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608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LoginRequest());</a:t>
            </a:r>
            <a:endParaRPr sz="1608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8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8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608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load their profile</a:t>
            </a:r>
            <a:endParaRPr sz="1608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8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608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make a change to the profile</a:t>
            </a:r>
            <a:endParaRPr sz="1608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8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608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reload the updated version of the profile</a:t>
            </a:r>
            <a:endParaRPr sz="1608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8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608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log out</a:t>
            </a:r>
            <a:endParaRPr sz="1608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8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8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Often, filling in the first few lines doesn't seem like it's actually clarifying anything, but you'll notice we now have two concrete interfaces and a method. Remember, this first pass is still fairly high-level and vague; leave further needed details as comments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What does an interlaced PNG mean? - Quora" id="391" name="Google Shape;391;p64"/>
          <p:cNvPicPr preferRelativeResize="0"/>
          <p:nvPr/>
        </p:nvPicPr>
        <p:blipFill rotWithShape="1">
          <a:blip r:embed="rId3">
            <a:alphaModFix/>
          </a:blip>
          <a:srcRect b="0" l="66019" r="0" t="0"/>
          <a:stretch/>
        </p:blipFill>
        <p:spPr>
          <a:xfrm>
            <a:off x="7735725" y="182050"/>
            <a:ext cx="11813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Design Best Practice: Always Have a Return Value</a:t>
            </a:r>
            <a:endParaRPr/>
          </a:p>
        </p:txBody>
      </p:sp>
      <p:sp>
        <p:nvSpPr>
          <p:cNvPr id="397" name="Google Shape;397;p65"/>
          <p:cNvSpPr txBox="1"/>
          <p:nvPr>
            <p:ph idx="1" type="body"/>
          </p:nvPr>
        </p:nvSpPr>
        <p:spPr>
          <a:xfrm>
            <a:off x="311700" y="1152475"/>
            <a:ext cx="8520600" cy="3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LoginResponse login(LoginRequest loginRequest);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</a:t>
            </a:r>
            <a:r>
              <a:rPr b="1" lang="en"/>
              <a:t>void</a:t>
            </a:r>
            <a:r>
              <a:rPr lang="en"/>
              <a:t>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values allow you to: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Handle error cases more gracefully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Propagate exceptions across network/process boundaries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functionality later without breaking backwards compatibility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the Use Case</a:t>
            </a:r>
            <a:endParaRPr/>
          </a:p>
        </p:txBody>
      </p:sp>
      <p:sp>
        <p:nvSpPr>
          <p:cNvPr id="403" name="Google Shape;403;p66"/>
          <p:cNvSpPr txBox="1"/>
          <p:nvPr>
            <p:ph idx="1" type="body"/>
          </p:nvPr>
        </p:nvSpPr>
        <p:spPr>
          <a:xfrm>
            <a:off x="311700" y="1017725"/>
            <a:ext cx="8520600" cy="30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testWebServer(WebServer server)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log in the user: what do we need to build a LoginRequest?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LoginResponse loginResponse = server.login(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LoginRequest());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load their profile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(loginResponse.success())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ProfileLoadResponse profileLoadResponse = server.loadProfile(loginResponse.getUserIdentifier());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make a change to the profile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reload the updated version of the profile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log out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4" name="Google Shape;404;p66"/>
          <p:cNvSpPr txBox="1"/>
          <p:nvPr/>
        </p:nvSpPr>
        <p:spPr>
          <a:xfrm>
            <a:off x="306500" y="4118850"/>
            <a:ext cx="85206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As we fill out the next few lines, we'll start to implicitly fill out some of the interfaces; we need to know if the login worked, and in order to load a profile we need a user id, which we would have to get from the login info (good thing we had a response!)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Design Best Practice: Wrapper Interfaces</a:t>
            </a:r>
            <a:endParaRPr/>
          </a:p>
        </p:txBody>
      </p:sp>
      <p:sp>
        <p:nvSpPr>
          <p:cNvPr id="410" name="Google Shape;410;p67"/>
          <p:cNvSpPr txBox="1"/>
          <p:nvPr>
            <p:ph idx="1" type="body"/>
          </p:nvPr>
        </p:nvSpPr>
        <p:spPr>
          <a:xfrm>
            <a:off x="311700" y="1152475"/>
            <a:ext cx="8520600" cy="3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ProfileLoadResponse loadProfile(UserIdentifier user);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'String username' or 'long userId'?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Exactly!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wants to implement a unique id per user is an </a:t>
            </a:r>
            <a:r>
              <a:rPr b="1" lang="en"/>
              <a:t>implementation detail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Leaving it unspecified allows for a flexible implementation, or multiple/changing implementations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the Use Case</a:t>
            </a:r>
            <a:endParaRPr/>
          </a:p>
        </p:txBody>
      </p:sp>
      <p:sp>
        <p:nvSpPr>
          <p:cNvPr id="416" name="Google Shape;416;p68"/>
          <p:cNvSpPr txBox="1"/>
          <p:nvPr>
            <p:ph idx="1" type="body"/>
          </p:nvPr>
        </p:nvSpPr>
        <p:spPr>
          <a:xfrm>
            <a:off x="311700" y="1017725"/>
            <a:ext cx="8520600" cy="40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testWebServer(WebServer server)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log in the user: what do we need to build a LoginRequest?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LoginResponse loginResponse = server.login(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LoginRequest());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load their profile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(loginResponse.success())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ProfileLoadResponse profileLoadResponse = server.loadProfile(loginResponse.getUserIdentifier());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make a change to the profile: what do we need to create one of these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ProfileChangeRequest changeRequest =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ProfileChangeRequest();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ProfileChangeResponse profileChangeResponse = server.updateProfile(loginResponse.getUserIdentifier(), changeRequest);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reload the updated version of the profile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profileLoadResponse = server.loadProfile(loginResponse.getUserIdentifier());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log out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server.logout(loginResponse.getUserIdentifier());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7" name="Google Shape;417;p68"/>
          <p:cNvSpPr txBox="1"/>
          <p:nvPr/>
        </p:nvSpPr>
        <p:spPr>
          <a:xfrm>
            <a:off x="306500" y="4118850"/>
            <a:ext cx="85206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Design Best Practice: Many Object Interfaces</a:t>
            </a:r>
            <a:endParaRPr/>
          </a:p>
        </p:txBody>
      </p:sp>
      <p:sp>
        <p:nvSpPr>
          <p:cNvPr id="423" name="Google Shape;423;p69"/>
          <p:cNvSpPr txBox="1"/>
          <p:nvPr>
            <p:ph idx="1" type="body"/>
          </p:nvPr>
        </p:nvSpPr>
        <p:spPr>
          <a:xfrm>
            <a:off x="311700" y="1152475"/>
            <a:ext cx="8520600" cy="3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ProfileChangeResponse changeProfile(UserIdentifier user, ProfileChangeRequest request);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Shouldn't we be reusing code and combining some of these response values?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Nope!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Copy-pasting </a:t>
            </a:r>
            <a:r>
              <a:rPr b="1" lang="en"/>
              <a:t>logic </a:t>
            </a:r>
            <a:r>
              <a:rPr lang="en"/>
              <a:t>is bad, that's something you encapsulate and re-use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Reusing </a:t>
            </a:r>
            <a:r>
              <a:rPr b="1" lang="en"/>
              <a:t>methods</a:t>
            </a:r>
            <a:r>
              <a:rPr lang="en"/>
              <a:t> is also a good idea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On the other hand, allow wrapper </a:t>
            </a:r>
            <a:r>
              <a:rPr b="1" lang="en"/>
              <a:t>interfaces </a:t>
            </a:r>
            <a:r>
              <a:rPr lang="en"/>
              <a:t>to proliferate wildly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Leaving these separate allows for future flexibility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reuse is great for situations where you control all uses of the code, but APIs are the opposite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tldr: </a:t>
            </a:r>
            <a:r>
              <a:rPr b="1" lang="en"/>
              <a:t>Types </a:t>
            </a:r>
            <a:r>
              <a:rPr lang="en"/>
              <a:t>= don't reuse, </a:t>
            </a:r>
            <a:r>
              <a:rPr b="1" lang="en"/>
              <a:t>Methods</a:t>
            </a:r>
            <a:r>
              <a:rPr lang="en"/>
              <a:t> = do reuse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the actual API: Method Signatures</a:t>
            </a:r>
            <a:endParaRPr/>
          </a:p>
        </p:txBody>
      </p:sp>
      <p:sp>
        <p:nvSpPr>
          <p:cNvPr id="429" name="Google Shape;429;p70"/>
          <p:cNvSpPr txBox="1"/>
          <p:nvPr>
            <p:ph idx="1" type="body"/>
          </p:nvPr>
        </p:nvSpPr>
        <p:spPr>
          <a:xfrm>
            <a:off x="311700" y="1152475"/>
            <a:ext cx="8520600" cy="3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WebServer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LoginResponse login(LoginRequest loginRequest);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ProfileLoadResponse loadProfile(UserIdentifier user);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ProfileChangeResponse changeProfile(UserIdentifier user, ProfileChangeRequest request);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LogoutResponse logout(UserIdentifier user);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 </a:t>
            </a:r>
            <a:endParaRPr/>
          </a:p>
        </p:txBody>
      </p:sp>
      <p:sp>
        <p:nvSpPr>
          <p:cNvPr id="435" name="Google Shape;435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 from earlier: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prototype(DataStore dataStore)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store some data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retrieve the data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DataStore.java: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DataStore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nothing here yet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6" name="Google Shape;436;p71"/>
          <p:cNvSpPr txBox="1"/>
          <p:nvPr/>
        </p:nvSpPr>
        <p:spPr>
          <a:xfrm>
            <a:off x="399000" y="3889775"/>
            <a:ext cx="72669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Now, fill out each commented line, generating interfaces/methods in DataStore as necessary to make everything compile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Prototyped Data Storage Layer</a:t>
            </a:r>
            <a:endParaRPr/>
          </a:p>
        </p:txBody>
      </p:sp>
      <p:sp>
        <p:nvSpPr>
          <p:cNvPr id="442" name="Google Shape;442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prototype(DataStore dataStore)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store some data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DataStorageResponse storeResponse = dataStore.storeData(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DataStorageRequest());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retrieve the data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DataLoadResponse loadResponse = dataStore.loadData(storeResponse.getDataKey());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Prototyped Data Storage Layer</a:t>
            </a:r>
            <a:endParaRPr/>
          </a:p>
        </p:txBody>
      </p:sp>
      <p:sp>
        <p:nvSpPr>
          <p:cNvPr id="448" name="Google Shape;448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DataStore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DataStorageResponse storeData(DataStorageRequest request);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DataLoadResponse loadData(DataStorageKey key);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Prototyped Data Storage Layer</a:t>
            </a:r>
            <a:endParaRPr/>
          </a:p>
        </p:txBody>
      </p:sp>
      <p:sp>
        <p:nvSpPr>
          <p:cNvPr id="454" name="Google Shape;454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1"/>
              <a:buFont typeface="Arial"/>
              <a:buNone/>
            </a:pPr>
            <a:r>
              <a:rPr lang="en" sz="1883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83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83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DataStorageRequest</a:t>
            </a: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88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1"/>
              <a:buFont typeface="Arial"/>
              <a:buNone/>
            </a:pP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883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TBD</a:t>
            </a:r>
            <a:endParaRPr sz="188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1"/>
              <a:buFont typeface="Arial"/>
              <a:buNone/>
            </a:pP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8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1"/>
              <a:buFont typeface="Arial"/>
              <a:buNone/>
            </a:pPr>
            <a:r>
              <a:t/>
            </a:r>
            <a:endParaRPr sz="188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1"/>
              <a:buFont typeface="Arial"/>
              <a:buNone/>
            </a:pPr>
            <a:r>
              <a:rPr lang="en" sz="1883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83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83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DataStorageResponse</a:t>
            </a: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88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1"/>
              <a:buFont typeface="Arial"/>
              <a:buNone/>
            </a:pP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DataStorageKey getDataKey();</a:t>
            </a:r>
            <a:endParaRPr sz="188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1"/>
              <a:buFont typeface="Arial"/>
              <a:buNone/>
            </a:pP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8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1"/>
              <a:buFont typeface="Arial"/>
              <a:buNone/>
            </a:pPr>
            <a:r>
              <a:t/>
            </a:r>
            <a:endParaRPr sz="188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1"/>
              <a:buFont typeface="Arial"/>
              <a:buNone/>
            </a:pPr>
            <a:r>
              <a:rPr lang="en" sz="1883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83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83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DataStorageKey</a:t>
            </a: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88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1"/>
              <a:buFont typeface="Arial"/>
              <a:buNone/>
            </a:pP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883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TBD</a:t>
            </a:r>
            <a:endParaRPr sz="188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1"/>
              <a:buFont typeface="Arial"/>
              <a:buNone/>
            </a:pP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8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1"/>
              <a:buFont typeface="Arial"/>
              <a:buNone/>
            </a:pPr>
            <a:r>
              <a:t/>
            </a:r>
            <a:endParaRPr sz="188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1"/>
              <a:buFont typeface="Arial"/>
              <a:buNone/>
            </a:pPr>
            <a:r>
              <a:rPr lang="en" sz="1883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83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83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DataLoadResponse</a:t>
            </a: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88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1"/>
              <a:buFont typeface="Arial"/>
              <a:buNone/>
            </a:pP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883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TBD</a:t>
            </a:r>
            <a:endParaRPr sz="188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1"/>
              <a:buFont typeface="Arial"/>
              <a:buNone/>
            </a:pPr>
            <a:r>
              <a:rPr lang="en" sz="188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the actual API: Filling in the Rest</a:t>
            </a:r>
            <a:endParaRPr/>
          </a:p>
        </p:txBody>
      </p:sp>
      <p:sp>
        <p:nvSpPr>
          <p:cNvPr id="460" name="Google Shape;460;p75"/>
          <p:cNvSpPr txBox="1"/>
          <p:nvPr>
            <p:ph idx="1" type="body"/>
          </p:nvPr>
        </p:nvSpPr>
        <p:spPr>
          <a:xfrm>
            <a:off x="311700" y="1152475"/>
            <a:ext cx="8520600" cy="3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LoginResponse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success(); </a:t>
            </a: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Oh no! Booleans are bad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UserIdentifier getUserIdentifier();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UserIdentifier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marker interface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Design Best Practice: Booleans are Bad (Usually)</a:t>
            </a:r>
            <a:endParaRPr/>
          </a:p>
        </p:txBody>
      </p:sp>
      <p:sp>
        <p:nvSpPr>
          <p:cNvPr id="466" name="Google Shape;466;p76"/>
          <p:cNvSpPr txBox="1"/>
          <p:nvPr>
            <p:ph idx="1" type="body"/>
          </p:nvPr>
        </p:nvSpPr>
        <p:spPr>
          <a:xfrm>
            <a:off x="311700" y="1152475"/>
            <a:ext cx="8520600" cy="3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1: Very inflexible (only ever has two values)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happens if we want to add details about why the login failed?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2: Not self-documenting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ex: server.loadProfile(true, false, true, true, false, "");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fix</a:t>
            </a:r>
            <a:r>
              <a:rPr lang="en"/>
              <a:t>: Enums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Enums (Enumerations)</a:t>
            </a:r>
            <a:endParaRPr/>
          </a:p>
        </p:txBody>
      </p:sp>
      <p:sp>
        <p:nvSpPr>
          <p:cNvPr id="472" name="Google Shape;472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to listing out a bunch of constants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==, not .equals()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Should only be used for known-at-compile-time, immutable state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Updated API</a:t>
            </a:r>
            <a:endParaRPr/>
          </a:p>
        </p:txBody>
      </p:sp>
      <p:sp>
        <p:nvSpPr>
          <p:cNvPr id="478" name="Google Shape;478;p78"/>
          <p:cNvSpPr txBox="1"/>
          <p:nvPr>
            <p:ph idx="1" type="body"/>
          </p:nvPr>
        </p:nvSpPr>
        <p:spPr>
          <a:xfrm>
            <a:off x="311700" y="1152475"/>
            <a:ext cx="8520600" cy="3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LoginResponse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LoginResponseCode getResponseCode();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UserIdentifier getUserIdentifier();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LoginResponseCode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SUCCESS,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FAILURE;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Updated Prototype </a:t>
            </a:r>
            <a:endParaRPr/>
          </a:p>
        </p:txBody>
      </p:sp>
      <p:sp>
        <p:nvSpPr>
          <p:cNvPr id="484" name="Google Shape;484;p79"/>
          <p:cNvSpPr txBox="1"/>
          <p:nvPr>
            <p:ph idx="1" type="body"/>
          </p:nvPr>
        </p:nvSpPr>
        <p:spPr>
          <a:xfrm>
            <a:off x="311700" y="1017725"/>
            <a:ext cx="8520600" cy="40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testWebServer(WebServer server)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LoginResponse loginResponse = server.login(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LoginRequest());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load their profile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(loginResponse.getResponseCode() == LoginResponseCode.SUCCESS)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etc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for flexibility, but we've sacrificed some usability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Encapsulated Booleans</a:t>
            </a:r>
            <a:endParaRPr/>
          </a:p>
        </p:txBody>
      </p:sp>
      <p:sp>
        <p:nvSpPr>
          <p:cNvPr id="490" name="Google Shape;490;p80"/>
          <p:cNvSpPr txBox="1"/>
          <p:nvPr>
            <p:ph idx="1" type="body"/>
          </p:nvPr>
        </p:nvSpPr>
        <p:spPr>
          <a:xfrm>
            <a:off x="311700" y="1017725"/>
            <a:ext cx="8520600" cy="38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LoginResponseCode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SUCCESS(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FAILURE(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success;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LoginResponseCode(</a:t>
            </a: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success) {   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.success = success;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success()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success;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1" name="Google Shape;491;p80"/>
          <p:cNvSpPr txBox="1"/>
          <p:nvPr/>
        </p:nvSpPr>
        <p:spPr>
          <a:xfrm>
            <a:off x="4746425" y="3221150"/>
            <a:ext cx="3954600" cy="15771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Adding a layer of </a:t>
            </a:r>
            <a:r>
              <a:rPr b="1" lang="en" sz="1800">
                <a:solidFill>
                  <a:schemeClr val="dk2"/>
                </a:solidFill>
              </a:rPr>
              <a:t>indirection </a:t>
            </a:r>
            <a:r>
              <a:rPr lang="en" sz="1800">
                <a:solidFill>
                  <a:schemeClr val="dk2"/>
                </a:solidFill>
              </a:rPr>
              <a:t>gives us flexibility plus usability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Updated Prototype </a:t>
            </a:r>
            <a:endParaRPr/>
          </a:p>
        </p:txBody>
      </p:sp>
      <p:sp>
        <p:nvSpPr>
          <p:cNvPr id="497" name="Google Shape;497;p81"/>
          <p:cNvSpPr txBox="1"/>
          <p:nvPr>
            <p:ph idx="1" type="body"/>
          </p:nvPr>
        </p:nvSpPr>
        <p:spPr>
          <a:xfrm>
            <a:off x="311700" y="1017725"/>
            <a:ext cx="8520600" cy="40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testWebServer(WebServer server)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LoginResponse loginResponse = server.login(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LoginRequest());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load their profile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(loginResponse.getResponseCode().success())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etc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looks better! The 'easy thing' (see if a login happened) is still easy, but now more complicated things (details of the login success/failure) are possible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Encapsulated Booleans</a:t>
            </a:r>
            <a:endParaRPr/>
          </a:p>
        </p:txBody>
      </p:sp>
      <p:sp>
        <p:nvSpPr>
          <p:cNvPr id="503" name="Google Shape;503;p82"/>
          <p:cNvSpPr txBox="1"/>
          <p:nvPr>
            <p:ph idx="1" type="body"/>
          </p:nvPr>
        </p:nvSpPr>
        <p:spPr>
          <a:xfrm>
            <a:off x="311700" y="1017725"/>
            <a:ext cx="8520600" cy="38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LoginResponseCode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SUCCESS(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FAILURE(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UNKNOWN_USERNAME(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success;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LoginResponseCode(</a:t>
            </a: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success) {   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.success = success;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success()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success;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4" name="Google Shape;504;p82"/>
          <p:cNvSpPr txBox="1"/>
          <p:nvPr/>
        </p:nvSpPr>
        <p:spPr>
          <a:xfrm>
            <a:off x="4746425" y="3221150"/>
            <a:ext cx="3954600" cy="15771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 can add more detailed failure modes in a </a:t>
            </a:r>
            <a:r>
              <a:rPr b="1" lang="en" sz="1800">
                <a:solidFill>
                  <a:schemeClr val="dk2"/>
                </a:solidFill>
              </a:rPr>
              <a:t>backwards-compatible </a:t>
            </a:r>
            <a:r>
              <a:rPr lang="en" sz="1800">
                <a:solidFill>
                  <a:schemeClr val="dk2"/>
                </a:solidFill>
              </a:rPr>
              <a:t>way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Values</a:t>
            </a:r>
            <a:endParaRPr/>
          </a:p>
        </p:txBody>
      </p:sp>
      <p:sp>
        <p:nvSpPr>
          <p:cNvPr id="510" name="Google Shape;510;p83"/>
          <p:cNvSpPr txBox="1"/>
          <p:nvPr>
            <p:ph idx="1" type="body"/>
          </p:nvPr>
        </p:nvSpPr>
        <p:spPr>
          <a:xfrm>
            <a:off x="311700" y="1152475"/>
            <a:ext cx="8520600" cy="3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"Make the common case easy"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Wherever possible, provide default values in the API (usually </a:t>
            </a:r>
            <a:r>
              <a:rPr b="1" lang="en"/>
              <a:t>configuration </a:t>
            </a:r>
            <a:r>
              <a:rPr lang="en"/>
              <a:t>settings)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Built-in example use case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Low cost to start using the API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Note that changing a default is a </a:t>
            </a:r>
            <a:r>
              <a:rPr b="1" lang="en"/>
              <a:t>semantic</a:t>
            </a:r>
            <a:r>
              <a:rPr lang="en"/>
              <a:t> break; use commonly-useful defaults rather than sentinel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the number of threads to use for an execution. Depending on the program, you might use: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1 ⇒ Multi-threading is an advanced option not generally needed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4 ⇒ Given how the code is written, more threads will tend to get stuck waiting on locks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Runtime.getRuntime().availableProcessors() ⇒ Allows the program to self-tune by default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-1 ⇒ This would be a bad default value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Values</a:t>
            </a:r>
            <a:endParaRPr/>
          </a:p>
        </p:txBody>
      </p:sp>
      <p:sp>
        <p:nvSpPr>
          <p:cNvPr id="516" name="Google Shape;516;p84"/>
          <p:cNvSpPr txBox="1"/>
          <p:nvPr>
            <p:ph idx="1" type="body"/>
          </p:nvPr>
        </p:nvSpPr>
        <p:spPr>
          <a:xfrm>
            <a:off x="311700" y="1152475"/>
            <a:ext cx="8520600" cy="3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implement this?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</a:t>
            </a:r>
            <a:r>
              <a:rPr b="1" lang="en"/>
              <a:t>cross-network/cross-process </a:t>
            </a:r>
            <a:r>
              <a:rPr lang="en"/>
              <a:t>APIs, typically done during deserialization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</a:t>
            </a:r>
            <a:r>
              <a:rPr b="1" lang="en"/>
              <a:t>in-process</a:t>
            </a:r>
            <a:r>
              <a:rPr lang="en"/>
              <a:t> APIs, typically done by overloading a method: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calculateValue(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input)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calculateValue(input, DEFAULT_NUM_THREADS);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calculateValue(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input, </a:t>
            </a:r>
            <a:r>
              <a:rPr lang="en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nThreads);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Review!</a:t>
            </a:r>
            <a:endParaRPr/>
          </a:p>
        </p:txBody>
      </p:sp>
      <p:sp>
        <p:nvSpPr>
          <p:cNvPr id="522" name="Google Shape;522;p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you should know about API Design that might be on an exam: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Design principles for an API</a:t>
            </a:r>
            <a:r>
              <a:rPr lang="en"/>
              <a:t>: What the design process is, what concerns to keep in mind, common pitfalls/best practices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Prototyping an API</a:t>
            </a:r>
            <a:r>
              <a:rPr lang="en"/>
              <a:t>: What this looks like, why it's useful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Types of backwards compatibility</a:t>
            </a:r>
            <a:r>
              <a:rPr lang="en"/>
              <a:t>: What they are, when to use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Systems Diagrams</a:t>
            </a:r>
            <a:r>
              <a:rPr lang="en"/>
              <a:t>: What they are, how to draw them, why to use them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Checkpoint 2: APIs for the Project</a:t>
            </a:r>
            <a:endParaRPr/>
          </a:p>
        </p:txBody>
      </p:sp>
      <p:sp>
        <p:nvSpPr>
          <p:cNvPr id="528" name="Google Shape;528;p8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Github Issues</a:t>
            </a:r>
            <a:r>
              <a:rPr lang="en"/>
              <a:t>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Useful for tracking bugs, feature requests, and (for this assignment) </a:t>
            </a:r>
            <a:r>
              <a:rPr b="1" lang="en"/>
              <a:t>tasks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Associate with a </a:t>
            </a:r>
            <a:r>
              <a:rPr b="1" lang="en"/>
              <a:t>pull request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Optional, can be good practice with a bug queue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Lightweight, not integrated with github: Asana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