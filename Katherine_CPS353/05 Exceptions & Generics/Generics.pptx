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9d270ba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9d270ba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9d270ba3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9d270ba3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9d270ba3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9d270ba3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94e18c4e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94e18c4e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94e18c4e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94e18c4e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94e18c4e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94e18c4e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94e18c4e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94e18c4e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94e18c4e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94e18c4e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94e18c4e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94e18c4e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94e18c4e9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94e18c4e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94e18c4e9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94e18c4e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94e18c4e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94e18c4e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94e18c4e9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94e18c4e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94e18c4e9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94e18c4e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d7935076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d7935076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94e18c4e9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94e18c4e9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Generics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 allows generic classes to use something called a </a:t>
            </a:r>
            <a:r>
              <a:rPr b="1" lang="en"/>
              <a:t>generic type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Added in 1.5, it allows code to be flexible and also type safe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Old version of a list: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50">
                <a:solidFill>
                  <a:srgbClr val="AA22FF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8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850">
                <a:solidFill>
                  <a:srgbClr val="AA22FF"/>
                </a:solidFill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en" sz="18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5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OldStyleList</a:t>
            </a:r>
            <a:r>
              <a:rPr lang="en" sz="18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5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50">
                <a:solidFill>
                  <a:srgbClr val="AA22FF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8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850">
                <a:solidFill>
                  <a:srgbClr val="00BB00"/>
                </a:solidFill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en" sz="18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50">
                <a:solidFill>
                  <a:srgbClr val="00A000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en" sz="185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8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Object obj</a:t>
            </a:r>
            <a:r>
              <a:rPr lang="en" sz="185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8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50">
                <a:solidFill>
                  <a:srgbClr val="AA22FF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8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Object </a:t>
            </a:r>
            <a:r>
              <a:rPr lang="en" sz="1850">
                <a:solidFill>
                  <a:srgbClr val="00A000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n" sz="185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850">
                <a:solidFill>
                  <a:srgbClr val="00BB00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index</a:t>
            </a:r>
            <a:r>
              <a:rPr lang="en" sz="185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8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5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version of a list: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AA22FF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00">
                <a:solidFill>
                  <a:srgbClr val="AA22FF"/>
                </a:solidFill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en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7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" sz="17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" sz="17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7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700">
                <a:solidFill>
                  <a:srgbClr val="AA22FF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00">
                <a:solidFill>
                  <a:srgbClr val="00BB00"/>
                </a:solidFill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en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700">
                <a:solidFill>
                  <a:srgbClr val="00A000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en" sz="17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 obj</a:t>
            </a:r>
            <a:r>
              <a:rPr lang="en" sz="17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700">
                <a:solidFill>
                  <a:srgbClr val="AA22FF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 </a:t>
            </a:r>
            <a:r>
              <a:rPr lang="en" sz="1700">
                <a:solidFill>
                  <a:srgbClr val="00A000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n" sz="17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700">
                <a:solidFill>
                  <a:srgbClr val="00BB00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index</a:t>
            </a:r>
            <a:r>
              <a:rPr lang="en" sz="17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Generics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Generics allows List&lt;String&gt;, List&lt;Double&gt;, List&lt;AddingMachine&gt; all from one List.java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&lt;T&gt;</a:t>
            </a:r>
            <a:r>
              <a:rPr lang="en"/>
              <a:t> in the class/interface/method declaration says that the type will be defined (at compile time) by the code that uses a class or method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Callers must specify &lt;String&gt;, &lt;ComputeResult&gt;, etc when they create a variable of that type.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Advanced usage: you can use ? to allow any type or one of several types; ex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List&lt;?&gt; whoCaresWhatsInTheList;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Generics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017725"/>
            <a:ext cx="8832000" cy="4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Generics have some rough edges because they were added in a backwards-compatible way; in particular, the &lt;&gt; type information </a:t>
            </a:r>
            <a:r>
              <a:rPr b="1" lang="en" sz="1300"/>
              <a:t>only</a:t>
            </a:r>
            <a:r>
              <a:rPr lang="en" sz="1300"/>
              <a:t> exists at compile time, not at runtime, and it is optional even there.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If you write </a:t>
            </a:r>
            <a:endParaRPr sz="1300"/>
          </a:p>
          <a:p>
            <a:pPr indent="0" lvl="0" marL="25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List&lt;String&gt;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strings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ArrayList&lt;String&gt;();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strings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.add(</a:t>
            </a:r>
            <a:r>
              <a:rPr lang="en" sz="1200">
                <a:solidFill>
                  <a:srgbClr val="2A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"This isn't an integer"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	List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noTypeSafetyList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strings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	List&lt;Integer&gt;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hahaAllTheBugs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noTypeSafetyList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hahaAllTheBugs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.get(0);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it will compile. If you try to run it, it will </a:t>
            </a:r>
            <a:r>
              <a:rPr b="1" lang="en" sz="1300"/>
              <a:t>crash </a:t>
            </a:r>
            <a:r>
              <a:rPr lang="en" sz="1300"/>
              <a:t>on the last line with a ClassCastException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Less obvious examples will break in a </a:t>
            </a:r>
            <a:r>
              <a:rPr b="1" lang="en" sz="1300"/>
              <a:t>hard to track down</a:t>
            </a:r>
            <a:r>
              <a:rPr lang="en" sz="1300"/>
              <a:t> way when you run the code by throwing ClassCastExceptions that look like they should be prevented by the Java language spec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300"/>
              <a:t>⇒ Avoid </a:t>
            </a:r>
            <a:r>
              <a:rPr lang="en" sz="1300"/>
              <a:t>these bugs by always specifying a type for any class or interface that is generic. If you see a warning about </a:t>
            </a:r>
            <a:r>
              <a:rPr b="1" lang="en" sz="1300"/>
              <a:t>raw types</a:t>
            </a:r>
            <a:r>
              <a:rPr lang="en" sz="1300"/>
              <a:t>, you need to add a &lt;&gt; type definition to your variable. &lt;?&gt; counts!</a:t>
            </a:r>
            <a:endParaRPr sz="1300"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8492" y="227392"/>
            <a:ext cx="790300" cy="79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Generics (Beyond the Basics)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Very expressive framework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Fills in the missing gap with "ability" interfaces (Closeable, Identifiable, etc).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Ex: A method that takes in a List of Identifiables, and returns a Map from id to object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Identifiable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long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getId();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Map&lt;Long, Identifiable&gt; getIdMap(List&lt;Identifiable&gt; data);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Generics Example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450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1: Using the method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naive approach doesn't compile!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While DataClass is a subtype of Identifiable,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List&lt;DataClass&gt; is </a:t>
            </a:r>
            <a:r>
              <a:rPr b="1" lang="en"/>
              <a:t>not a subtype</a:t>
            </a:r>
            <a:r>
              <a:rPr lang="en"/>
              <a:t> of List&lt;Identifiable&gt; (for good reason - what could break if it were?)</a:t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38" y="4176124"/>
            <a:ext cx="49625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7838" y="142863"/>
            <a:ext cx="4257675" cy="24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Generics Example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Solution: Use the </a:t>
            </a:r>
            <a:r>
              <a:rPr b="1" lang="en"/>
              <a:t>extends </a:t>
            </a:r>
            <a:r>
              <a:rPr lang="en"/>
              <a:t>keyword to define type characteristics</a:t>
            </a:r>
            <a:endParaRPr/>
          </a:p>
          <a:p>
            <a:pPr indent="0" lvl="0" marL="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Map&lt;Long, Identifiable&gt; getIdMap(List&lt;? </a:t>
            </a:r>
            <a:r>
              <a:rPr lang="en" sz="15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extends </a:t>
            </a: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Identifiable&gt; data);</a:t>
            </a:r>
            <a:endParaRPr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Generics Example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4370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2: Using the return value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Now it compiles, but getting data from the map requires a </a:t>
            </a:r>
            <a:r>
              <a:rPr b="1" lang="en"/>
              <a:t>cast</a:t>
            </a:r>
            <a:endParaRPr b="1"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7838" y="142863"/>
            <a:ext cx="4257675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750" y="3210500"/>
            <a:ext cx="474345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Generics Example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Solution: Define a type variable to force type safety between parameters and output</a:t>
            </a:r>
            <a:endParaRPr/>
          </a:p>
          <a:p>
            <a:pPr indent="0" lvl="0" marL="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&lt;T </a:t>
            </a:r>
            <a:r>
              <a:rPr lang="en" sz="15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extends </a:t>
            </a: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Identifiable&gt; Map&lt;Long, T&gt; getIdMap(List&lt;T&gt; data);</a:t>
            </a:r>
            <a:endParaRPr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Generics Example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4370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Now the client code looks good!</a:t>
            </a:r>
            <a:endParaRPr b="1"/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7838" y="142863"/>
            <a:ext cx="4257675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75" y="2942588"/>
            <a:ext cx="4591050" cy="101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Easily-Pluggable Libraries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Team/Company #1 creates Library A with some useful interfaces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Team/Company #2 builds on top of Library A with Library 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Team/Company #3 also builds on top of Library A with Library 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Team/Company #4 is using Library B - how can Team #3 make Library C useful in this situation?</a:t>
            </a:r>
            <a:endParaRPr/>
          </a:p>
        </p:txBody>
      </p:sp>
      <p:sp>
        <p:nvSpPr>
          <p:cNvPr id="117" name="Google Shape;117;p22"/>
          <p:cNvSpPr txBox="1"/>
          <p:nvPr/>
        </p:nvSpPr>
        <p:spPr>
          <a:xfrm>
            <a:off x="3669275" y="4526725"/>
            <a:ext cx="434700" cy="4167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8" name="Google Shape;118;p22"/>
          <p:cNvSpPr txBox="1"/>
          <p:nvPr/>
        </p:nvSpPr>
        <p:spPr>
          <a:xfrm>
            <a:off x="4736075" y="3917125"/>
            <a:ext cx="434700" cy="4167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2678675" y="3917125"/>
            <a:ext cx="434700" cy="4167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0" name="Google Shape;120;p22"/>
          <p:cNvSpPr txBox="1"/>
          <p:nvPr/>
        </p:nvSpPr>
        <p:spPr>
          <a:xfrm>
            <a:off x="3451950" y="3307525"/>
            <a:ext cx="1119900" cy="4167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Team 4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21" name="Google Shape;121;p22"/>
          <p:cNvCxnSpPr>
            <a:stCxn id="120" idx="2"/>
            <a:endCxn id="119" idx="3"/>
          </p:cNvCxnSpPr>
          <p:nvPr/>
        </p:nvCxnSpPr>
        <p:spPr>
          <a:xfrm flipH="1">
            <a:off x="3113400" y="3724225"/>
            <a:ext cx="898500" cy="40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22"/>
          <p:cNvCxnSpPr>
            <a:stCxn id="120" idx="2"/>
            <a:endCxn id="118" idx="1"/>
          </p:cNvCxnSpPr>
          <p:nvPr/>
        </p:nvCxnSpPr>
        <p:spPr>
          <a:xfrm>
            <a:off x="4011900" y="3724225"/>
            <a:ext cx="724200" cy="4014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" name="Google Shape;123;p22"/>
          <p:cNvCxnSpPr>
            <a:stCxn id="119" idx="2"/>
            <a:endCxn id="117" idx="1"/>
          </p:cNvCxnSpPr>
          <p:nvPr/>
        </p:nvCxnSpPr>
        <p:spPr>
          <a:xfrm>
            <a:off x="2896025" y="4333825"/>
            <a:ext cx="773400" cy="40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" name="Google Shape;124;p22"/>
          <p:cNvCxnSpPr>
            <a:stCxn id="118" idx="2"/>
            <a:endCxn id="117" idx="3"/>
          </p:cNvCxnSpPr>
          <p:nvPr/>
        </p:nvCxnSpPr>
        <p:spPr>
          <a:xfrm flipH="1">
            <a:off x="4104125" y="4333825"/>
            <a:ext cx="849300" cy="40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Generics and Multi-Interface</a:t>
            </a:r>
            <a:endParaRPr/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Ex: Fully reading data from some closeable, identifiable stream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Team 3: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&lt;T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extends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Identifiable &amp; Closeable &amp; Iterable&lt;String&gt;&gt; 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List&lt;String&gt; readFully(T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inputStream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System.</a:t>
            </a:r>
            <a:r>
              <a:rPr b="1" i="1" lang="en" sz="1600">
                <a:solidFill>
                  <a:srgbClr val="0000C0"/>
                </a:solidFill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.println(</a:t>
            </a:r>
            <a:r>
              <a:rPr lang="en" sz="1600">
                <a:solidFill>
                  <a:srgbClr val="2A00FF"/>
                </a:solidFill>
                <a:latin typeface="Consolas"/>
                <a:ea typeface="Consolas"/>
                <a:cs typeface="Consolas"/>
                <a:sym typeface="Consolas"/>
              </a:rPr>
              <a:t>"Reading stream: "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inputStream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.getId());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List&lt;String&gt;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result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ArrayList&lt;&gt;();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try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inputStream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(String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: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inputStream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result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.add(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}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catch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(IOException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System.</a:t>
            </a:r>
            <a:r>
              <a:rPr b="1" i="1" lang="en" sz="1600">
                <a:solidFill>
                  <a:srgbClr val="0000C0"/>
                </a:solidFill>
                <a:latin typeface="Consolas"/>
                <a:ea typeface="Consolas"/>
                <a:cs typeface="Consolas"/>
                <a:sym typeface="Consolas"/>
              </a:rPr>
              <a:t>err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.println(</a:t>
            </a:r>
            <a:r>
              <a:rPr lang="en" sz="1600">
                <a:solidFill>
                  <a:srgbClr val="2A00FF"/>
                </a:solidFill>
                <a:latin typeface="Consolas"/>
                <a:ea typeface="Consolas"/>
                <a:cs typeface="Consolas"/>
                <a:sym typeface="Consolas"/>
              </a:rPr>
              <a:t>"Error reading stream: "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inputStream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.getId());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result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Generics and Multi-Interface</a:t>
            </a:r>
            <a:endParaRPr/>
          </a:p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311700" y="1017725"/>
            <a:ext cx="8520600" cy="38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Team 2: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CustomInputStream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implements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Identifiable, Closeable, Iterable&lt;String&gt;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final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List&lt;Integer&gt; </a:t>
            </a:r>
            <a:r>
              <a:rPr lang="en" sz="1600">
                <a:solidFill>
                  <a:srgbClr val="0000C0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CustomInputStream(List&lt;Integer&gt;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numbers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0000C0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numbers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600">
                <a:solidFill>
                  <a:srgbClr val="646464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long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getId()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0000C0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.hashCode();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600">
                <a:solidFill>
                  <a:srgbClr val="646464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Iterator&lt;String&gt; iterator()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0000C0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.stream().map(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-&gt; </a:t>
            </a:r>
            <a:r>
              <a:rPr lang="en" sz="1600">
                <a:solidFill>
                  <a:srgbClr val="2A00FF"/>
                </a:solidFill>
                <a:latin typeface="Consolas"/>
                <a:ea typeface="Consolas"/>
                <a:cs typeface="Consolas"/>
                <a:sym typeface="Consolas"/>
              </a:rPr>
              <a:t>""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).iterator();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600">
                <a:solidFill>
                  <a:srgbClr val="646464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close()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throws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IOException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" sz="1600">
                <a:solidFill>
                  <a:srgbClr val="3F7F5F"/>
                </a:solidFill>
                <a:latin typeface="Consolas"/>
                <a:ea typeface="Consolas"/>
                <a:cs typeface="Consolas"/>
                <a:sym typeface="Consolas"/>
              </a:rPr>
              <a:t>// nothing to do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Generics and Multi-Interface</a:t>
            </a:r>
            <a:endParaRPr/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600">
                <a:solidFill>
                  <a:schemeClr val="dk1"/>
                </a:solidFill>
              </a:rPr>
              <a:t>  Team 4: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processSomeData(CustomInputStream 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stream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System.</a:t>
            </a:r>
            <a:r>
              <a:rPr b="1" i="1" lang="en" sz="1600">
                <a:solidFill>
                  <a:srgbClr val="0000C0"/>
                </a:solidFill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.println(</a:t>
            </a:r>
            <a:r>
              <a:rPr i="1"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readFully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stream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Turn!</a:t>
            </a:r>
            <a:endParaRPr/>
          </a:p>
        </p:txBody>
      </p:sp>
      <p:sp>
        <p:nvSpPr>
          <p:cNvPr id="148" name="Google Shape;14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Write a method that computes the length of an Iterable - make it as generic as possible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Add the following interface to your project: </a:t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Sizeable {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	</a:t>
            </a:r>
            <a:r>
              <a:rPr b="1" lang="en" sz="16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getSize();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39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r>
              <a:rPr lang="en"/>
              <a:t>3.  </a:t>
            </a:r>
            <a:r>
              <a:rPr lang="en"/>
              <a:t>Modify the method to require that the Iterable contain items that are Sizeable, and now compute the total size of everything in the Iterable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4. Verify that your method is easy to use: create a class that implements Sizeable, and check that you can pass a List of that type to your method from (3) (</a:t>
            </a:r>
            <a:r>
              <a:rPr b="1" lang="en"/>
              <a:t>Note:</a:t>
            </a:r>
            <a:r>
              <a:rPr lang="en"/>
              <a:t> List&lt;T&gt; implements Iterable&lt;T&gt;)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sp>
        <p:nvSpPr>
          <p:cNvPr id="154" name="Google Shape;154;p27"/>
          <p:cNvSpPr txBox="1"/>
          <p:nvPr>
            <p:ph idx="1" type="body"/>
          </p:nvPr>
        </p:nvSpPr>
        <p:spPr>
          <a:xfrm>
            <a:off x="311700" y="963500"/>
            <a:ext cx="8520600" cy="41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b="1" lang="en" sz="16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GenericIteratorCounter {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6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countSize(Iterable&lt;? </a:t>
            </a:r>
            <a:r>
              <a:rPr b="1" lang="en" sz="16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extends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Sizeable&gt; </a:t>
            </a:r>
            <a:r>
              <a:rPr lang="en" sz="16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6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totalSize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0;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6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(Sizeable </a:t>
            </a:r>
            <a:r>
              <a:rPr lang="en" sz="16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: </a:t>
            </a:r>
            <a:r>
              <a:rPr lang="en" sz="16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" sz="16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totalSize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+= </a:t>
            </a:r>
            <a:r>
              <a:rPr lang="en" sz="16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.getSize();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}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6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totalSize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6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main(String[] </a:t>
            </a:r>
            <a:r>
              <a:rPr lang="en" sz="16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args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List&lt;SizeableType&gt; </a:t>
            </a:r>
            <a:r>
              <a:rPr lang="en" sz="16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listOfLists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6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ArrayList&lt;&gt;();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6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GenericIteratorCounter().countSize(</a:t>
            </a:r>
            <a:r>
              <a:rPr lang="en" sz="16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listOfLists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6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SizeableType </a:t>
            </a:r>
            <a:r>
              <a:rPr b="1" lang="en" sz="16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implements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Sizeable {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List&lt;String&gt; </a:t>
            </a:r>
            <a:r>
              <a:rPr lang="en" sz="16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6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ArrayList&lt;&gt;();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600">
                <a:solidFill>
                  <a:srgbClr val="64646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600">
              <a:solidFill>
                <a:srgbClr val="646464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6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getSize() {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b="1" lang="en" sz="16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.size();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}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Review</a:t>
            </a:r>
            <a:endParaRPr/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Exceptions</a:t>
            </a:r>
            <a:r>
              <a:rPr lang="en"/>
              <a:t>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Three different ways to signal errors to a user: Exception, Error Codes/Return Values, Optional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What each is and when to use them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try/catch/finally - syntax and what each block does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try-with-resources - when to use it, why to use 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Generics</a:t>
            </a:r>
            <a:r>
              <a:rPr lang="en"/>
              <a:t>: 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syntax, including ? and ? extends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How the compiler uses this to enforce type safety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When should you add a type parameter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How to use code that has a type parameter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