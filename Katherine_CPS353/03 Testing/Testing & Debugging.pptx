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ad5d98835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ad5d9883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ad5d98835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ad5d98835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c8da813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ec8da813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ec8da813b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ec8da813b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ec8da813b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ec8da813b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ec8da813b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ec8da813b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c8da813b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ec8da813b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c8da813b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c8da813b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1174c2d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1174c2d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1174c2db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91174c2d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1174c2db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1174c2db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1174c2db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1174c2db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1174c2db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1174c2db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1174c2db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1174c2db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1174c2db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1174c2db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174c2db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1174c2db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174c2db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1174c2db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1174c2db3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1174c2db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1174c2db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1174c2db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1174c2db3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91174c2db3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1174c2db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1174c2db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1174c2db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1174c2db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1174c2db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91174c2db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1174c2db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1174c2db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1174c2db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91174c2db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1174c2db3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1174c2db3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91174c2db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91174c2db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91174c2db3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91174c2db3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174c2db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1174c2db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1174c2db3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1174c2db3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91174c2db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91174c2db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91174c2db3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91174c2db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1174c2db3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91174c2db3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1174c2db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91174c2db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91174c2db3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91174c2db3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91174c2db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91174c2db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1174c2db3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91174c2db3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91174c2db3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91174c2db3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1174c2db3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91174c2db3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91174c2db3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91174c2db3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91174c2db3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91174c2db3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91174c2db3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91174c2db3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1174c2db3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91174c2db3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91174c2db3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91174c2db3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91174c2db3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91174c2db3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1174c2db3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91174c2db3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91174c2db3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91174c2db3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1174c2db3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91174c2db3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91174c2db3_0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91174c2db3_0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91174c2db3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91174c2db3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91174c2db3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91174c2db3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91174c2db3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91174c2db3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1174c2db3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91174c2db3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Relationship Id="rId4" Type="http://schemas.openxmlformats.org/officeDocument/2006/relationships/image" Target="../media/image2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www.eclemma.org/jacoco/" TargetMode="External"/><Relationship Id="rId4" Type="http://schemas.openxmlformats.org/officeDocument/2006/relationships/hyperlink" Target="https://emma.sourceforge.net/" TargetMode="External"/><Relationship Id="rId5" Type="http://schemas.openxmlformats.org/officeDocument/2006/relationships/hyperlink" Target="https://plugins.jetbrains.com/plugin/103-emma-code-coverage" TargetMode="External"/><Relationship Id="rId6" Type="http://schemas.openxmlformats.org/officeDocument/2006/relationships/hyperlink" Target="https://www.eclemma.org/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59075"/>
            <a:ext cx="8520600" cy="149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Engineering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17500" y="18319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0920" y="1753075"/>
            <a:ext cx="2069880" cy="330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Software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9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it's not tested, it doesn't work: Bugs can happen anywhere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types of testing, highest level division is: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Manual</a:t>
            </a:r>
            <a:r>
              <a:rPr lang="en"/>
              <a:t> testing: an actual person fires everything up and starts using it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Usability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Exploratory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Visual testing (can be automated, but expensive)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Automated</a:t>
            </a:r>
            <a:r>
              <a:rPr lang="en"/>
              <a:t> testing: software runs through a suite of programmed tests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Regression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Unit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Failure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Performance testing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Regression Tests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93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common type of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Three main categories: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Unit tests: </a:t>
            </a:r>
            <a:r>
              <a:rPr lang="en"/>
              <a:t>Test a single component (one API); often use </a:t>
            </a:r>
            <a:r>
              <a:rPr b="1" lang="en"/>
              <a:t>mocks </a:t>
            </a:r>
            <a:r>
              <a:rPr lang="en"/>
              <a:t>to replace other components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Ex: prototype tests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Integration tests: </a:t>
            </a:r>
            <a:r>
              <a:rPr lang="en"/>
              <a:t>Test a combination of several components, but not necessarily user-visible endpoints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Ex: Check that a server can work with an actual database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End-to-end</a:t>
            </a:r>
            <a:r>
              <a:rPr lang="en"/>
              <a:t> </a:t>
            </a:r>
            <a:r>
              <a:rPr b="1" lang="en"/>
              <a:t>tests</a:t>
            </a:r>
            <a:r>
              <a:rPr lang="en"/>
              <a:t>: Start with a (simulated) user action, check the user-visible result, running through the whole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	Ex: Run an install script and check that servers can start up after being installed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Tests: JUnit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run a java program: Use a </a:t>
            </a:r>
            <a:r>
              <a:rPr b="1" lang="en"/>
              <a:t>main </a:t>
            </a:r>
            <a:r>
              <a:rPr lang="en"/>
              <a:t>method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run a java test: Use an </a:t>
            </a:r>
            <a:r>
              <a:rPr b="1" lang="en"/>
              <a:t>@Test</a:t>
            </a:r>
            <a:r>
              <a:rPr lang="en"/>
              <a:t> annotation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org.junit.jupiter.api.Assertions.fail;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org.junit.jupiter.api.Test;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ExampleTest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@Test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testAddition()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2;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 = 3;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 + b != 5)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fail();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Tests: JUnit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4644600" cy="3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org.junit.jupiter.api.Assertions.fail;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org.junit.jupiter.api.Test;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ExampleTest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@Test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testAddition()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2;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 = 3;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 + b != 5)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fail();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81" name="Google Shape;81;p17"/>
          <p:cNvSpPr txBox="1"/>
          <p:nvPr/>
        </p:nvSpPr>
        <p:spPr>
          <a:xfrm>
            <a:off x="5325025" y="1242375"/>
            <a:ext cx="2458200" cy="1505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'static' import: Allows importing methods/constants instead of an entire class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82" name="Google Shape;82;p17"/>
          <p:cNvCxnSpPr/>
          <p:nvPr/>
        </p:nvCxnSpPr>
        <p:spPr>
          <a:xfrm rot="10800000">
            <a:off x="4209325" y="1469425"/>
            <a:ext cx="1096800" cy="22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" name="Google Shape;83;p17"/>
          <p:cNvCxnSpPr/>
          <p:nvPr/>
        </p:nvCxnSpPr>
        <p:spPr>
          <a:xfrm flipH="1">
            <a:off x="2025175" y="1667850"/>
            <a:ext cx="3290400" cy="175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Tests: JUnit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4644600" cy="3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org.junit.jupiter.api.Assertions.fail;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org.junit.jupiter.api.Test;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ExampleTest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@Test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testAddition()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2;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 = 3;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 + b != 5)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fail();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0" name="Google Shape;90;p18"/>
          <p:cNvSpPr txBox="1"/>
          <p:nvPr/>
        </p:nvSpPr>
        <p:spPr>
          <a:xfrm>
            <a:off x="5325025" y="1242375"/>
            <a:ext cx="2458200" cy="20937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JUnit 4 vs JUnit 5: to use the more up-to-date/widely supported version, make sure to import org.junit.jupiter, not regular org.junit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91" name="Google Shape;91;p18"/>
          <p:cNvCxnSpPr/>
          <p:nvPr/>
        </p:nvCxnSpPr>
        <p:spPr>
          <a:xfrm rot="10800000">
            <a:off x="2611525" y="1431325"/>
            <a:ext cx="2694600" cy="26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2" name="Google Shape;92;p18"/>
          <p:cNvCxnSpPr/>
          <p:nvPr/>
        </p:nvCxnSpPr>
        <p:spPr>
          <a:xfrm flipH="1">
            <a:off x="1996975" y="1667850"/>
            <a:ext cx="3318600" cy="179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Tests: JUnit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4644600" cy="3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org.junit.jupiter.api.Assertions.fail;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org.junit.jupiter.api.Test;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ExampleTest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@Test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testAddition()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2;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 = 3;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 + b != 5)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fail();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5325025" y="1242375"/>
            <a:ext cx="2458200" cy="18402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JUnit is a heavily </a:t>
            </a:r>
            <a:r>
              <a:rPr b="1" lang="en" sz="1800">
                <a:solidFill>
                  <a:schemeClr val="dk2"/>
                </a:solidFill>
              </a:rPr>
              <a:t>annotation-based</a:t>
            </a:r>
            <a:r>
              <a:rPr lang="en" sz="1800">
                <a:solidFill>
                  <a:schemeClr val="dk2"/>
                </a:solidFill>
              </a:rPr>
              <a:t> framework - </a:t>
            </a:r>
            <a:r>
              <a:rPr b="1" lang="en" sz="1800">
                <a:solidFill>
                  <a:schemeClr val="dk2"/>
                </a:solidFill>
              </a:rPr>
              <a:t>@Test</a:t>
            </a:r>
            <a:r>
              <a:rPr lang="en" sz="1800">
                <a:solidFill>
                  <a:schemeClr val="dk2"/>
                </a:solidFill>
              </a:rPr>
              <a:t> is the most common, but there are others (ex: @BeforeEach)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0" name="Google Shape;100;p19"/>
          <p:cNvCxnSpPr/>
          <p:nvPr/>
        </p:nvCxnSpPr>
        <p:spPr>
          <a:xfrm flipH="1">
            <a:off x="1249975" y="1667850"/>
            <a:ext cx="4065600" cy="77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Tests: JUnit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4644600" cy="3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org.junit.jupiter.api.Assertions.fail;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org.junit.jupiter.api.Test;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ExampleTest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@Test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testAddition()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a = 2;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2B91A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b = 3;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(a + b != 5) {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fail();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10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5325025" y="1242375"/>
            <a:ext cx="2458200" cy="34611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When a test class runs, it will run all methods with @Test as separate tests.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 test </a:t>
            </a:r>
            <a:r>
              <a:rPr b="1" lang="en" sz="1800">
                <a:solidFill>
                  <a:schemeClr val="dk2"/>
                </a:solidFill>
              </a:rPr>
              <a:t>fails </a:t>
            </a:r>
            <a:r>
              <a:rPr lang="en" sz="1800">
                <a:solidFill>
                  <a:schemeClr val="dk2"/>
                </a:solidFill>
              </a:rPr>
              <a:t>if it throws an Exception, Error or other Throwable (fail() throws an AssertionError). Otherwise, it succeeds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108" name="Google Shape;108;p20"/>
          <p:cNvCxnSpPr/>
          <p:nvPr/>
        </p:nvCxnSpPr>
        <p:spPr>
          <a:xfrm flipH="1">
            <a:off x="2412775" y="1667850"/>
            <a:ext cx="2902800" cy="135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152475"/>
            <a:ext cx="8520600" cy="399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You'll want a project for following along for today, so let's get that configured now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Follow the Testing Exercises link on Brightspace, and open with Github Desktop (or preferred git client)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From the command line in the repo folder, run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./gradlew eclipse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Copy the ExampleTest class from the previous slide into a new file in a test folder in your repo (TestingExercises/test/ExampleTest.java)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that ExampleTest compiles and runs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Note: you may need to change the junit-jupiter version in build.gradle, depending on what Eclipse version you have - you can get Eclipse to tell you what it expects (go through the steps of adding JUnit 5 as a library to your build path, but </a:t>
            </a:r>
            <a:r>
              <a:rPr b="1" lang="en"/>
              <a:t>don’t actually add it</a:t>
            </a:r>
            <a:r>
              <a:rPr lang="en"/>
              <a:t>, just grab the version info on the penultimate step)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Which Type of Test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Remember the System Design Diagram from last week.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Suppose you write all the code, fire it up, and the search bar doesn't do anything.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What's broken?</a:t>
            </a:r>
            <a:endParaRPr/>
          </a:p>
        </p:txBody>
      </p:sp>
      <p:pic>
        <p:nvPicPr>
          <p:cNvPr id="121" name="Google Shape;12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00" y="2506338"/>
            <a:ext cx="84867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Tests: Something is Wrong Inside a Box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a </a:t>
            </a:r>
            <a:r>
              <a:rPr b="1" lang="en"/>
              <a:t>unit test</a:t>
            </a:r>
            <a:r>
              <a:rPr lang="en"/>
              <a:t> tests just one component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something is wrong with </a:t>
            </a:r>
            <a:r>
              <a:rPr b="1" lang="en"/>
              <a:t>just</a:t>
            </a:r>
            <a:r>
              <a:rPr lang="en"/>
              <a:t> the search bar, a unit test for the search bar will fail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00" y="2506338"/>
            <a:ext cx="84867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 Tests: Something is Wrong Between Boxes</a:t>
            </a:r>
            <a:endParaRPr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an </a:t>
            </a:r>
            <a:r>
              <a:rPr b="1" lang="en"/>
              <a:t>integration test</a:t>
            </a:r>
            <a:r>
              <a:rPr lang="en"/>
              <a:t> tests multiple components (usually 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something is wrong with sending a parsed query to the indexed data, that will cause an </a:t>
            </a:r>
            <a:r>
              <a:rPr b="1" lang="en"/>
              <a:t>integration test</a:t>
            </a:r>
            <a:r>
              <a:rPr lang="en"/>
              <a:t> to fail</a:t>
            </a:r>
            <a:endParaRPr/>
          </a:p>
        </p:txBody>
      </p:sp>
      <p:pic>
        <p:nvPicPr>
          <p:cNvPr id="135" name="Google Shape;13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00" y="2506338"/>
            <a:ext cx="84867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Tests: Something is Wrong Systematically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Recall: an </a:t>
            </a:r>
            <a:r>
              <a:rPr b="1" lang="en"/>
              <a:t>end-to-end test</a:t>
            </a:r>
            <a:r>
              <a:rPr lang="en"/>
              <a:t> checks an entire workflow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If all integration and unit tests are passing, an end-to-end failure will flag systemic issues (ex: SSL configuration mismatch)</a:t>
            </a:r>
            <a:endParaRPr/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00" y="2506338"/>
            <a:ext cx="84867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Unit Tests: </a:t>
            </a:r>
            <a:r>
              <a:rPr b="1" lang="en"/>
              <a:t>Just</a:t>
            </a:r>
            <a:r>
              <a:rPr lang="en"/>
              <a:t> What's in One Box?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How to test that 'search results display correctly' while </a:t>
            </a:r>
            <a:r>
              <a:rPr b="1" lang="en"/>
              <a:t>only</a:t>
            </a:r>
            <a:r>
              <a:rPr lang="en"/>
              <a:t> using code from the 'Search Bar' component?</a:t>
            </a:r>
            <a:endParaRPr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00" y="2506338"/>
            <a:ext cx="848677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 Objects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order to isolate just one component for testing, use </a:t>
            </a:r>
            <a:r>
              <a:rPr b="1" lang="en"/>
              <a:t>mock objects</a:t>
            </a:r>
            <a:r>
              <a:rPr lang="en"/>
              <a:t> for other components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In-memory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Dummy implementation (hardcoded return values for methods)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side effects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Test-code only (often single-test only)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7125" y="3414450"/>
            <a:ext cx="38100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 Objects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11700" y="1152475"/>
            <a:ext cx="6630000" cy="36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Framework: Mockito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other interesting methods that you can statically import!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Note</a:t>
            </a:r>
            <a:r>
              <a:rPr lang="en"/>
              <a:t>: Most IDEs don't have good support for automatic static import detection; you may need to do this part by hand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4370100" y="211775"/>
            <a:ext cx="4791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org.mockito.Mockito;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org.mockito.Mockito.when;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static org.mockito.Mockito.any;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 Objects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the mock object: Mockito.mock()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Interfaces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Non-final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2808702"/>
            <a:ext cx="6594450" cy="14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/>
          <p:nvPr/>
        </p:nvSpPr>
        <p:spPr>
          <a:xfrm>
            <a:off x="6032300" y="3014925"/>
            <a:ext cx="10797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 Objects</a:t>
            </a:r>
            <a:endParaRPr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Dummy implementation: tell the mock how it should respond to requests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Anything left unspecified will return default values and do nothing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78" name="Google Shape;17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2808702"/>
            <a:ext cx="6594450" cy="14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/>
          <p:nvPr/>
        </p:nvSpPr>
        <p:spPr>
          <a:xfrm>
            <a:off x="6796525" y="3281825"/>
            <a:ext cx="10797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61125" y="2082813"/>
            <a:ext cx="348615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 Objects</a:t>
            </a:r>
            <a:endParaRPr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mock to create a </a:t>
            </a:r>
            <a:r>
              <a:rPr b="1" lang="en"/>
              <a:t>real version </a:t>
            </a:r>
            <a:r>
              <a:rPr lang="en"/>
              <a:t>of the component to test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Everything else except that one component is mocked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87" name="Google Shape;18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2" y="2808702"/>
            <a:ext cx="6594450" cy="146902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1"/>
          <p:cNvSpPr/>
          <p:nvPr/>
        </p:nvSpPr>
        <p:spPr>
          <a:xfrm>
            <a:off x="6796525" y="3662825"/>
            <a:ext cx="1079700" cy="182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4774" y="203975"/>
            <a:ext cx="1457526" cy="162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195" name="Google Shape;19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Look at the exercise1 package in the TestingExercises project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Within that, you'll find a class Widget and an interface Foo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a test for the Widget class that uses a mock Foo object, and verifies that calling addNumbers(2,3) does not throw an Exception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the IDE!</a:t>
            </a:r>
            <a:endParaRPr/>
          </a:p>
        </p:txBody>
      </p:sp>
      <p:sp>
        <p:nvSpPr>
          <p:cNvPr id="201" name="Google Shape;201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Internet Advice Caution</a:t>
            </a:r>
            <a:endParaRPr/>
          </a:p>
        </p:txBody>
      </p:sp>
      <p:sp>
        <p:nvSpPr>
          <p:cNvPr id="207" name="Google Shape;207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Mockito.verify is often recommended (including in Mockito docs) online; don't use this for unit tests/smoke tests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Annoying to configure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Encourages bad testing practices (change-detection tests vs behavior tests)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Good for some highly specific use cases (in particular, it’s good for convincing devs with established code bases to migrate to Mockito)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Advantage of Mockito over other mock frameworks (EasyMock, JMock) is that you can easily avoid calling verify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Look at the "stub method calls" examples instead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JUnit Assertions</a:t>
            </a:r>
            <a:endParaRPr/>
          </a:p>
        </p:txBody>
      </p:sp>
      <p:sp>
        <p:nvSpPr>
          <p:cNvPr id="213" name="Google Shape;213;p35"/>
          <p:cNvSpPr txBox="1"/>
          <p:nvPr>
            <p:ph idx="1" type="body"/>
          </p:nvPr>
        </p:nvSpPr>
        <p:spPr>
          <a:xfrm>
            <a:off x="311700" y="1152475"/>
            <a:ext cx="8520600" cy="37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testAddition() {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4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AddingMachine().add(2,3);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    Assertions.assertEquals(5, </a:t>
            </a:r>
            <a:r>
              <a:rPr lang="en" sz="14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JUnit: test fails ⇔ test throws an Exception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Test logic: test fails ⇔ some condition is not met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Assertions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translates between the two: if the two values to assertEquals aren't equal, throws AssertionFailedError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-"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Many, many methods available (arrayEquals, lessThan, greaterThan, etc)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Version note: in Junit 4, this class was called Assert. You can almost always directly replace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Assert.&lt;method&gt;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with 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Assertions.&lt;method&gt;</a:t>
            </a:r>
            <a:r>
              <a:rPr lang="en" sz="1600">
                <a:solidFill>
                  <a:schemeClr val="dk1"/>
                </a:solidFill>
                <a:highlight>
                  <a:srgbClr val="FFFFFF"/>
                </a:highlight>
              </a:rPr>
              <a:t> to convert to Junit 5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Driven Development (TDD)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Write tests as you go along: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the API (the </a:t>
            </a:r>
            <a:r>
              <a:rPr b="1" lang="en"/>
              <a:t>prototype </a:t>
            </a:r>
            <a:r>
              <a:rPr lang="en"/>
              <a:t>will often be the first test)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some simple unit and integration tests (</a:t>
            </a:r>
            <a:r>
              <a:rPr b="1" lang="en"/>
              <a:t>smoke tests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the </a:t>
            </a:r>
            <a:r>
              <a:rPr b="1" lang="en"/>
              <a:t>code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Write </a:t>
            </a:r>
            <a:r>
              <a:rPr b="1" lang="en"/>
              <a:t>bug-driven</a:t>
            </a:r>
            <a:r>
              <a:rPr lang="en"/>
              <a:t> tests (unit and integration)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Remember</a:t>
            </a:r>
            <a:r>
              <a:rPr lang="en"/>
              <a:t>: a good test always needs to fail at first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Driven Development (TDD)</a:t>
            </a:r>
            <a:endParaRPr/>
          </a:p>
        </p:txBody>
      </p:sp>
      <p:sp>
        <p:nvSpPr>
          <p:cNvPr id="225" name="Google Shape;225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Smoke tests</a:t>
            </a:r>
            <a:r>
              <a:rPr lang="en"/>
              <a:t> (where there's smoke there's fire):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Specific type of </a:t>
            </a:r>
            <a:r>
              <a:rPr b="1" lang="en"/>
              <a:t>unit test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Check that all </a:t>
            </a:r>
            <a:r>
              <a:rPr b="1" lang="en"/>
              <a:t>basic </a:t>
            </a:r>
            <a:r>
              <a:rPr lang="en"/>
              <a:t>operations work for normal input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Does not need to handle </a:t>
            </a:r>
            <a:r>
              <a:rPr b="1" lang="en"/>
              <a:t>edge cases </a:t>
            </a:r>
            <a:r>
              <a:rPr lang="en"/>
              <a:t>or complex 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testAddition()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int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result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AddingMachine().add(2,3);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old-school alternative to Assertions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assert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result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== 5;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26" name="Google Shape;22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6325" y="1017725"/>
            <a:ext cx="1524000" cy="15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 Testing</a:t>
            </a:r>
            <a:endParaRPr/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11700" y="1076500"/>
            <a:ext cx="51384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tests to trigger unusual </a:t>
            </a:r>
            <a:r>
              <a:rPr b="1" lang="en"/>
              <a:t>error </a:t>
            </a:r>
            <a:r>
              <a:rPr lang="en"/>
              <a:t>states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File system failures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Networking failures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More generally, any failure from another component's API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233" name="Google Shape;23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2000" y="1076500"/>
            <a:ext cx="2539024" cy="253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 Testing</a:t>
            </a:r>
            <a:endParaRPr/>
          </a:p>
        </p:txBody>
      </p:sp>
      <p:sp>
        <p:nvSpPr>
          <p:cNvPr id="239" name="Google Shape;239;p39"/>
          <p:cNvSpPr txBox="1"/>
          <p:nvPr>
            <p:ph idx="1" type="body"/>
          </p:nvPr>
        </p:nvSpPr>
        <p:spPr>
          <a:xfrm>
            <a:off x="311700" y="1076500"/>
            <a:ext cx="83046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simple cases, use a </a:t>
            </a:r>
            <a:r>
              <a:rPr b="1" lang="en"/>
              <a:t>mock</a:t>
            </a:r>
            <a:r>
              <a:rPr lang="en"/>
              <a:t> object: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Mockito.thenThrow</a:t>
            </a:r>
            <a:endParaRPr/>
          </a:p>
        </p:txBody>
      </p:sp>
      <p:pic>
        <p:nvPicPr>
          <p:cNvPr id="240" name="Google Shape;24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703475"/>
            <a:ext cx="7187625" cy="10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 Testing</a:t>
            </a:r>
            <a:endParaRPr/>
          </a:p>
        </p:txBody>
      </p:sp>
      <p:sp>
        <p:nvSpPr>
          <p:cNvPr id="246" name="Google Shape;246;p40"/>
          <p:cNvSpPr txBox="1"/>
          <p:nvPr>
            <p:ph idx="1" type="body"/>
          </p:nvPr>
        </p:nvSpPr>
        <p:spPr>
          <a:xfrm>
            <a:off x="311700" y="1076500"/>
            <a:ext cx="5101800" cy="40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what if you need something more fully featured than a mock?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Add </a:t>
            </a:r>
            <a:r>
              <a:rPr b="1" lang="en"/>
              <a:t>testing hooks</a:t>
            </a:r>
            <a:r>
              <a:rPr lang="en"/>
              <a:t> in your code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These are no-op methods designed for tests to override them to inject functionality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Combine these with a </a:t>
            </a:r>
            <a:r>
              <a:rPr b="1" lang="en"/>
              <a:t>test </a:t>
            </a:r>
            <a:r>
              <a:rPr lang="en"/>
              <a:t>implementation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Fully functional (unlike a mock)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Allows for failure testing in </a:t>
            </a:r>
            <a:r>
              <a:rPr b="1" lang="en"/>
              <a:t>integration</a:t>
            </a:r>
            <a:r>
              <a:rPr lang="en"/>
              <a:t> tests</a:t>
            </a:r>
            <a:endParaRPr/>
          </a:p>
        </p:txBody>
      </p:sp>
      <p:pic>
        <p:nvPicPr>
          <p:cNvPr id="247" name="Google Shape;24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3138" y="1547975"/>
            <a:ext cx="1495425" cy="30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Failure Testing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941425"/>
            <a:ext cx="8520600" cy="413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ServerConnection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 getConnection()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testingHook();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protected 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testingHook()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8761D"/>
                </a:solidFill>
                <a:latin typeface="Courier New"/>
                <a:ea typeface="Courier New"/>
                <a:cs typeface="Courier New"/>
                <a:sym typeface="Courier New"/>
              </a:rPr>
              <a:t>// does nothing, only implemented by tests</a:t>
            </a:r>
            <a:endParaRPr>
              <a:solidFill>
                <a:srgbClr val="38761D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ServerTestSuite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private boolean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hasFailed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false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private static class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TestServerConnection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extends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ServerConnection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protected void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testingHook()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(!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hasFailed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hasFailed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throw new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ServerConnectionException();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Bug-Driven Testing</a:t>
            </a:r>
            <a:endParaRPr/>
          </a:p>
        </p:txBody>
      </p:sp>
      <p:sp>
        <p:nvSpPr>
          <p:cNvPr id="259" name="Google Shape;25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Use tests to reproduce a bug in a controlled environment</a:t>
            </a:r>
            <a:endParaRPr/>
          </a:p>
        </p:txBody>
      </p:sp>
      <p:pic>
        <p:nvPicPr>
          <p:cNvPr id="260" name="Google Shape;26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700" y="2267388"/>
            <a:ext cx="2438400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350" y="2362638"/>
            <a:ext cx="2705100" cy="1685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2"/>
          <p:cNvSpPr/>
          <p:nvPr/>
        </p:nvSpPr>
        <p:spPr>
          <a:xfrm>
            <a:off x="4012975" y="3030000"/>
            <a:ext cx="1246800" cy="33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" name="Google Shape;26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9525" y="2215413"/>
            <a:ext cx="2438400" cy="1876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Bug-Driven Testing</a:t>
            </a:r>
            <a:endParaRPr/>
          </a:p>
        </p:txBody>
      </p:sp>
      <p:sp>
        <p:nvSpPr>
          <p:cNvPr id="269" name="Google Shape;269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Happens </a:t>
            </a:r>
            <a:r>
              <a:rPr b="1" lang="en"/>
              <a:t>after</a:t>
            </a:r>
            <a:r>
              <a:rPr lang="en"/>
              <a:t> implementing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Either actual reported bugs, or suspected bugs: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Edge cases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Unusual code paths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Combine with TDD smoke tests to get good </a:t>
            </a:r>
            <a:r>
              <a:rPr b="1" lang="en"/>
              <a:t>testing coverage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Coverage</a:t>
            </a:r>
            <a:endParaRPr/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311700" y="1152475"/>
            <a:ext cx="8520600" cy="3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Test Coverage </a:t>
            </a:r>
            <a:r>
              <a:rPr lang="en"/>
              <a:t>is the percentage of branches and lines of code that are exercised by test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Ideally, all lines of code would be tested; in practice, that's often excessive/not useful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Ex: an assert statement that never fails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Aim for </a:t>
            </a:r>
            <a:r>
              <a:rPr b="1" lang="en"/>
              <a:t>80-90%</a:t>
            </a:r>
            <a:r>
              <a:rPr lang="en"/>
              <a:t> code coverage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Coverage Tools</a:t>
            </a:r>
            <a:endParaRPr/>
          </a:p>
        </p:txBody>
      </p:sp>
      <p:sp>
        <p:nvSpPr>
          <p:cNvPr id="281" name="Google Shape;281;p45"/>
          <p:cNvSpPr txBox="1"/>
          <p:nvPr>
            <p:ph idx="1" type="body"/>
          </p:nvPr>
        </p:nvSpPr>
        <p:spPr>
          <a:xfrm>
            <a:off x="311700" y="1152475"/>
            <a:ext cx="8520600" cy="38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Recommended: </a:t>
            </a:r>
            <a:r>
              <a:rPr lang="en"/>
              <a:t>JaCoCo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https://www.eclemma.org/jacoco/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Originated from the Emma project (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https://emma.sourceforge.net/</a:t>
            </a:r>
            <a:r>
              <a:rPr lang="en"/>
              <a:t>), which is no longer well-maintained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Includes IDE plugins for both IntelliJ and Eclipse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 u="sng">
                <a:solidFill>
                  <a:schemeClr val="hlink"/>
                </a:solidFill>
                <a:hlinkClick r:id="rId5"/>
              </a:rPr>
              <a:t>https://plugins.jetbrains.com/plugin/103-emma-code-coverage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" sz="1700" u="sng">
                <a:solidFill>
                  <a:schemeClr val="hlink"/>
                </a:solidFill>
                <a:hlinkClick r:id="rId6"/>
              </a:rPr>
              <a:t>https://www.eclemma.org/</a:t>
            </a:r>
            <a:r>
              <a:rPr lang="en" sz="1700"/>
              <a:t>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Coverage</a:t>
            </a:r>
            <a:endParaRPr/>
          </a:p>
        </p:txBody>
      </p:sp>
      <p:sp>
        <p:nvSpPr>
          <p:cNvPr id="287" name="Google Shape;287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Sample Coverage Output</a:t>
            </a:r>
            <a:endParaRPr/>
          </a:p>
        </p:txBody>
      </p:sp>
      <p:pic>
        <p:nvPicPr>
          <p:cNvPr id="288" name="Google Shape;28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850" y="4146144"/>
            <a:ext cx="5265649" cy="99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0850" y="174700"/>
            <a:ext cx="5607727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6"/>
          <p:cNvSpPr txBox="1"/>
          <p:nvPr/>
        </p:nvSpPr>
        <p:spPr>
          <a:xfrm>
            <a:off x="115575" y="3209800"/>
            <a:ext cx="39147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@Test</a:t>
            </a:r>
            <a:endParaRPr b="1" sz="1200">
              <a:solidFill>
                <a:schemeClr val="dk2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testAddition() {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2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AddingMachine().add(2,3);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 Assertions.assertEquals(5, </a:t>
            </a:r>
            <a:r>
              <a:rPr lang="en" sz="12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result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Test Coverage Output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11700" y="1152475"/>
            <a:ext cx="532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80% coverage is fine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Focus on quality of tests more than coverage numbers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the output to spot problem areas/missing testing</a:t>
            </a:r>
            <a:endParaRPr/>
          </a:p>
        </p:txBody>
      </p:sp>
      <p:pic>
        <p:nvPicPr>
          <p:cNvPr id="297" name="Google Shape;29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4650" y="1275625"/>
            <a:ext cx="3048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Testing</a:t>
            </a:r>
            <a:endParaRPr/>
          </a:p>
        </p:txBody>
      </p:sp>
      <p:sp>
        <p:nvSpPr>
          <p:cNvPr id="303" name="Google Shape;303;p48"/>
          <p:cNvSpPr txBox="1"/>
          <p:nvPr>
            <p:ph idx="1" type="body"/>
          </p:nvPr>
        </p:nvSpPr>
        <p:spPr>
          <a:xfrm>
            <a:off x="311700" y="1152475"/>
            <a:ext cx="8520600" cy="3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version of automated </a:t>
            </a:r>
            <a:r>
              <a:rPr b="1" lang="en"/>
              <a:t>exploratory</a:t>
            </a:r>
            <a:r>
              <a:rPr lang="en"/>
              <a:t> testing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Uses randomization to test out unexpected paths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Randomization in tests must be done carefully, or the tests stop       </a:t>
            </a:r>
            <a:endParaRPr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being useful: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each test run, print the </a:t>
            </a:r>
            <a:r>
              <a:rPr b="1" lang="en"/>
              <a:t>seed</a:t>
            </a:r>
            <a:r>
              <a:rPr lang="en"/>
              <a:t> used for the random number generator</a:t>
            </a:r>
            <a:endParaRPr/>
          </a:p>
          <a:p>
            <a:pPr indent="-342900" lvl="0" marL="18288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Allow a </a:t>
            </a:r>
            <a:r>
              <a:rPr b="1" lang="en"/>
              <a:t>manual </a:t>
            </a:r>
            <a:r>
              <a:rPr lang="en"/>
              <a:t>run to specify a seed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lets you have </a:t>
            </a:r>
            <a:r>
              <a:rPr b="1" lang="en"/>
              <a:t>repeatable </a:t>
            </a:r>
            <a:r>
              <a:rPr lang="en"/>
              <a:t>tests, which is critical for identifying and fixing bugs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50" y="2070350"/>
            <a:ext cx="877050" cy="8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Fuzz Testing Example</a:t>
            </a:r>
            <a:endParaRPr/>
          </a:p>
        </p:txBody>
      </p:sp>
      <p:sp>
        <p:nvSpPr>
          <p:cNvPr id="310" name="Google Shape;310;p49"/>
          <p:cNvSpPr txBox="1"/>
          <p:nvPr>
            <p:ph idx="1" type="body"/>
          </p:nvPr>
        </p:nvSpPr>
        <p:spPr>
          <a:xfrm>
            <a:off x="311700" y="1152475"/>
            <a:ext cx="8520600" cy="363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25" y="1017725"/>
            <a:ext cx="5585801" cy="40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317" name="Google Shape;317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out the exercise2 </a:t>
            </a:r>
            <a:r>
              <a:rPr lang="en"/>
              <a:t>package</a:t>
            </a:r>
            <a:r>
              <a:rPr lang="en"/>
              <a:t> in TestingExercises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Run the tests, check that the basic </a:t>
            </a:r>
            <a:r>
              <a:rPr b="1" lang="en"/>
              <a:t>smoke test</a:t>
            </a:r>
            <a:r>
              <a:rPr lang="en"/>
              <a:t> passes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the checkComputation method, write a fuzzy test that will add lots of different random integers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Using the fuzzy test, find an input that triggers the bug in AddingMachine.java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1"/>
          <p:cNvSpPr txBox="1"/>
          <p:nvPr>
            <p:ph type="ctrTitle"/>
          </p:nvPr>
        </p:nvSpPr>
        <p:spPr>
          <a:xfrm>
            <a:off x="311700" y="381975"/>
            <a:ext cx="8520600" cy="86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Engineering</a:t>
            </a:r>
            <a:endParaRPr/>
          </a:p>
        </p:txBody>
      </p:sp>
      <p:sp>
        <p:nvSpPr>
          <p:cNvPr id="323" name="Google Shape;323;p51"/>
          <p:cNvSpPr txBox="1"/>
          <p:nvPr>
            <p:ph idx="1" type="subTitle"/>
          </p:nvPr>
        </p:nvSpPr>
        <p:spPr>
          <a:xfrm>
            <a:off x="311700" y="13402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</a:t>
            </a:r>
            <a:endParaRPr/>
          </a:p>
        </p:txBody>
      </p:sp>
      <p:pic>
        <p:nvPicPr>
          <p:cNvPr id="324" name="Google Shape;32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6413" y="2239650"/>
            <a:ext cx="5591175" cy="241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Philosophy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52"/>
          <p:cNvSpPr txBox="1"/>
          <p:nvPr>
            <p:ph idx="1" type="body"/>
          </p:nvPr>
        </p:nvSpPr>
        <p:spPr>
          <a:xfrm>
            <a:off x="311700" y="1152475"/>
            <a:ext cx="524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iteration is key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Prefer </a:t>
            </a:r>
            <a:r>
              <a:rPr b="1" lang="en"/>
              <a:t>many</a:t>
            </a:r>
            <a:r>
              <a:rPr lang="en"/>
              <a:t> tests that each check one small feature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Code complexity is </a:t>
            </a:r>
            <a:r>
              <a:rPr b="1" lang="en"/>
              <a:t>quadratic </a:t>
            </a:r>
            <a:r>
              <a:rPr lang="en"/>
              <a:t>with lines of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Finding a bug is a </a:t>
            </a:r>
            <a:r>
              <a:rPr b="1" lang="en"/>
              <a:t>search</a:t>
            </a:r>
            <a:r>
              <a:rPr lang="en"/>
              <a:t> problem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1" name="Google Shape;33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5088" y="1075088"/>
            <a:ext cx="2752725" cy="31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Debugability</a:t>
            </a:r>
            <a:endParaRPr/>
          </a:p>
        </p:txBody>
      </p:sp>
      <p:sp>
        <p:nvSpPr>
          <p:cNvPr id="337" name="Google Shape;337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state as local as possible</a:t>
            </a:r>
            <a:endParaRPr/>
          </a:p>
          <a:p>
            <a:pPr indent="-317500" lvl="1" marL="914400" rtl="0" algn="l">
              <a:spcBef>
                <a:spcPts val="120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Local variables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Parameters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Private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Public data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8" name="Google Shape;338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9488" y="1425300"/>
            <a:ext cx="2428875" cy="26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Debugability</a:t>
            </a:r>
            <a:endParaRPr/>
          </a:p>
        </p:txBody>
      </p:sp>
      <p:sp>
        <p:nvSpPr>
          <p:cNvPr id="344" name="Google Shape;344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shared data immutable wherever possible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Builder pattern</a:t>
            </a:r>
            <a:endParaRPr/>
          </a:p>
          <a:p>
            <a:pPr indent="45720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WidgetBuilder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newWidget = </a:t>
            </a:r>
            <a:r>
              <a:rPr lang="en" sz="17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WidgetBuilder();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newWidget</a:t>
            </a: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.setSpinnerSpeed(getSpinnerSpeed());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newWidget</a:t>
            </a: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.setNumberOfGears(numGears);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</a:t>
            </a:r>
            <a:r>
              <a:rPr lang="en" sz="17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newWidget</a:t>
            </a:r>
            <a:r>
              <a:rPr lang="en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.build();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for Debugability</a:t>
            </a:r>
            <a:endParaRPr/>
          </a:p>
        </p:txBody>
      </p:sp>
      <p:sp>
        <p:nvSpPr>
          <p:cNvPr id="350" name="Google Shape;350;p55"/>
          <p:cNvSpPr txBox="1"/>
          <p:nvPr>
            <p:ph idx="1" type="body"/>
          </p:nvPr>
        </p:nvSpPr>
        <p:spPr>
          <a:xfrm>
            <a:off x="311700" y="1152475"/>
            <a:ext cx="8680500" cy="385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60"/>
              <a:t>Create wrapper classes to keep code logic in one file</a:t>
            </a:r>
            <a:endParaRPr sz="30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000"/>
              <a:t>    	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WidgetCache {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 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private 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Map&lt;Long, Widget&gt; </a:t>
            </a:r>
            <a:r>
              <a:rPr lang="en" sz="2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idToWidgetCache 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HashMap&lt;&gt;();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 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 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Widget put(long id, Widget widget) {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</a:t>
            </a:r>
            <a:r>
              <a:rPr lang="en" sz="2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	 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2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idToWidgetCache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.put(id, widget);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 }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Widget get(long id) {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" sz="2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idToWidgetCache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.get(id);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 </a:t>
            </a:r>
            <a:r>
              <a:rPr lang="en" sz="210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public void 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clear() {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	 </a:t>
            </a:r>
            <a:r>
              <a:rPr lang="en" sz="21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idToWidgetCache</a:t>
            </a: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.clear();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	 }</a:t>
            </a:r>
            <a:endParaRPr sz="21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	 }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IDE Tools</a:t>
            </a:r>
            <a:endParaRPr/>
          </a:p>
        </p:txBody>
      </p:sp>
      <p:sp>
        <p:nvSpPr>
          <p:cNvPr id="356" name="Google Shape;35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8000" y="1152475"/>
            <a:ext cx="4854211" cy="3416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56"/>
          <p:cNvSpPr/>
          <p:nvPr/>
        </p:nvSpPr>
        <p:spPr>
          <a:xfrm>
            <a:off x="2331125" y="3378300"/>
            <a:ext cx="546000" cy="351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IDE Tools</a:t>
            </a:r>
            <a:endParaRPr/>
          </a:p>
        </p:txBody>
      </p:sp>
      <p:sp>
        <p:nvSpPr>
          <p:cNvPr id="364" name="Google Shape;364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Conditional Breakpoints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65" name="Google Shape;36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5701" y="1589825"/>
            <a:ext cx="491543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IDE Tools</a:t>
            </a:r>
            <a:endParaRPr/>
          </a:p>
        </p:txBody>
      </p:sp>
      <p:sp>
        <p:nvSpPr>
          <p:cNvPr id="371" name="Google Shape;37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Flow: Step in/out/over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72" name="Google Shape;37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454" y="1668275"/>
            <a:ext cx="5248450" cy="3310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p58"/>
          <p:cNvCxnSpPr/>
          <p:nvPr/>
        </p:nvCxnSpPr>
        <p:spPr>
          <a:xfrm flipH="1">
            <a:off x="3178800" y="1403125"/>
            <a:ext cx="349800" cy="46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58"/>
          <p:cNvSpPr/>
          <p:nvPr/>
        </p:nvSpPr>
        <p:spPr>
          <a:xfrm>
            <a:off x="2980200" y="1904225"/>
            <a:ext cx="349800" cy="132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IDE Tools</a:t>
            </a:r>
            <a:endParaRPr/>
          </a:p>
        </p:txBody>
      </p:sp>
      <p:sp>
        <p:nvSpPr>
          <p:cNvPr id="380" name="Google Shape;380;p5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Tons of useful info available in the debugger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Much faster to examine live vs. println debugging</a:t>
            </a:r>
            <a:endParaRPr/>
          </a:p>
        </p:txBody>
      </p:sp>
      <p:pic>
        <p:nvPicPr>
          <p:cNvPr id="381" name="Google Shape;38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3688" y="173625"/>
            <a:ext cx="4676775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9375" y="2771713"/>
            <a:ext cx="55054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Useful IDE Tools</a:t>
            </a:r>
            <a:endParaRPr/>
          </a:p>
        </p:txBody>
      </p:sp>
      <p:sp>
        <p:nvSpPr>
          <p:cNvPr id="388" name="Google Shape;388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To Frame (Caution: Does not reset </a:t>
            </a:r>
            <a:r>
              <a:rPr b="1" lang="en"/>
              <a:t>non-local</a:t>
            </a:r>
            <a:r>
              <a:rPr lang="en"/>
              <a:t> state, such as fields)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89" name="Google Shape;389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50" y="1626150"/>
            <a:ext cx="5412499" cy="318585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0"/>
          <p:cNvSpPr/>
          <p:nvPr/>
        </p:nvSpPr>
        <p:spPr>
          <a:xfrm>
            <a:off x="1628125" y="1866400"/>
            <a:ext cx="349800" cy="132300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Example</a:t>
            </a:r>
            <a:endParaRPr/>
          </a:p>
        </p:txBody>
      </p:sp>
      <p:sp>
        <p:nvSpPr>
          <p:cNvPr id="396" name="Google Shape;396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a smoke test first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7" name="Google Shape;39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8" y="1017725"/>
            <a:ext cx="3982174" cy="186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Example</a:t>
            </a:r>
            <a:endParaRPr/>
          </a:p>
        </p:txBody>
      </p:sp>
      <p:sp>
        <p:nvSpPr>
          <p:cNvPr id="403" name="Google Shape;403;p62"/>
          <p:cNvSpPr txBox="1"/>
          <p:nvPr>
            <p:ph idx="1" type="body"/>
          </p:nvPr>
        </p:nvSpPr>
        <p:spPr>
          <a:xfrm>
            <a:off x="311700" y="1152475"/>
            <a:ext cx="4260300" cy="370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Next, write the implementation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We're leaving the cross-component db call unimplemented for the moment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Because we'll have that eventually, though, we need to use </a:t>
            </a:r>
            <a:r>
              <a:rPr b="1" lang="en"/>
              <a:t>lazy initialization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Note that you should never rely on a user to initialize!</a:t>
            </a:r>
            <a:endParaRPr/>
          </a:p>
        </p:txBody>
      </p:sp>
      <p:sp>
        <p:nvSpPr>
          <p:cNvPr id="404" name="Google Shape;404;p62"/>
          <p:cNvSpPr txBox="1"/>
          <p:nvPr/>
        </p:nvSpPr>
        <p:spPr>
          <a:xfrm>
            <a:off x="4683475" y="211900"/>
            <a:ext cx="4201800" cy="4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WrappedHashMap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Map&lt;Integer, String&gt;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C0"/>
                </a:solidFill>
                <a:highlight>
                  <a:srgbClr val="CECCF7"/>
                </a:highlight>
                <a:latin typeface="Consolas"/>
                <a:ea typeface="Consolas"/>
                <a:cs typeface="Consolas"/>
                <a:sym typeface="Consolas"/>
              </a:rPr>
              <a:t>needToInitialize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String get(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0000C0"/>
                </a:solidFill>
                <a:highlight>
                  <a:srgbClr val="CECCF7"/>
                </a:highlight>
                <a:latin typeface="Consolas"/>
                <a:ea typeface="Consolas"/>
                <a:cs typeface="Consolas"/>
                <a:sym typeface="Consolas"/>
              </a:rPr>
              <a:t>needToInitialize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	initalize();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	</a:t>
            </a:r>
            <a:r>
              <a:rPr lang="en" sz="1000">
                <a:solidFill>
                  <a:srgbClr val="0000C0"/>
                </a:solidFill>
                <a:highlight>
                  <a:srgbClr val="CECCF7"/>
                </a:highlight>
                <a:latin typeface="Consolas"/>
                <a:ea typeface="Consolas"/>
                <a:cs typeface="Consolas"/>
                <a:sym typeface="Consolas"/>
              </a:rPr>
              <a:t>needToInitialize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.get(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put(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String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000">
                <a:solidFill>
                  <a:srgbClr val="0000C0"/>
                </a:solidFill>
                <a:highlight>
                  <a:srgbClr val="CECCF7"/>
                </a:highlight>
                <a:latin typeface="Consolas"/>
                <a:ea typeface="Consolas"/>
                <a:cs typeface="Consolas"/>
                <a:sym typeface="Consolas"/>
              </a:rPr>
              <a:t>needToInitialize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	initalize();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	</a:t>
            </a:r>
            <a:r>
              <a:rPr lang="en" sz="1000">
                <a:solidFill>
                  <a:srgbClr val="0000C0"/>
                </a:solidFill>
                <a:highlight>
                  <a:srgbClr val="CECCF7"/>
                </a:highlight>
                <a:latin typeface="Consolas"/>
                <a:ea typeface="Consolas"/>
                <a:cs typeface="Consolas"/>
                <a:sym typeface="Consolas"/>
              </a:rPr>
              <a:t>needToInitialize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.put(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initalize() {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initialCapacity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10;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 sz="1000">
                <a:solidFill>
                  <a:srgbClr val="0000C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data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000">
                <a:solidFill>
                  <a:srgbClr val="7F0055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 HashMap&lt;&gt;(</a:t>
            </a:r>
            <a:r>
              <a:rPr lang="en" sz="1000">
                <a:solidFill>
                  <a:srgbClr val="6A3E3E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initialCapacity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	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Example</a:t>
            </a:r>
            <a:endParaRPr/>
          </a:p>
        </p:txBody>
      </p:sp>
      <p:sp>
        <p:nvSpPr>
          <p:cNvPr id="410" name="Google Shape;41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To the debugger!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 Example</a:t>
            </a:r>
            <a:endParaRPr/>
          </a:p>
        </p:txBody>
      </p:sp>
      <p:sp>
        <p:nvSpPr>
          <p:cNvPr id="416" name="Google Shape;416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of the process: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Put a breakpoint on the failing 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Run through a test that triggers the failure, and check instance and local variable state at the breakpoint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Add a breakpoint where the value of an incorrect variable should have changed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Repeat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 Turn!</a:t>
            </a:r>
            <a:endParaRPr/>
          </a:p>
        </p:txBody>
      </p:sp>
      <p:sp>
        <p:nvSpPr>
          <p:cNvPr id="422" name="Google Shape;422;p65"/>
          <p:cNvSpPr txBox="1"/>
          <p:nvPr>
            <p:ph idx="1" type="body"/>
          </p:nvPr>
        </p:nvSpPr>
        <p:spPr>
          <a:xfrm>
            <a:off x="311700" y="1152475"/>
            <a:ext cx="8520600" cy="38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Check out the exercise3 package in TestingExercises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Run the TestCombinatorics test; it should fail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Put a breakpoint at the last line in the stack trace, and see what variables are invalid at that 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Find where the invalid variable should have been set, put another breakpoint there (for method return values, use the 'return' line of the method)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Repeat this process - for breakpoints within for loops, use a conditional breakpoint to only stop the breakpoint when something interesting is happening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Fix the bug, and verify the test is now green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Let's Review (Testing &amp; Debugging)</a:t>
            </a:r>
            <a:endParaRPr/>
          </a:p>
        </p:txBody>
      </p:sp>
      <p:sp>
        <p:nvSpPr>
          <p:cNvPr id="428" name="Google Shape;428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main </a:t>
            </a:r>
            <a:r>
              <a:rPr b="1" lang="en"/>
              <a:t>categories </a:t>
            </a:r>
            <a:r>
              <a:rPr lang="en"/>
              <a:t>of testing: manual vs automated, what each is good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types of </a:t>
            </a:r>
            <a:r>
              <a:rPr b="1" lang="en"/>
              <a:t>regression</a:t>
            </a:r>
            <a:r>
              <a:rPr lang="en"/>
              <a:t>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</a:t>
            </a:r>
            <a:r>
              <a:rPr b="1" lang="en"/>
              <a:t>mock</a:t>
            </a:r>
            <a:r>
              <a:rPr lang="en"/>
              <a:t> object and what is it used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a </a:t>
            </a:r>
            <a:r>
              <a:rPr b="1" lang="en"/>
              <a:t>testing hook</a:t>
            </a:r>
            <a:r>
              <a:rPr lang="en"/>
              <a:t> and what is it used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</a:t>
            </a:r>
            <a:r>
              <a:rPr b="1" lang="en"/>
              <a:t>fuzz testing</a:t>
            </a:r>
            <a:r>
              <a:rPr lang="en"/>
              <a:t> (...and what is it used for)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three ways to </a:t>
            </a:r>
            <a:r>
              <a:rPr b="1" lang="en"/>
              <a:t>design for debugability </a:t>
            </a:r>
            <a:r>
              <a:rPr lang="en"/>
              <a:t>in your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