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189d1473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189d147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89d1473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89d1473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189d14735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189d1473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189d1473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189d1473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89d1473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89d1473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189d14735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189d14735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89d14735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189d14735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51821a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51821a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51821af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51821af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51821af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51821af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51821af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51821af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951821af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951821af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51821af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951821af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951821af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951821af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51821af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951821af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951821af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951821af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951821af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951821af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51821af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951821af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951821af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951821af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951821af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951821af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951821af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951821af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951821af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951821af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951821af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951821af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951821af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951821af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951821af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951821af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951821af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951821af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951821af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951821af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951821af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951821af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951821af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951821af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951821af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951821af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951821af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951821af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951821af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951821af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951821af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951821af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951821af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951821af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951821af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951821af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951821af8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951821af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951821af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951821af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951821af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951821af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951821af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951821af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951821af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951821af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951821af8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951821af8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951821af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951821af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951821af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951821af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951821af8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951821af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951821af8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951821af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951821af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a951821af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951821af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951821af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951821af8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951821af8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tobuf.dev/reference/protobuf/proto2-spec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fullstorydev/grpcurl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Boundaries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In-Process Conceptual Boundaries: just call Java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Network (and Process) Boundaries: not so simple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must be serialized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Error codes must also be serialized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37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do the orange arrows actually work?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Server: hostname (ip address) + 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User: sends data to that port, using the correct </a:t>
            </a:r>
            <a:r>
              <a:rPr b="1" lang="en"/>
              <a:t>protocol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2113" y="1534025"/>
            <a:ext cx="521017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Java Processes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process = shared memory, use memory data (objects, etc) to communicate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Different processes = no shared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Most basic cross-process communication: File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File System communication requires that the processes share a file system, this won’t work for multi-server setup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System Communication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processes = (at least) two threads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Locks are objects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What to use instead?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Atomic File System operations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There’s a reason this is unusual in practice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System Communication - Not on Exam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common “lock”: file existence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have seen with older programs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Also useful: rename() is atomic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Typical pattern: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 contents to a temporary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Rename the fully written file to some agreed upon cross-process name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 process checks for existence of file, reads contents if it exists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77365" t="0"/>
          <a:stretch/>
        </p:blipFill>
        <p:spPr>
          <a:xfrm>
            <a:off x="5522565" y="1115375"/>
            <a:ext cx="1688099" cy="6953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Clone the MultiProcessExercises repo from the link on Brightspace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the code from the exercise1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Fill out the ‘writeFileContents’ method in DataSender.java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Fill out the ‘readFileContents’ method in DataReceiver.java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Run both programs at once and see what happens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a breakpoint in DataSender in writeFileContents and DataReceiver in readFileContents, and walk through line by line; what actually triggers the breakpoint in DataReceiver?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Serialization Protocols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7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Many, many options. Some common 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XML - very verbose, allows for easy automated schema validation. Largely replaced by more compact formats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Example: Eclipse .classpath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JSON - compact, human-readable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YAML - semantic whitespace, otherwise very similar to JSON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Example: Github Actions config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Protocol buffers - multiple modes (very compact machine readable bits, compact human-readable format)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This is what we'll be using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Java Code With Protocol Buffers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481800" y="1183325"/>
            <a:ext cx="2075400" cy="1505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Write data definition in .proto file with proto2 syntax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3072600" y="1183325"/>
            <a:ext cx="2075400" cy="1505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Compile .proto file to Java code (.java files)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5663400" y="1183325"/>
            <a:ext cx="2075400" cy="1505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Use the classes from the auto-generated .java files in your code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2" name="Google Shape;102;p20"/>
          <p:cNvCxnSpPr>
            <a:stCxn id="99" idx="3"/>
            <a:endCxn id="100" idx="1"/>
          </p:cNvCxnSpPr>
          <p:nvPr/>
        </p:nvCxnSpPr>
        <p:spPr>
          <a:xfrm>
            <a:off x="2557200" y="1936175"/>
            <a:ext cx="515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20"/>
          <p:cNvCxnSpPr/>
          <p:nvPr/>
        </p:nvCxnSpPr>
        <p:spPr>
          <a:xfrm>
            <a:off x="5107475" y="1936175"/>
            <a:ext cx="515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Buffer Syntax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spec: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https://protobuf.dev/reference/protobuf/proto2-spec/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Version note: we’ll be using proto2 (still the default); proto3 has some rough edges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common aspects: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 ⇒ int32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long ⇒ int64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String ⇒ string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boolean ⇒ bool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Buffer Syntax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⇒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enum ⇒ enum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List, [] array ⇒ repeated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Map ⇒ map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Buffer Syntax Example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3633600"/>
            <a:ext cx="85206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Backwards-compatibility: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Declare all fields as optional or repeated, never required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Always have an 'unknown' option for enums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517675" cy="25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750" y="1152463"/>
            <a:ext cx="340995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Compiling .proto -&gt; .java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Equivalent of javac: protoc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 not have the best usability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already have a build configuration management tool that calls javac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⇒ Better solution: have gradle call protoc for you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Compiling .proto -&gt; .java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protobufs in build.gradle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the plugin (this also configures grpc for later):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plugins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id 'com.google.protobuf' version '0.9.4'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grpcVersion = '1.59.1'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protobufVersion = '3.25.1'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def protocVersion = protobufVersion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protobuf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protoc { artifact = "com.google.protobuf:protoc:${protocVersion}"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plugins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	grpc { artifact = "io.grpc:protoc-gen-grpc-java:${grpcVersion}"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generateProtoTasks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	all()*.plugins { grpc {}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Compiling .proto -&gt; .java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protobufs in build.gradle: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add </a:t>
            </a:r>
            <a:r>
              <a:rPr lang="en"/>
              <a:t>the source sets - this uses a folder next to 'src' and 'test' called 'protobuf':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proto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	  srcDirs = ['protobuf']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java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	  srcDirs = ['src',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	'build/generated/source/proto/main/grpc',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	'build/generated/source/proto/main/java']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Caution: </a:t>
            </a:r>
            <a:r>
              <a:rPr lang="en"/>
              <a:t>Don't remove the test source sets!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Compiling .proto -&gt; .java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protobufs in build.gradle: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the dependencies: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implementation "io.grpc:grpc-protobuf:${grpcVersion}"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implementation "io.grpc:grpc-services:${grpcVersion}"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implementation "io.grpc:grpc-stub:${grpcVersion}"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compileOnly "org.apache.tomcat:annotations-api:6.0.53"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runtimeOnly "io.grpc:grpc-netty-shaded:${grpcVersion}"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testImplementation "io.grpc:grpc-testing:${grpcVersion}"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testImplementation "io.grpc:grpc-inprocess:${grpcVersion}"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Compiling .proto -&gt; .java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 Eclipse metadata: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./gradlew eclipse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recompile the protos (after any change to a .proto file), run: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./gradlew generateProto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and refresh Eclipse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Auto-Generated Code and Version Control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Practice: Don't commit compiled files, let the build configuration handle that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don't commit .class files, they'll just cause merge conflicts and Eclipse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protos, don't commit the .java files, just the .proto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Use your .gitignore to avoid committing the 'generated' directories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Auto-Generated Code and Version Control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the .java files back so that github can compile the code?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Update the gradle.yml!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./gradlew generateProto;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Before the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./gradlew build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Compiled Protocol Buffers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222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 generated classes: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the </a:t>
            </a:r>
            <a:r>
              <a:rPr b="1" lang="en"/>
              <a:t>builder </a:t>
            </a:r>
            <a:r>
              <a:rPr lang="en"/>
              <a:t>pattern!</a:t>
            </a:r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375" y="1102101"/>
            <a:ext cx="6526525" cy="390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Compiled Protocol Buffers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Optional, often useful: Add a translation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classes protoc generates are very data-layer-only; you can use them as-is, but often it's helpful to create an internal data representation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especially true for long-lived protos that have backwards compatibility cruft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350" y="3375888"/>
            <a:ext cx="758190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Use exercise2 from the MultProcessExercises repo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Create a .proto file that defines a Request and a Response message for the server (check out the TODOs for details)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Compile the .proto with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./gradlew generateProto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You'll need to declare a package for the output; use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package &lt;package name&gt;</a:t>
            </a:r>
            <a:r>
              <a:rPr lang="en" sz="1600"/>
              <a:t>; at the top of the .proto just as you would for a java file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Use the proto messages from (3) to fix the TODOs in Server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Use the proto messages from (3) to fix the TODOs in TestServer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Verify that the test passes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Multiple Protos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Use Case: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a single message, use </a:t>
            </a:r>
            <a:r>
              <a:rPr b="1" lang="en"/>
              <a:t>writeTo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includes messages wrapped in an outer message, 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message ProtoList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repeated InnerProto = 1;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Unusual: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write many messages, use </a:t>
            </a:r>
            <a:r>
              <a:rPr b="1" lang="en"/>
              <a:t>writeDelimitedTo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Ex: Mix-and-match serialization of different types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Re-use the code from exercise1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Change the FileWriter -&gt; FileOutputStream and FileReader -&gt; FileInputStream (Writer/Reader = characters, Input/OutputStream = bytes)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Fill out the ‘writeFileContents’ method in DataSender.java </a:t>
            </a:r>
            <a:r>
              <a:rPr b="1" lang="en"/>
              <a:t>to write a protocol buffer message (can use any already-created ones)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Fill out the ‘readFileContents’ method in DataReceiver.java </a:t>
            </a:r>
            <a:r>
              <a:rPr b="1" lang="en"/>
              <a:t>to read a protocol buffer message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Run both programs at once and see what happens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Protos as Persistence Format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Storing data in a database or other long-lived storage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Backwards Compatibility gets even more exciting: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version was written?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Unless all data can be (and is) upgraded, arbitrarily long support window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Network compatibility is usually for just one version, this is harder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Advantages</a:t>
            </a:r>
            <a:r>
              <a:rPr lang="en"/>
              <a:t>: compact, can be easily parsed into human-readable 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long-term persistence, </a:t>
            </a:r>
            <a:r>
              <a:rPr b="1" lang="en"/>
              <a:t>always include a version number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Backwards Compatibility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Old data, new code: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Old data is loaded out of a database by a new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Un-upgraded client sends a request to an upgraded server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Missing newer fields ⇒ all new fields must have a sensible </a:t>
            </a:r>
            <a:r>
              <a:rPr b="1" lang="en"/>
              <a:t>default</a:t>
            </a:r>
            <a:r>
              <a:rPr lang="en"/>
              <a:t>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in older fields ⇒ all </a:t>
            </a:r>
            <a:r>
              <a:rPr b="1" lang="en"/>
              <a:t>deprecated</a:t>
            </a:r>
            <a:r>
              <a:rPr lang="en"/>
              <a:t> fields must have an on-the-fly migration path (either ignored or upgraded)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Backwards Compatibility</a:t>
            </a:r>
            <a:endParaRPr/>
          </a:p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data, old code: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Upgraded server sends a response to an un-upgraded client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Missing older fields ⇒ all older (supported) fields must still be populated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in newer fields ⇒ all new data must be safe to </a:t>
            </a:r>
            <a:r>
              <a:rPr b="1" lang="en"/>
              <a:t>ignore</a:t>
            </a:r>
            <a:r>
              <a:rPr lang="en"/>
              <a:t> for older clients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Backwards Compatibility Best Practices</a:t>
            </a:r>
            <a:endParaRPr/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Never re-use a </a:t>
            </a:r>
            <a:r>
              <a:rPr b="1" lang="en"/>
              <a:t>field </a:t>
            </a:r>
            <a:r>
              <a:rPr b="1" lang="en"/>
              <a:t>number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Easy solution: when adding a new field, increment by one from the last field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includes changing types/names; any changes are modeled as a 'delete and add' and count as re-using the field number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Always include a </a:t>
            </a:r>
            <a:r>
              <a:rPr b="1" lang="en"/>
              <a:t>version </a:t>
            </a:r>
            <a:r>
              <a:rPr lang="en"/>
              <a:t>number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should be hardcoded in a .java file, ex: setVersion(VERSION)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version should increment any time the persistence format changes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311700" y="1152475"/>
            <a:ext cx="8520600" cy="3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Create a TextEditorPreferences message in a .proto file, with a string for preferred font and a bool for light vs dark mode.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Generate the .java files for this proto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Create a PreferenceStorer java class with a main method: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Create a TextEditorPreferences object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Store the object to a file as a proto message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Read the file back in, and populate a new object - print old vs new to the console to verify they're the same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Update the TextEditorPreferences message in the .proto file - add an int32 for preferred font size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Regenerate the .java files for this proto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Update PreferencesStorer to not write to the file (so you'll be reading the old, pre-step-4 format message)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Verify that you can still read the old format back into an object</a:t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Java Processes</a:t>
            </a:r>
            <a:endParaRPr/>
          </a:p>
        </p:txBody>
      </p:sp>
      <p:sp>
        <p:nvSpPr>
          <p:cNvPr id="233" name="Google Shape;23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network is similar to cross process but instead of ‘writing to a file’, code is ‘writing to a port’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set of problems as files: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Notice when there is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 all the data, not just part of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Parse the data into something useful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Communications</a:t>
            </a:r>
            <a:endParaRPr/>
          </a:p>
        </p:txBody>
      </p:sp>
      <p:sp>
        <p:nvSpPr>
          <p:cNvPr id="239" name="Google Shape;23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send data to a server on a port, the client requests a connection and the server opens a </a:t>
            </a:r>
            <a:r>
              <a:rPr b="1" lang="en"/>
              <a:t>socket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alerts the server that data is incoming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data to pass back and forth from client ⇔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socket is the rough equivalent of the shared file used previously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Java Processes</a:t>
            </a:r>
            <a:endParaRPr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low-level hardware side is a commonly solved problem, lots of libraries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We’ll be using gRpc (google remote procedure call)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gRpc, server-side: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Handles socket requests and creation (including authentication)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Reads all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Parses the bytes into a protocol buffer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Sends the message to your code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Java Processes</a:t>
            </a:r>
            <a:endParaRPr/>
          </a:p>
        </p:txBody>
      </p:sp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low-level hardware side is a commonly solved problem, lots of libraries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We’ll be using gRpc (google remote procedure call)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gRpc, client-side: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Handles socket requests and creation (including authentication)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Turns a protocol buffer message into bytes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Sends the bytes to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Gets a response back as bytes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Parses those bytes into a protocol buffer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Returns the message to your code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 Definitions</a:t>
            </a:r>
            <a:endParaRPr/>
          </a:p>
        </p:txBody>
      </p:sp>
      <p:sp>
        <p:nvSpPr>
          <p:cNvPr id="257" name="Google Shape;25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one port to respond to many different requests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Typically implemented via a REST API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Common (not universal) practice: server calls are </a:t>
            </a:r>
            <a:r>
              <a:rPr b="1" lang="en"/>
              <a:t>stateless</a:t>
            </a:r>
            <a:r>
              <a:rPr lang="en"/>
              <a:t>, meaning the client must manage all state between calls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for easy handling of multiple clients at once and graceful client disconnects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Different methods on the server correspond to different paths (often part of a URL)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https://graph.facebook.com/facebook/picture?redirect=false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gRPC &amp; Protobuf: Peanut Butter &amp; Jelly</a:t>
            </a:r>
            <a:endParaRPr/>
          </a:p>
        </p:txBody>
      </p:sp>
      <p:sp>
        <p:nvSpPr>
          <p:cNvPr id="263" name="Google Shape;26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Interoperable configuration language to specify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Endpoints (gRpc)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Serialization format (protobuf)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Compiles to many languages, including (but not limited to):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C++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Python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Typescript (which compiles to Javascript)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gRPC</a:t>
            </a:r>
            <a:endParaRPr/>
          </a:p>
        </p:txBody>
      </p:sp>
      <p:sp>
        <p:nvSpPr>
          <p:cNvPr id="269" name="Google Shape;26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Pieces of the server: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Endpoint definitions - .proto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Message definitions - .proto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Server definition - .java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Client definition - .java file (or other language!)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 Definition - Just an API!</a:t>
            </a:r>
            <a:endParaRPr/>
          </a:p>
        </p:txBody>
      </p:sp>
      <p:sp>
        <p:nvSpPr>
          <p:cNvPr id="275" name="Google Shape;275;p48"/>
          <p:cNvSpPr txBox="1"/>
          <p:nvPr>
            <p:ph idx="1" type="body"/>
          </p:nvPr>
        </p:nvSpPr>
        <p:spPr>
          <a:xfrm>
            <a:off x="311700" y="1152475"/>
            <a:ext cx="85206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same way that classes translate to proto messages, APIs (interfaces) translate to a gRPC service.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PhoneOrderResponse createPhoneOrder(PhoneOrderRequest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service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rpc CreatePhoneOrder (PhoneOrderRequest) returns (PhoneOrderResponse) {}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76" name="Google Shape;276;p48"/>
          <p:cNvSpPr/>
          <p:nvPr/>
        </p:nvSpPr>
        <p:spPr>
          <a:xfrm>
            <a:off x="1070750" y="2020200"/>
            <a:ext cx="27477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48"/>
          <p:cNvCxnSpPr>
            <a:stCxn id="276" idx="2"/>
            <a:endCxn id="278" idx="0"/>
          </p:cNvCxnSpPr>
          <p:nvPr/>
        </p:nvCxnSpPr>
        <p:spPr>
          <a:xfrm flipH="1">
            <a:off x="1670600" y="2287200"/>
            <a:ext cx="774000" cy="17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48"/>
          <p:cNvSpPr/>
          <p:nvPr/>
        </p:nvSpPr>
        <p:spPr>
          <a:xfrm>
            <a:off x="384950" y="4001400"/>
            <a:ext cx="25710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 Definition - Just an API!</a:t>
            </a:r>
            <a:endParaRPr/>
          </a:p>
        </p:txBody>
      </p:sp>
      <p:sp>
        <p:nvSpPr>
          <p:cNvPr id="284" name="Google Shape;284;p49"/>
          <p:cNvSpPr txBox="1"/>
          <p:nvPr>
            <p:ph idx="1" type="body"/>
          </p:nvPr>
        </p:nvSpPr>
        <p:spPr>
          <a:xfrm>
            <a:off x="311700" y="1152475"/>
            <a:ext cx="85206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same way that classes translate to proto messages, APIs (interfaces) translate to a gRPC service.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PhoneOrderResponse createPhoneOrder(PhoneOrderRequest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service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rpc CreatePhoneOrder (PhoneOrderRequest) returns (PhoneOrderResponse) {}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85" name="Google Shape;285;p49"/>
          <p:cNvSpPr/>
          <p:nvPr/>
        </p:nvSpPr>
        <p:spPr>
          <a:xfrm>
            <a:off x="3248875" y="2477400"/>
            <a:ext cx="16032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6" name="Google Shape;286;p49"/>
          <p:cNvCxnSpPr>
            <a:stCxn id="285" idx="2"/>
            <a:endCxn id="287" idx="0"/>
          </p:cNvCxnSpPr>
          <p:nvPr/>
        </p:nvCxnSpPr>
        <p:spPr>
          <a:xfrm flipH="1">
            <a:off x="1491175" y="2744400"/>
            <a:ext cx="2559300" cy="14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49"/>
          <p:cNvSpPr/>
          <p:nvPr/>
        </p:nvSpPr>
        <p:spPr>
          <a:xfrm>
            <a:off x="457375" y="4230000"/>
            <a:ext cx="20673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 Definition - Just an API!</a:t>
            </a:r>
            <a:endParaRPr/>
          </a:p>
        </p:txBody>
      </p:sp>
      <p:sp>
        <p:nvSpPr>
          <p:cNvPr id="293" name="Google Shape;293;p50"/>
          <p:cNvSpPr txBox="1"/>
          <p:nvPr>
            <p:ph idx="1" type="body"/>
          </p:nvPr>
        </p:nvSpPr>
        <p:spPr>
          <a:xfrm>
            <a:off x="311700" y="1152475"/>
            <a:ext cx="85206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same way that classes translate to proto messages, APIs (interfaces) translate to a gRPC service.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PhoneOrderResponse createPhoneOrder(PhoneOrderRequest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service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rpc CreatePhoneOrder (PhoneOrderRequest) returns (PhoneOrderResponse) {}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94" name="Google Shape;294;p50"/>
          <p:cNvSpPr/>
          <p:nvPr/>
        </p:nvSpPr>
        <p:spPr>
          <a:xfrm>
            <a:off x="1328200" y="2490375"/>
            <a:ext cx="19125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" name="Google Shape;295;p50"/>
          <p:cNvCxnSpPr>
            <a:stCxn id="294" idx="2"/>
            <a:endCxn id="296" idx="0"/>
          </p:cNvCxnSpPr>
          <p:nvPr/>
        </p:nvCxnSpPr>
        <p:spPr>
          <a:xfrm>
            <a:off x="2284450" y="2757375"/>
            <a:ext cx="4000200" cy="14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50"/>
          <p:cNvSpPr/>
          <p:nvPr/>
        </p:nvSpPr>
        <p:spPr>
          <a:xfrm>
            <a:off x="5250900" y="4230075"/>
            <a:ext cx="20673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 Definition - Just an API!</a:t>
            </a:r>
            <a:endParaRPr/>
          </a:p>
        </p:txBody>
      </p:sp>
      <p:sp>
        <p:nvSpPr>
          <p:cNvPr id="302" name="Google Shape;302;p51"/>
          <p:cNvSpPr txBox="1"/>
          <p:nvPr>
            <p:ph idx="1" type="body"/>
          </p:nvPr>
        </p:nvSpPr>
        <p:spPr>
          <a:xfrm>
            <a:off x="311700" y="1152475"/>
            <a:ext cx="85206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same way that classes translate to proto messages, APIs (interfaces) translate to a gRPC service.</a:t>
            </a:r>
            <a:endParaRPr/>
          </a:p>
          <a:p>
            <a:pPr indent="0" lvl="0" marL="25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PhoneOrderResponse createPhoneOrder(PhoneOrderRequest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service PhoneOrderService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rpc CreatePhoneOrder (PhoneOrderRequest) returns (PhoneOrderResponse) {}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03" name="Google Shape;303;p51"/>
          <p:cNvSpPr/>
          <p:nvPr/>
        </p:nvSpPr>
        <p:spPr>
          <a:xfrm>
            <a:off x="4835875" y="2490400"/>
            <a:ext cx="17904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51"/>
          <p:cNvCxnSpPr>
            <a:stCxn id="303" idx="2"/>
            <a:endCxn id="305" idx="0"/>
          </p:cNvCxnSpPr>
          <p:nvPr/>
        </p:nvCxnSpPr>
        <p:spPr>
          <a:xfrm flipH="1">
            <a:off x="3493075" y="2757400"/>
            <a:ext cx="2238000" cy="14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51"/>
          <p:cNvSpPr/>
          <p:nvPr/>
        </p:nvSpPr>
        <p:spPr>
          <a:xfrm>
            <a:off x="2459425" y="4230100"/>
            <a:ext cx="2067300" cy="267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Create?</a:t>
            </a:r>
            <a:endParaRPr/>
          </a:p>
        </p:txBody>
      </p:sp>
      <p:sp>
        <p:nvSpPr>
          <p:cNvPr id="311" name="Google Shape;31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the IDE!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 ./gradlew generateProto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Manually refresh the project in the IDE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Client/Server Definition - Boilerplate</a:t>
            </a:r>
            <a:endParaRPr/>
          </a:p>
        </p:txBody>
      </p:sp>
      <p:sp>
        <p:nvSpPr>
          <p:cNvPr id="317" name="Google Shape;31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Server/Client code can be treated as a template - included on Brightspace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"Interesting" code lives in the actual client method call (order() in the example), and the &lt;serviceName&gt;ServiceImpl on the server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Definition</a:t>
            </a:r>
            <a:endParaRPr/>
          </a:p>
        </p:txBody>
      </p:sp>
      <p:sp>
        <p:nvSpPr>
          <p:cNvPr id="323" name="Google Shape;323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the actual implementation for the API methods: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a class that extends the &lt;serviceName&gt;ImplBase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Override each rpc method with an actual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onNext/onCompleted to return a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Caution: Don't use onError - that's for something going wrong at the networking layer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Definition</a:t>
            </a:r>
            <a:endParaRPr/>
          </a:p>
        </p:txBody>
      </p:sp>
      <p:sp>
        <p:nvSpPr>
          <p:cNvPr id="329" name="Google Shape;32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up the server on a particular port: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simple cases, no login is required, so don't require credentials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Pick a unique-ish port (for an actual production server, this would be specified in a config file, not the actual binary)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Definition</a:t>
            </a:r>
            <a:endParaRPr/>
          </a:p>
        </p:txBody>
      </p:sp>
      <p:sp>
        <p:nvSpPr>
          <p:cNvPr id="335" name="Google Shape;33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gRPC does not require a specific client language - you can use any client you want!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useful examples: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Command line - grpc and curl often don't play well, use grpcurl instead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https://github.com/fullstorydev/grpcurl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grpcurl -plaintext -d "{\"model\": \"android\"}" localhost:50051 phoneorder.PhoneOrderService/CreatePhoneOrder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Returns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"orderNumber": "not implemented yet"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Definition</a:t>
            </a:r>
            <a:endParaRPr/>
          </a:p>
        </p:txBody>
      </p:sp>
      <p:sp>
        <p:nvSpPr>
          <p:cNvPr id="341" name="Google Shape;341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Client: Similar to server, use a template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Once you have a &lt;servicename&gt;Client variable: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call methods on it as defined in the .proto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Usually, create request messages, check response messages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prompt the user for input with a Scanner/report information with println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347" name="Google Shape;347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Create an AddingMachine server, and query it with either a java client or curl: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Create a .proto file with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an AddingRequest that includes two integers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an AddingResponse that includes an integer result and an error code (remember the optional keyword!)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an AddingMachine service with an add rpc that takes an AddingRequest and returns an AddingResponse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Generate all the proto and gRPC files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Create an AddingMachineServer.java that starts up an AddingMachine service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Create a client, or use grpcurl, to verify that your server can correctly add 2 + 3</a:t>
            </a:r>
            <a:endParaRPr sz="17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Review, Serialization &amp; Protobuf</a:t>
            </a:r>
            <a:endParaRPr/>
          </a:p>
        </p:txBody>
      </p:sp>
      <p:sp>
        <p:nvSpPr>
          <p:cNvPr id="353" name="Google Shape;353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 major serialization formats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specify int, long, String, and boolean in a .proto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handle backwards compatibility with protocol buffer: adding new fields, removing old fields, including a version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specify a message in a .proto file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Review, gRPC</a:t>
            </a:r>
            <a:endParaRPr/>
          </a:p>
        </p:txBody>
      </p:sp>
      <p:sp>
        <p:nvSpPr>
          <p:cNvPr id="359" name="Google Shape;35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specify a service in a .proto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happens when sending a message from client to server with gRPC (open a socket, serialize/deserialize data, connect to your code)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return a value from the .java implementation of a gRPC 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advantage of multi-process computing over multi-threaded-but-single-process computing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Ways to design for multi-process computing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