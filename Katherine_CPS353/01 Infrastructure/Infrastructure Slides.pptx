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ee45c2362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ee45c2362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ee45c2362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ee45c2362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ee45c23622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ee45c23622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e45c2362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ee45c2362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2028e922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2028e922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22028e922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22028e922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929434f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929434f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22028e92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22028e92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a228aa712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a228aa712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2028e922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2028e922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2028e922e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2028e922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22028e922e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22028e922e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22028e922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22028e922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74ee085c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74ee085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1167fa1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1167fa1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167fa12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1167fa12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1167fa12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1167fa12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1167fa12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91167fa12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1167fa12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1167fa12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1167fa12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1167fa12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1167fa12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1167fa12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167fa12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1167fa12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1167fa12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91167fa12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1167fa12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1167fa12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1167fa12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1167fa12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1167fa12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1167fa12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1167fa12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91167fa12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1167fa12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1167fa12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167fa12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1167fa12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1167fa12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91167fa12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1167fa12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1167fa12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1167fa12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1167fa12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1167fa12c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1167fa12c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1167fa12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1167fa12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91167fa12c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91167fa12c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1167fa12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91167fa12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1167fa12c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1167fa12c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91167fa12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91167fa12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1167fa12c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91167fa12c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1167fa12c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1167fa12c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1167fa12c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91167fa12c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1167fa12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91167fa12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91167fa12c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91167fa12c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1167fa12c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1167fa12c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jp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Course Goal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Course Goal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other 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Course Goal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other 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Effectively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Course Goal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 other people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Effectively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Over time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773" y="1123125"/>
            <a:ext cx="4273124" cy="347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Philosophy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the Theory (Version Control, Dependency Management, Design Patterns, etc)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Build a useful foundation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Practice with Specific Tools (Git, Gradle, Java, etc)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Current industry standard versions because why not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Ecosystem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Version Control + Local Checkout + Build System Management + IDE = Success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Specifics: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Github + Github Desktop + Gradle + Eclipse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Supported vs. Allowed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distinction in industry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Allowed vs Not Allowed: Security, Dogfooding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Supported vs Not Supported: Standard workflow, existing expertise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Are Those Exact Specifics Required?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= Required (others not allowed)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Github Desktop = </a:t>
            </a:r>
            <a:r>
              <a:rPr lang="en"/>
              <a:t>recommended, but any Git client will 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Supported: Github Desktop, command-line git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use multiple clients at the same time, low risk to experiment 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Gradle = Required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Maven: technically allowed, but a lot more work, </a:t>
            </a:r>
            <a:r>
              <a:rPr b="1" lang="en"/>
              <a:t>unsupported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Eclipse = </a:t>
            </a:r>
            <a:r>
              <a:rPr b="1" lang="en"/>
              <a:t>strongly </a:t>
            </a:r>
            <a:r>
              <a:rPr lang="en"/>
              <a:t>r</a:t>
            </a:r>
            <a:r>
              <a:rPr lang="en"/>
              <a:t>ecommended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VSCode: not allowed, because it’s missing required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IntelliJ: allowed, </a:t>
            </a:r>
            <a:r>
              <a:rPr b="1" lang="en"/>
              <a:t>unsupported </a:t>
            </a:r>
            <a:r>
              <a:rPr lang="en"/>
              <a:t>(FYI, they embrace ‘move fast and break things’)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Workflow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263" y="1566788"/>
            <a:ext cx="2143125" cy="2143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" name="Google Shape;106;p21"/>
          <p:cNvCxnSpPr/>
          <p:nvPr/>
        </p:nvCxnSpPr>
        <p:spPr>
          <a:xfrm>
            <a:off x="2536388" y="2638350"/>
            <a:ext cx="2926200" cy="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21"/>
          <p:cNvCxnSpPr/>
          <p:nvPr/>
        </p:nvCxnSpPr>
        <p:spPr>
          <a:xfrm rot="10800000">
            <a:off x="2566500" y="2935550"/>
            <a:ext cx="2985000" cy="3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8" name="Google Shape;10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438" y="1719188"/>
            <a:ext cx="229552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9856" y="1352150"/>
            <a:ext cx="961125" cy="124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502325" y="3723450"/>
            <a:ext cx="19641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Your local copy on your laptop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3787075" y="3057625"/>
            <a:ext cx="1276200" cy="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Changes to the files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6627513" y="3601650"/>
            <a:ext cx="1409400" cy="6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VCS (Github)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03196" y="951500"/>
            <a:ext cx="1025375" cy="9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Workflow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188" y="-83087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9096" y="2239100"/>
            <a:ext cx="1025375" cy="9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/>
        </p:nvSpPr>
        <p:spPr>
          <a:xfrm>
            <a:off x="1662188" y="3478375"/>
            <a:ext cx="20592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Git Client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(Github Desktop)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syncs to cloud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Workflow</a:t>
            </a:r>
            <a:endParaRPr/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188" y="-83087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21" y="2410025"/>
            <a:ext cx="1025375" cy="9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-72350" y="3527200"/>
            <a:ext cx="20592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0" name="Google Shape;13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14875" y="2118225"/>
            <a:ext cx="1515999" cy="15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2151675" y="3665550"/>
            <a:ext cx="288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All repository files are stored in the File System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Workflow</a:t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188" y="-83087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21" y="2410025"/>
            <a:ext cx="1025375" cy="90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-72350" y="3527200"/>
            <a:ext cx="20592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70825" y="2011225"/>
            <a:ext cx="1515999" cy="15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3674975" y="3698125"/>
            <a:ext cx="288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Dependency Management (Gradle)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reads the files and creates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local metadata files</a:t>
            </a:r>
            <a:endParaRPr b="1" sz="1800">
              <a:solidFill>
                <a:schemeClr val="dk2"/>
              </a:solidFill>
            </a:endParaRPr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3150" y="2206681"/>
            <a:ext cx="1784850" cy="13079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7114625" y="3646025"/>
            <a:ext cx="17178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includes IDE-specific configuration (either Eclipse or IntelliJ)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Workflow</a:t>
            </a:r>
            <a:endParaRPr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188" y="-83087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421" y="2410025"/>
            <a:ext cx="1025375" cy="90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7649" y="2317011"/>
            <a:ext cx="1352550" cy="1087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2175" y="2104813"/>
            <a:ext cx="1515999" cy="1515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5693325" y="3730650"/>
            <a:ext cx="2881200" cy="9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Your IDE (Eclipse) can be configured locally without affecting anyone else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75500" y="2208806"/>
            <a:ext cx="1784850" cy="1307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Demo! (Time Permitting)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Grab the starter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 into 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Commit changes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Invite users to a repo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Reviews: Cheap Way to Avoid Bugs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535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equivalent of editing a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Rough estimate: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bug that takes 1 minute to fix if flagged in a code review will take: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 minutes to fix if flagged in a manual testing pass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100 minutes to fix if shipped to production</a:t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000" y="1017725"/>
            <a:ext cx="2929200" cy="29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Reviews: Cheap Way to Avoid Bugs</a:t>
            </a:r>
            <a:endParaRPr/>
          </a:p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11700" y="1152475"/>
            <a:ext cx="818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…But Only If Done Right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make Code Reviews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Lightweight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Effective at spotting issues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Pleasant</a:t>
            </a:r>
            <a:endParaRPr/>
          </a:p>
        </p:txBody>
      </p:sp>
      <p:pic>
        <p:nvPicPr>
          <p:cNvPr id="174" name="Google Shape;17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35150"/>
            <a:ext cx="4222650" cy="4059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 </a:t>
            </a:r>
            <a:r>
              <a:rPr b="1" lang="en"/>
              <a:t>conventions</a:t>
            </a:r>
            <a:r>
              <a:rPr lang="en"/>
              <a:t> are aspects of code not enforced by the compiler, but which make code much more approachable: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int getWidth()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return width;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rectangle.getWidth()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4127750" y="1789700"/>
            <a:ext cx="4148700" cy="22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vs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int Width(){return a;}</a:t>
            </a:r>
            <a:endParaRPr sz="18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and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b.Width()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>
            <a:off x="311700" y="1152475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wait, those two bits of code looked equally easy to read!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Conventions develop value </a:t>
            </a:r>
            <a:r>
              <a:rPr b="1" lang="en"/>
              <a:t>over time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Compare two icons: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                       vs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first time you encounter a 'Save' icon, either of those makes as much/little sense as the other.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Once you've seen 50, the one on the left is much easier to recognize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18" y="2438293"/>
            <a:ext cx="1071550" cy="10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 rotWithShape="1">
          <a:blip r:embed="rId4">
            <a:alphaModFix/>
          </a:blip>
          <a:srcRect b="0" l="70855" r="0" t="0"/>
          <a:stretch/>
        </p:blipFill>
        <p:spPr>
          <a:xfrm>
            <a:off x="2676800" y="2354950"/>
            <a:ext cx="10715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typical conventions (not exhaustive):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methods and variables begin with a lowercase letter (int width, void doThing())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constants are all caps (int x = DEFAULT_VAL;)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class names begin with a capital letter (public class Math {})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optional conventions: pick something and be consistent in the code base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tabs vs 2 spaces vs 4 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{ on a newline vs with a space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Beyond surface-level conventions, make sure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Include comments on </a:t>
            </a:r>
            <a:r>
              <a:rPr b="1" lang="en"/>
              <a:t>why</a:t>
            </a:r>
            <a:r>
              <a:rPr lang="en"/>
              <a:t> some code exists, not what it does: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// adds 2 to x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 += 2;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// We're only considering even numbers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x += 2;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good </a:t>
            </a:r>
            <a:r>
              <a:rPr b="1" lang="en"/>
              <a:t>object oriented</a:t>
            </a:r>
            <a:r>
              <a:rPr lang="en"/>
              <a:t> practices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class should have </a:t>
            </a:r>
            <a:r>
              <a:rPr b="1" lang="en"/>
              <a:t>one </a:t>
            </a:r>
            <a:r>
              <a:rPr lang="en"/>
              <a:t>data concept, a method should have </a:t>
            </a:r>
            <a:r>
              <a:rPr b="1" lang="en"/>
              <a:t>one</a:t>
            </a:r>
            <a:r>
              <a:rPr lang="en"/>
              <a:t> task/behavior; if you can't describe it with a single sentence, or if you're using the word "and", be suspicious (this is a </a:t>
            </a:r>
            <a:r>
              <a:rPr b="1" lang="en"/>
              <a:t>code smell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getWidthAndHeight() vs getWidth(), getHeight();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213" name="Google Shape;213;p34"/>
          <p:cNvSpPr txBox="1"/>
          <p:nvPr>
            <p:ph idx="1" type="body"/>
          </p:nvPr>
        </p:nvSpPr>
        <p:spPr>
          <a:xfrm>
            <a:off x="311700" y="1152475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a hard-and-fast rule: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// Represents a deck of cards. Supports shuffling and dealing.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class Deck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List&lt;Card&gt; cards;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public void shuffle() {}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public void deal() {}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multiple sentences and an 'and', but there's a single 'data' concept and the two 'behaviors' are both closely related to the data and in separate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525" y="2511387"/>
            <a:ext cx="1121875" cy="11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// Represents card numbers and suits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class Deck {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List&lt;Integer&gt; cardNumbers;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List&lt;Integer&gt; cardSuits;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'and' here is in fact a problem - we're not properly </a:t>
            </a:r>
            <a:r>
              <a:rPr b="1" lang="en"/>
              <a:t>encapsulating </a:t>
            </a:r>
            <a:r>
              <a:rPr lang="en"/>
              <a:t>the data. The two items being 'and'ed together are closely related, which for data means they should be grouped in their own class (Card)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/* Represents a deck of cards. Supports shuffling and coordinates placing pieces on a game board */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class Deck {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List&lt;Card&gt; cards;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public void shuffle() {}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public void initializeBoard() {}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Here, the 'and' is a problem because the two behaviors are very different; a game board has nothing to do with a deck of cards.</a:t>
            </a:r>
            <a:endParaRPr/>
          </a:p>
        </p:txBody>
      </p:sp>
      <p:pic>
        <p:nvPicPr>
          <p:cNvPr id="221" name="Google Shape;22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525" y="1355375"/>
            <a:ext cx="709450" cy="70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3525" y="3460850"/>
            <a:ext cx="709450" cy="70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Code For Code Review</a:t>
            </a:r>
            <a:endParaRPr/>
          </a:p>
        </p:txBody>
      </p:sp>
      <p:sp>
        <p:nvSpPr>
          <p:cNvPr id="228" name="Google Shape;228;p36"/>
          <p:cNvSpPr txBox="1"/>
          <p:nvPr>
            <p:ph idx="1" type="body"/>
          </p:nvPr>
        </p:nvSpPr>
        <p:spPr>
          <a:xfrm>
            <a:off x="311700" y="1152475"/>
            <a:ext cx="8520600" cy="38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shouldn't be surprising: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Main.java: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System.out.println("Rectangle width: " +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 					rectangle.getWidth());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Rectangle.java: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public int getWidth() {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setHeight(3); // ← eek!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  return width;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Structuring Commits For Code Review</a:t>
            </a:r>
            <a:endParaRPr/>
          </a:p>
        </p:txBody>
      </p:sp>
      <p:sp>
        <p:nvSpPr>
          <p:cNvPr id="234" name="Google Shape;234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Manageable size (less than 200 lines of non-auto-generated code)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Detailed description, descriptive summary message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Single feature/bug/task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3725" y="2219949"/>
            <a:ext cx="4331624" cy="24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a Code Review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1152475"/>
            <a:ext cx="8520600" cy="3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Step 1: Grok the code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Read the commit summary &amp; description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Skim through the whole change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Do a second pass for deeper understanding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Make notes of anything that looks unclear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If necessary, sketch out a diagram/outline of what the change is doing</a:t>
            </a:r>
            <a:endParaRPr sz="1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a Code Review</a:t>
            </a:r>
            <a:endParaRPr/>
          </a:p>
        </p:txBody>
      </p:sp>
      <p:sp>
        <p:nvSpPr>
          <p:cNvPr id="247" name="Google Shape;24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Step 2: Comment on larger issues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Be nice! Criticism always feels harsher on the receiving end than the giving end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 code review is a </a:t>
            </a:r>
            <a:r>
              <a:rPr b="1" lang="en" sz="1600"/>
              <a:t>conversation</a:t>
            </a:r>
            <a:r>
              <a:rPr lang="en" sz="1600"/>
              <a:t> - for larger changes, expect to have multiple rounds of commits/reviews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Topics: 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Bugs: if something looks functionally broken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Lack of testing: make sure there are at least basic tests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Unclear code: missing comments, code that isn't self-documenting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Structural issues (layers of abstraction/API design)</a:t>
            </a:r>
            <a:endParaRPr sz="16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Giving a Code Review</a:t>
            </a:r>
            <a:endParaRPr/>
          </a:p>
        </p:txBody>
      </p:sp>
      <p:sp>
        <p:nvSpPr>
          <p:cNvPr id="253" name="Google Shape;253;p40"/>
          <p:cNvSpPr txBox="1"/>
          <p:nvPr>
            <p:ph idx="1" type="body"/>
          </p:nvPr>
        </p:nvSpPr>
        <p:spPr>
          <a:xfrm>
            <a:off x="311700" y="1152475"/>
            <a:ext cx="8520600" cy="3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Step 3: Proofreading for stylistic issues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For small issues: by convention, start with "</a:t>
            </a:r>
            <a:r>
              <a:rPr b="1" lang="en" sz="1600"/>
              <a:t>nit:</a:t>
            </a:r>
            <a:r>
              <a:rPr lang="en" sz="1600"/>
              <a:t>": Ex: "nit: add a newline between imports and class declaration"</a:t>
            </a:r>
            <a:endParaRPr sz="1600"/>
          </a:p>
          <a:p>
            <a:pPr indent="-330200" lvl="1" marL="9144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Whitespace/formatting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typos in variable names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suboptimal return statements: 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Ex: "nit: return hasProperty; vs return hasProperty == true;"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These shouldn't block approvals, but should be fixed up before merging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Avoid </a:t>
            </a:r>
            <a:r>
              <a:rPr b="1" lang="en" sz="1600"/>
              <a:t>micromanaging</a:t>
            </a:r>
            <a:endParaRPr b="1"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Determine if another way is genuinely better, or just different</a:t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Demo!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Leave inline comments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Resolve comments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Linter</a:t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311700" y="1152475"/>
            <a:ext cx="8520600" cy="3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Code reviews that spend a lot of time on nits are sub-optimal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Fortunately, some formatting issues are easy to spot programmatically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 </a:t>
            </a:r>
            <a:r>
              <a:rPr b="1" lang="en" sz="1600"/>
              <a:t>linter</a:t>
            </a:r>
            <a:r>
              <a:rPr lang="en" sz="1600"/>
              <a:t> is something that cleans up code "lint" - the small bits of easily removed fluff to leave clean and polished code behind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checkstyle</a:t>
            </a:r>
            <a:r>
              <a:rPr lang="en" sz="1600"/>
              <a:t> is an open source, easily configured version, which we'll be using.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266" name="Google Shape;26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1500" y="105350"/>
            <a:ext cx="1702822" cy="141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Checkstyle With Github</a:t>
            </a:r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311700" y="1152475"/>
            <a:ext cx="8520600" cy="3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We're going to hook up a custom checkstyle config to the status checks in Github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Every Pull Request will automatically trigger these checks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Don't request a review/don't leave a review until these checks pass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They should be very quick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This is an example of Continuous Integration (CI)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Note</a:t>
            </a:r>
            <a:r>
              <a:rPr lang="en" sz="1600"/>
              <a:t>: there are lots of ways to call checkstyle, including from gradle and as an Eclipse plugin. Feel free to add additional calls/checks for your project!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Continuous Integration</a:t>
            </a:r>
            <a:endParaRPr/>
          </a:p>
        </p:txBody>
      </p:sp>
      <p:sp>
        <p:nvSpPr>
          <p:cNvPr id="278" name="Google Shape;278;p44"/>
          <p:cNvSpPr txBox="1"/>
          <p:nvPr>
            <p:ph idx="1" type="body"/>
          </p:nvPr>
        </p:nvSpPr>
        <p:spPr>
          <a:xfrm>
            <a:off x="311700" y="1152475"/>
            <a:ext cx="8520600" cy="3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Shorten the loop between code being written and being deployed to production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Automates error detection, shipping, and rollbacks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Complexity ranges from very simple (checkstyle checks) to very complex (automated canary rollouts with rollbacks if certain metrics spike)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Benefits: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Faster feedback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Easier to launch features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Higher quality code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Pair Programming</a:t>
            </a:r>
            <a:endParaRPr/>
          </a:p>
        </p:txBody>
      </p:sp>
      <p:sp>
        <p:nvSpPr>
          <p:cNvPr id="284" name="Google Shape;28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Combines the coding and code review steps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Requires 2 people looking at the same screen with low-friction instant communication (ideally in-person, but screenshare with discord also works; email does </a:t>
            </a:r>
            <a:r>
              <a:rPr b="1" lang="en" sz="1600"/>
              <a:t>not</a:t>
            </a:r>
            <a:r>
              <a:rPr lang="en" sz="1600"/>
              <a:t> count as low-friction instant communication, though)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One person types, the other reviews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Good for the first several commits of a large, complex architecture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avoids latency and context switching from code reviews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When committing, note in the </a:t>
            </a:r>
            <a:r>
              <a:rPr b="1" lang="en" sz="1600"/>
              <a:t>commit description</a:t>
            </a:r>
            <a:r>
              <a:rPr lang="en" sz="1600"/>
              <a:t> that the code was pair-programmed (and with who); this should line up with the person who then </a:t>
            </a:r>
            <a:r>
              <a:rPr b="1" lang="en" sz="1600"/>
              <a:t>approves </a:t>
            </a:r>
            <a:r>
              <a:rPr lang="en" sz="1600"/>
              <a:t>the pull request</a:t>
            </a:r>
            <a:endParaRPr sz="1600"/>
          </a:p>
        </p:txBody>
      </p:sp>
      <p:pic>
        <p:nvPicPr>
          <p:cNvPr id="285" name="Google Shape;28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7548" y="78998"/>
            <a:ext cx="2284750" cy="152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Where/How to Write Code</a:t>
            </a:r>
            <a:endParaRPr/>
          </a:p>
        </p:txBody>
      </p:sp>
      <p:sp>
        <p:nvSpPr>
          <p:cNvPr id="291" name="Google Shape;291;p46"/>
          <p:cNvSpPr txBox="1"/>
          <p:nvPr>
            <p:ph idx="1" type="body"/>
          </p:nvPr>
        </p:nvSpPr>
        <p:spPr>
          <a:xfrm>
            <a:off x="311700" y="1152475"/>
            <a:ext cx="8520600" cy="3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Ex: Writing a 20 page research paper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</a:t>
            </a:r>
            <a:r>
              <a:rPr b="1" lang="en"/>
              <a:t>could</a:t>
            </a:r>
            <a:r>
              <a:rPr lang="en"/>
              <a:t> use a plain text editor, but you probably wouldn't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Instead, google docs/libre office/ms word: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Spell check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Grammar check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Formatting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Text suggestions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These tools are </a:t>
            </a:r>
            <a:r>
              <a:rPr b="1" lang="en"/>
              <a:t>integrated</a:t>
            </a:r>
            <a:r>
              <a:rPr lang="en"/>
              <a:t> into your word processing </a:t>
            </a:r>
            <a:r>
              <a:rPr b="1" lang="en"/>
              <a:t>environment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Where/How to Write Code</a:t>
            </a:r>
            <a:endParaRPr/>
          </a:p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311700" y="1152475"/>
            <a:ext cx="8520600" cy="3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Same for code! Use an </a:t>
            </a:r>
            <a:r>
              <a:rPr b="1" lang="en"/>
              <a:t>I</a:t>
            </a:r>
            <a:r>
              <a:rPr lang="en"/>
              <a:t>ntegrated </a:t>
            </a:r>
            <a:r>
              <a:rPr b="1" lang="en"/>
              <a:t>D</a:t>
            </a:r>
            <a:r>
              <a:rPr lang="en"/>
              <a:t>evelopment </a:t>
            </a:r>
            <a:r>
              <a:rPr b="1" lang="en"/>
              <a:t>E</a:t>
            </a:r>
            <a:r>
              <a:rPr lang="en"/>
              <a:t>nvironment (IDE)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Constant compilation/compile error readout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Warnings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Syntax highlighting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Auto-formatting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Auto-completion/auto-generated code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 for Java</a:t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152475"/>
            <a:ext cx="8520600" cy="38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Recommended: Eclipse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Fully featured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Easy to migrate from this to other tools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Optional: IntelliJ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Industry standard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Not so great if you don't have a build tools team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 Not Use: Visual Studio Code (VSCode)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Buggy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Poor Gradle integration</a:t>
            </a:r>
            <a:endParaRPr/>
          </a:p>
        </p:txBody>
      </p:sp>
      <p:pic>
        <p:nvPicPr>
          <p:cNvPr id="304" name="Google Shape;3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8924" y="975549"/>
            <a:ext cx="1352550" cy="1087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688" y="2429813"/>
            <a:ext cx="124777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3700" y="3757075"/>
            <a:ext cx="825425" cy="6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Unlock the Power of the IDE</a:t>
            </a:r>
            <a:endParaRPr/>
          </a:p>
        </p:txBody>
      </p:sp>
      <p:sp>
        <p:nvSpPr>
          <p:cNvPr id="312" name="Google Shape;312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Emacs/notepad is fine for C code, but modern languages are designed to be written with an IDE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Solves the complexity to type vs complexity to read tradeoff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Minimizes "toil"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for easy navigation of object-oriented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Shortcuts in the IDE are HUGE for productivity, they are absolutely worth learning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vs Stochastic Code Generation</a:t>
            </a:r>
            <a:endParaRPr/>
          </a:p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311700" y="1152475"/>
            <a:ext cx="8520600" cy="39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Deterministic: Compiler, Many IDE tools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need to double-check output (“Just glance through the .class bytecode to make sure it’s right” said no one ever)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Solves specific problems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Non-deterministic (stochastic): LLMs, other ML models, stack overflow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Must double-check output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attempt any problem, but no guarantee of successfully solving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For any problem that </a:t>
            </a:r>
            <a:r>
              <a:rPr b="1" lang="en"/>
              <a:t>can </a:t>
            </a:r>
            <a:r>
              <a:rPr lang="en"/>
              <a:t>be solved deterministically, </a:t>
            </a:r>
            <a:r>
              <a:rPr b="1" lang="en"/>
              <a:t>prefer that option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requires </a:t>
            </a:r>
            <a:r>
              <a:rPr b="1" lang="en"/>
              <a:t>knowing when those options exist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Organize Imports</a:t>
            </a:r>
            <a:endParaRPr/>
          </a:p>
        </p:txBody>
      </p:sp>
      <p:sp>
        <p:nvSpPr>
          <p:cNvPr id="324" name="Google Shape;324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Eclipse shortcut</a:t>
            </a:r>
            <a:r>
              <a:rPr lang="en"/>
              <a:t>: ctrl + shift + 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Doesn't just "organize" existing imports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Searches the classpath for any unreferenced types, and attempts to add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Classic API design: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 package structure is an </a:t>
            </a:r>
            <a:r>
              <a:rPr b="1" lang="en"/>
              <a:t>implementation detail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library classes/interfaces are the </a:t>
            </a:r>
            <a:r>
              <a:rPr b="1" lang="en"/>
              <a:t>API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Organize imports = "Hey IDE, I want this class. Go find it for me"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Auto-Refactor</a:t>
            </a:r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Eclipse shortcut</a:t>
            </a:r>
            <a:r>
              <a:rPr lang="en"/>
              <a:t>: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Rename: alt + shift + 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Extract method: alt + shift + 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Rename Classes/parameters/methods/interfaces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Extract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Reduces the cost of readability/maintainability fixes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Autocomplete</a:t>
            </a:r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Eclipse shortcut</a:t>
            </a:r>
            <a:r>
              <a:rPr lang="en"/>
              <a:t>: ctrl + 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Long variables/methods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Prioritize readability without a hit to productivity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Forgot a method? The IDE is here to help!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/>
              <a:t>Eclipse shortcut</a:t>
            </a:r>
            <a:r>
              <a:rPr lang="en"/>
              <a:t>: type . and wait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⇒ Efficiently use a large number of libraries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Object Hierarchy</a:t>
            </a:r>
            <a:endParaRPr/>
          </a:p>
        </p:txBody>
      </p:sp>
      <p:sp>
        <p:nvSpPr>
          <p:cNvPr id="342" name="Google Shape;342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Eclipse shortcut</a:t>
            </a:r>
            <a:r>
              <a:rPr lang="en"/>
              <a:t>: ctrl + click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Object Oriented Programming has tons of classes, interfaces, and instance variables that all interact across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Navigating in the file structure is sloooooow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context switching is expensive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⇒ reasoning about the whole system is difficult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Better: click-through navigation in the 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Many More!</a:t>
            </a:r>
            <a:endParaRPr/>
          </a:p>
        </p:txBody>
      </p:sp>
      <p:sp>
        <p:nvSpPr>
          <p:cNvPr id="348" name="Google Shape;348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Deterministic generation (no generative AI, please!):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hashcode/equals/toString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getters/setters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try/catch blocks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unimplemented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Auto-format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"On save" 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Review!</a:t>
            </a:r>
            <a:endParaRPr/>
          </a:p>
        </p:txBody>
      </p:sp>
      <p:sp>
        <p:nvSpPr>
          <p:cNvPr id="354" name="Google Shape;354;p56"/>
          <p:cNvSpPr txBox="1"/>
          <p:nvPr>
            <p:ph idx="1" type="body"/>
          </p:nvPr>
        </p:nvSpPr>
        <p:spPr>
          <a:xfrm>
            <a:off x="311700" y="1152475"/>
            <a:ext cx="8520600" cy="38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you should know from this week that might be on an exam: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Version Control</a:t>
            </a:r>
            <a:r>
              <a:rPr lang="en"/>
              <a:t>: What is it, what are branches, when would you use a feature vs. release branch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Github Workflow</a:t>
            </a:r>
            <a:r>
              <a:rPr lang="en"/>
              <a:t>: What is a Pull Request, what is branch protection, what are status checks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Code Reviews</a:t>
            </a:r>
            <a:r>
              <a:rPr lang="en"/>
              <a:t>: Why have them, the 3 features of a good code review process, tips for structuring code and commits for review, and the 3 steps in giving a code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Style Conventions</a:t>
            </a:r>
            <a:r>
              <a:rPr lang="en"/>
              <a:t>: What are some common ones, why are they important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Continuous Integration</a:t>
            </a:r>
            <a:r>
              <a:rPr lang="en"/>
              <a:t>: What are some examples, what are some benefits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Pair Programming</a:t>
            </a:r>
            <a:r>
              <a:rPr lang="en"/>
              <a:t>: What is it, and what problem with standard code reviews does it solve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Build Tools: </a:t>
            </a:r>
            <a:r>
              <a:rPr lang="en"/>
              <a:t>Common tools, why they're useful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IDEs</a:t>
            </a:r>
            <a:r>
              <a:rPr lang="en"/>
              <a:t>: Common IDEs, why they're useful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