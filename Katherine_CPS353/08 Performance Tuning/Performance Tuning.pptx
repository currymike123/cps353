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0f9e6b98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0f9e6b98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f9e6b984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0f9e6b984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0f9e6b984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0f9e6b984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0f9e6b9843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0f9e6b9843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0f9e6b984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0f9e6b984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0f9e6b984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0f9e6b984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0f9e6b984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0f9e6b984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0f9e6b984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0f9e6b984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0f9e6b984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0f9e6b984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0f9e6b9843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0f9e6b9843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0f9e6b984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0f9e6b984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0f9e6b9843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0f9e6b9843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0f9e6b9843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0f9e6b984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0f9e6b9843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0f9e6b9843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0f9e6b9843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0f9e6b9843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0f9e6b9843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0f9e6b9843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0f9e6b984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0f9e6b984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0f9e6b9843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0f9e6b984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0f9e6b9843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0f9e6b9843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0f9e6b9843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0f9e6b984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0f9e6b9843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0f9e6b9843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0f9e6b9843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0f9e6b9843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0f9e6b9843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0f9e6b9843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0f9e6b9843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0f9e6b9843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106bdf97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106bdf97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9534576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a9534576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95345760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a95345760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95345760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a95345760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95345760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a95345760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95345760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a95345760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95345760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a95345760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a95345760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a95345760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a953457605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a95345760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95345760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a95345760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953457605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a953457605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95345760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a95345760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95345760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95345760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953457605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a953457605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953457605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a953457605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953457605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a953457605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a953457605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a953457605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a953457605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a953457605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953457605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a953457605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a953457605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a953457605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Priorities for Software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</a:t>
            </a:r>
            <a:r>
              <a:rPr lang="en"/>
              <a:t>orrectness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</a:t>
            </a:r>
            <a:r>
              <a:rPr lang="en"/>
              <a:t>erformance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U</a:t>
            </a:r>
            <a:r>
              <a:rPr lang="en"/>
              <a:t>sability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⇒ Once you have a minimal viable product (correctness), make it fast "enough"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⇒ Once it's fast enough, get user feedback to iterate on ease-of-use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Fast Enough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clear-cut definition, but some factors: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User-perceptible lag (&gt;100 ms)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User-annoying lag (&gt;1000ms)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Common system configurations vs underpowered ones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Time to system failure/interrupt (10 hour download, 72 hour task)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Tuning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624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Premature optimization</a:t>
            </a:r>
            <a:r>
              <a:rPr lang="en"/>
              <a:t> is doing performance tuning before you have correctness finished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Grey areas around design decisions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Downsides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Waste of time (bottlenecks don't end up being what you expect)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Complicates code unnecessarily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1173" y="186475"/>
            <a:ext cx="2314198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Tuned Code Gets Messy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148125" y="1152475"/>
            <a:ext cx="423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000">
                <a:solidFill>
                  <a:srgbClr val="3F7F5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NOT THREAD SAFE. Omits a bunch of checks for the sake of speed, relying on our specific</a:t>
            </a:r>
            <a:endParaRPr sz="1000">
              <a:solidFill>
                <a:srgbClr val="3F7F5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000">
                <a:solidFill>
                  <a:srgbClr val="3F7F5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calling context</a:t>
            </a:r>
            <a:endParaRPr sz="1000">
              <a:solidFill>
                <a:srgbClr val="3F7F5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D4D4D4"/>
                </a:highlight>
                <a:latin typeface="Consolas"/>
                <a:ea typeface="Consolas"/>
                <a:cs typeface="Consolas"/>
                <a:sym typeface="Consolas"/>
              </a:rPr>
              <a:t>readLine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[]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readInto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throws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IOException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	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pos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startChar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omitLF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0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skipLF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(;;)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	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nextChar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&gt;= </a:t>
            </a:r>
            <a:r>
              <a:rPr lang="en" sz="10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nChars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		fill();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	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nextChar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&gt;= </a:t>
            </a:r>
            <a:r>
              <a:rPr lang="en" sz="10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nChars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 </a:t>
            </a:r>
            <a:r>
              <a:rPr lang="en" sz="1000">
                <a:solidFill>
                  <a:srgbClr val="3F7F5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EOF */</a:t>
            </a:r>
            <a:endParaRPr sz="1000">
              <a:solidFill>
                <a:srgbClr val="3F7F5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		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pos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	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	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eol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	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	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	</a:t>
            </a:r>
            <a:r>
              <a:rPr lang="en" sz="1000">
                <a:solidFill>
                  <a:srgbClr val="3F7F5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Skip a leftover '\n', if necessary */</a:t>
            </a:r>
            <a:endParaRPr sz="1000">
              <a:solidFill>
                <a:srgbClr val="3F7F5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	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omitLF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&amp;&amp; (</a:t>
            </a:r>
            <a:r>
              <a:rPr lang="en" sz="10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cb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nextChar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== 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'\n'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		</a:t>
            </a:r>
            <a:r>
              <a:rPr lang="en" sz="10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nextChar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++;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	</a:t>
            </a:r>
            <a:r>
              <a:rPr lang="en" sz="10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skipLF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	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omitLF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3F7F5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4578900" y="1152475"/>
            <a:ext cx="455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	charLoop: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		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0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nextChar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" sz="10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nChars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			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0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cb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			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((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'\n'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|| (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'\r'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				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eol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				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break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charLoop;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			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		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	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startChar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0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nextChar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	</a:t>
            </a:r>
            <a:r>
              <a:rPr lang="en" sz="10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nextChar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	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eol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		System.</a:t>
            </a:r>
            <a:r>
              <a:rPr i="1"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arraycopy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cb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startChar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readInto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pos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startChar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		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pos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+= (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startChar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		</a:t>
            </a:r>
            <a:r>
              <a:rPr lang="en" sz="10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nextChar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++;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		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'\r'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			</a:t>
            </a:r>
            <a:r>
              <a:rPr lang="en" sz="10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skipLF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		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		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pos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	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	System.</a:t>
            </a:r>
            <a:r>
              <a:rPr i="1"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arraycopy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cb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startChar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readInto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pos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startChar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	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pos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+= (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startChar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3F7F5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6" name="Google Shape;76;p16"/>
          <p:cNvCxnSpPr/>
          <p:nvPr/>
        </p:nvCxnSpPr>
        <p:spPr>
          <a:xfrm flipH="1">
            <a:off x="4428975" y="1150775"/>
            <a:ext cx="8100" cy="343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Tuning - Why It Matters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Something that's "a little slow" on a dev machine with a fios internet connection is likely unusable on a phone over a 3G network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Global accessibility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Wider user base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Build other components on top of existing software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Constant Factors vs Big-O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We're mainly focusing on constant factors here, but it's worth noting: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 algorithmic improvement is often orders of magnitude faster than tweaking constants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Changing underlying algorithms is non-trivial, though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Tune for Performance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Always, always, always </a:t>
            </a:r>
            <a:r>
              <a:rPr b="1" lang="en"/>
              <a:t>measure </a:t>
            </a:r>
            <a:r>
              <a:rPr lang="en"/>
              <a:t>to see where performance bottlenecks are, do not try to guess.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Real life example: a buggy cache lookup introduced a 30% slowdown to the 'save changes' pipeline (in a situation that auto-saved on keystroke)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Once you know what </a:t>
            </a:r>
            <a:r>
              <a:rPr b="1" lang="en"/>
              <a:t>method </a:t>
            </a:r>
            <a:r>
              <a:rPr lang="en"/>
              <a:t>causes a bottleneck, then investigate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Having tightly scoped methods helps with this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Issue Causes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Once you have a method that's causing problems, things to look for: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- Loops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- Network calls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- File system writes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 - Locking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Issue Causes</a:t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Ex: Loops</a:t>
            </a:r>
            <a:endParaRPr/>
          </a:p>
          <a:p>
            <a:pPr indent="0" lvl="0" marL="25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4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4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doAThing() {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4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4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4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0; </a:t>
            </a:r>
            <a:r>
              <a:rPr lang="en" sz="14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&lt; 1_000_000; </a:t>
            </a:r>
            <a:r>
              <a:rPr lang="en" sz="14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b="1" lang="en" sz="14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multiple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Math.</a:t>
            </a:r>
            <a:r>
              <a:rPr i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pow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(3,9);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" sz="14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*= </a:t>
            </a:r>
            <a:r>
              <a:rPr lang="en" sz="14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multiple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System.</a:t>
            </a:r>
            <a:r>
              <a:rPr b="1" i="1" lang="en" sz="14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.println(</a:t>
            </a:r>
            <a:r>
              <a:rPr lang="en" sz="14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Factor out common logic from </a:t>
            </a:r>
            <a:r>
              <a:rPr b="1" lang="en"/>
              <a:t>inner loops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Issue Causes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Ex: Loops</a:t>
            </a:r>
            <a:endParaRPr/>
          </a:p>
          <a:p>
            <a:pPr indent="0" lvl="0" marL="25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4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4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doAThing() {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4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400">
                <a:solidFill>
                  <a:srgbClr val="7F005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" sz="14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00">
                <a:solidFill>
                  <a:srgbClr val="6A3E3E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multiple</a:t>
            </a:r>
            <a:r>
              <a:rPr lang="en" sz="14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= Math.</a:t>
            </a:r>
            <a:r>
              <a:rPr i="1" lang="en" sz="14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pow</a:t>
            </a:r>
            <a:r>
              <a:rPr lang="en" sz="14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(3,9);</a:t>
            </a:r>
            <a:endParaRPr sz="14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4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4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0; </a:t>
            </a:r>
            <a:r>
              <a:rPr lang="en" sz="14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&lt; 1_000_000; </a:t>
            </a:r>
            <a:r>
              <a:rPr lang="en" sz="14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" sz="14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*= </a:t>
            </a:r>
            <a:r>
              <a:rPr lang="en" sz="14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multiple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System.</a:t>
            </a:r>
            <a:r>
              <a:rPr b="1" i="1" lang="en" sz="14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.println(</a:t>
            </a:r>
            <a:r>
              <a:rPr lang="en" sz="14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Better</a:t>
            </a:r>
            <a:r>
              <a:rPr lang="en"/>
              <a:t>: multiple only gets calculated once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Issue Causes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8520600" cy="36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Ex: Network Calls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Cross-network APIs (should) provide a </a:t>
            </a:r>
            <a:r>
              <a:rPr b="1" lang="en"/>
              <a:t>batch/bulk</a:t>
            </a:r>
            <a:r>
              <a:rPr lang="en"/>
              <a:t> read option, use that for large amounts of data</a:t>
            </a:r>
            <a:endParaRPr/>
          </a:p>
        </p:txBody>
      </p:sp>
      <p:sp>
        <p:nvSpPr>
          <p:cNvPr id="119" name="Google Shape;119;p23"/>
          <p:cNvSpPr txBox="1"/>
          <p:nvPr/>
        </p:nvSpPr>
        <p:spPr>
          <a:xfrm>
            <a:off x="228600" y="1600200"/>
            <a:ext cx="8163900" cy="23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List&lt;String&gt; loadDatabaseTable(Database </a:t>
            </a:r>
            <a:r>
              <a:rPr lang="en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db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String </a:t>
            </a:r>
            <a:r>
              <a:rPr lang="en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table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List&lt;String&gt; </a:t>
            </a:r>
            <a:r>
              <a:rPr lang="en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loadedData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ArrayList&lt;&gt;();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numRows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db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.getSizeOfTable(</a:t>
            </a:r>
            <a:r>
              <a:rPr lang="en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table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0; </a:t>
            </a:r>
            <a:r>
              <a:rPr lang="en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numRows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loadedData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.add(</a:t>
            </a:r>
            <a:r>
              <a:rPr lang="en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db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.getRow(</a:t>
            </a:r>
            <a:r>
              <a:rPr lang="en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table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loadedData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Issue Causes</a:t>
            </a:r>
            <a:endParaRPr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1152475"/>
            <a:ext cx="8520600" cy="36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Ex: Network Calls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Better: </a:t>
            </a:r>
            <a:r>
              <a:rPr lang="en"/>
              <a:t>only 1 + #pages network calls, plus bonus avoid resizing the list</a:t>
            </a:r>
            <a:endParaRPr/>
          </a:p>
        </p:txBody>
      </p:sp>
      <p:sp>
        <p:nvSpPr>
          <p:cNvPr id="126" name="Google Shape;126;p24"/>
          <p:cNvSpPr txBox="1"/>
          <p:nvPr/>
        </p:nvSpPr>
        <p:spPr>
          <a:xfrm>
            <a:off x="228600" y="1600200"/>
            <a:ext cx="81639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List&lt;String&gt; loadDatabaseTable(Database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db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String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table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numRows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db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.getSizeOfTable(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table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List&lt;String&gt;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loadedData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ArrayList&lt;&gt;(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numRows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Iterator&lt;String&gt;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rowCursor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db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.getRows(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table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rowCursor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.hasNext()) 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String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row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rowCursor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.next();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loadedData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.add(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row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loadedData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Issue Causes</a:t>
            </a:r>
            <a:endParaRPr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Ex: File System Writes</a:t>
            </a:r>
            <a:endParaRPr/>
          </a:p>
          <a:p>
            <a:pPr indent="0" lvl="0" marL="25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writeSomeData(FileWriter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throws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IOException 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0;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&lt; 10;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String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largeDataBlob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expensiveCalculation(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.write(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largeDataBlob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highlight>
                  <a:srgbClr val="FFFFFF"/>
                </a:highlight>
              </a:rPr>
              <a:t>Several solutions: </a:t>
            </a:r>
            <a:endParaRPr sz="1600">
              <a:highlight>
                <a:srgbClr val="FFFFFF"/>
              </a:highlight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>
                <a:highlight>
                  <a:srgbClr val="FFFFFF"/>
                </a:highlight>
              </a:rPr>
              <a:t>Producer/Consumer pattern</a:t>
            </a:r>
            <a:endParaRPr sz="1600">
              <a:highlight>
                <a:srgbClr val="FFFFFF"/>
              </a:highlight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>
                <a:highlight>
                  <a:srgbClr val="FFFFFF"/>
                </a:highlight>
              </a:rPr>
              <a:t>Buffering (some built in, but might need more)</a:t>
            </a:r>
            <a:endParaRPr sz="16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Issue Causes</a:t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Ex: File System Writes</a:t>
            </a:r>
            <a:endParaRPr/>
          </a:p>
          <a:p>
            <a:pPr indent="0" lvl="0" marL="25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4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4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writeSomeData(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BufferedWriter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n" sz="14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throws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IOException {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4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4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0; </a:t>
            </a:r>
            <a:r>
              <a:rPr lang="en" sz="14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&lt; 10; </a:t>
            </a:r>
            <a:r>
              <a:rPr lang="en" sz="14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String </a:t>
            </a:r>
            <a:r>
              <a:rPr lang="en" sz="14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largeDataBlob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expensiveCalculation(</a:t>
            </a:r>
            <a:r>
              <a:rPr lang="en" sz="14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" sz="14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.write(</a:t>
            </a:r>
            <a:r>
              <a:rPr lang="en" sz="14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largeDataBlob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FFFFFF"/>
                </a:highlight>
              </a:rPr>
              <a:t>Better</a:t>
            </a:r>
            <a:r>
              <a:rPr lang="en" sz="1600">
                <a:highlight>
                  <a:srgbClr val="FFFFFF"/>
                </a:highlight>
              </a:rPr>
              <a:t>: Default buffer size for BufferedWriter is 8k, vs 1k for FileWriter</a:t>
            </a:r>
            <a:endParaRPr sz="16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highlight>
                  <a:srgbClr val="FFFFFF"/>
                </a:highlight>
              </a:rPr>
              <a:t>⇒ Often, performance tuning means poking under the hood for library classes</a:t>
            </a:r>
            <a:endParaRPr sz="16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Issue Causes</a:t>
            </a:r>
            <a:endParaRPr/>
          </a:p>
        </p:txBody>
      </p:sp>
      <p:sp>
        <p:nvSpPr>
          <p:cNvPr id="144" name="Google Shape;144;p27"/>
          <p:cNvSpPr txBox="1"/>
          <p:nvPr>
            <p:ph idx="1" type="body"/>
          </p:nvPr>
        </p:nvSpPr>
        <p:spPr>
          <a:xfrm>
            <a:off x="311700" y="1152475"/>
            <a:ext cx="196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Ex: Locking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threads spend a lot of time in </a:t>
            </a:r>
            <a:r>
              <a:rPr b="1" lang="en"/>
              <a:t>blocked wait</a:t>
            </a:r>
            <a:r>
              <a:rPr lang="en"/>
              <a:t>, revisit ways to improve parallelism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7"/>
          <p:cNvSpPr txBox="1"/>
          <p:nvPr/>
        </p:nvSpPr>
        <p:spPr>
          <a:xfrm>
            <a:off x="2514600" y="990600"/>
            <a:ext cx="5781600" cy="3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currentCount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doARead(Semaphore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throws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InterruptedException 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.acquire();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try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currentCount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finally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.release();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doAWrite(Semaphore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throws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InterruptedException 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acquire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try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2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currentCount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++;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finally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.release();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D4D4D4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highlight>
                <a:srgbClr val="D4D4D4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Issue Causes</a:t>
            </a:r>
            <a:endParaRPr/>
          </a:p>
        </p:txBody>
      </p:sp>
      <p:sp>
        <p:nvSpPr>
          <p:cNvPr id="151" name="Google Shape;151;p28"/>
          <p:cNvSpPr txBox="1"/>
          <p:nvPr>
            <p:ph idx="1" type="body"/>
          </p:nvPr>
        </p:nvSpPr>
        <p:spPr>
          <a:xfrm>
            <a:off x="311700" y="1152475"/>
            <a:ext cx="196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Ex: Locking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Better: </a:t>
            </a:r>
            <a:r>
              <a:rPr lang="en"/>
              <a:t>Use a ReadWriteLock to allow multiple reads at once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8"/>
          <p:cNvSpPr txBox="1"/>
          <p:nvPr/>
        </p:nvSpPr>
        <p:spPr>
          <a:xfrm>
            <a:off x="2514600" y="990600"/>
            <a:ext cx="6260400" cy="39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currentCount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doARead(ReadWriteLock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throws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InterruptedException 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.readLock().lock();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try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currentCount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finally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.readLock().</a:t>
            </a: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unlock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doAWrite(ReadWriteLock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throws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InterruptedException 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.writeLock().lock();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try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2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currentCount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++;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finally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.writeLock().</a:t>
            </a: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unlock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7F005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Turn!</a:t>
            </a:r>
            <a:endParaRPr/>
          </a:p>
        </p:txBody>
      </p:sp>
      <p:sp>
        <p:nvSpPr>
          <p:cNvPr id="158" name="Google Shape;15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Clone the PerformanceTuningExercises repo from the link on Brightspace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Find the thisMethodIsTooSlow method in the exercise1 package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Change the method in a way that's likely to make it run faster (we'll cover how to measure that in a bit)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Testing</a:t>
            </a:r>
            <a:endParaRPr/>
          </a:p>
        </p:txBody>
      </p:sp>
      <p:sp>
        <p:nvSpPr>
          <p:cNvPr id="164" name="Google Shape;16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Benchmarks </a:t>
            </a:r>
            <a:r>
              <a:rPr lang="en"/>
              <a:t>serve as regression tests for performance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Standard set of operations covering most major behavior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Known amount of time to run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small standard deviation in the time it takes to run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run usefully: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Same/similar hardware or environment (virtualization often doesn't work)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Ideally, run many times and averaged (micro benchmarks)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Testing</a:t>
            </a:r>
            <a:endParaRPr/>
          </a:p>
        </p:txBody>
      </p:sp>
      <p:sp>
        <p:nvSpPr>
          <p:cNvPr id="170" name="Google Shape;17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Always benchmark before and after </a:t>
            </a:r>
            <a:r>
              <a:rPr b="1" lang="en"/>
              <a:t>each</a:t>
            </a:r>
            <a:r>
              <a:rPr lang="en"/>
              <a:t> change that you make to address a performance issue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commit 1 improves performance by 10%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commit 2 degrades performance by 5%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Combined, there's still a performance improvement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 Tests</a:t>
            </a:r>
            <a:endParaRPr/>
          </a:p>
        </p:txBody>
      </p:sp>
      <p:sp>
        <p:nvSpPr>
          <p:cNvPr id="176" name="Google Shape;176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 to compare a </a:t>
            </a:r>
            <a:r>
              <a:rPr b="1" lang="en"/>
              <a:t>baseline</a:t>
            </a:r>
            <a:r>
              <a:rPr lang="en"/>
              <a:t> to a changed valued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Hardcode (or store in a config file) a known baseline value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similar to 'golden tests' for UI testing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should fail for </a:t>
            </a:r>
            <a:r>
              <a:rPr b="1" lang="en"/>
              <a:t>both </a:t>
            </a:r>
            <a:r>
              <a:rPr lang="en"/>
              <a:t>sufficiently large improvements and regressions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end-to-end tests (or localized testing), often possible to run on two different versions within the test and directly compare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Greater resiliency to changing hardware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Auto-updates to new good values, so no need to fail for improvements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 Tests</a:t>
            </a:r>
            <a:endParaRPr/>
          </a:p>
        </p:txBody>
      </p:sp>
      <p:sp>
        <p:nvSpPr>
          <p:cNvPr id="182" name="Google Shape;182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big should a change be before getting flagged?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Depends on the variability within the test (avoid false positives)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Larger values risk creeping slowdowns over time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10% is a common value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combined with comparing to the previous major release as well as previous commits to minimize incremental slowdowns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Trade Offs</a:t>
            </a:r>
            <a:endParaRPr/>
          </a:p>
        </p:txBody>
      </p:sp>
      <p:sp>
        <p:nvSpPr>
          <p:cNvPr id="188" name="Google Shape;188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one part faster in exchange for another part becoming slower.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 Binary Search Tree vs Array List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Insert is slower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Lookup is faster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Trade Offs</a:t>
            </a:r>
            <a:endParaRPr/>
          </a:p>
        </p:txBody>
      </p:sp>
      <p:sp>
        <p:nvSpPr>
          <p:cNvPr id="194" name="Google Shape;194;p35"/>
          <p:cNvSpPr txBox="1"/>
          <p:nvPr>
            <p:ph idx="1" type="body"/>
          </p:nvPr>
        </p:nvSpPr>
        <p:spPr>
          <a:xfrm>
            <a:off x="311700" y="1152475"/>
            <a:ext cx="8520600" cy="3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pitfall: "micro" benchmarks that just test constant factors for very small cases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Make sure you aren't making an already-fast task faster at the expense of a slower task becoming slower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Do not measure performance in nanoseconds </a:t>
            </a:r>
            <a:r>
              <a:rPr lang="en"/>
              <a:t>- nanos make it hard to tell if you've got a micro benchmark.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For java, use System.currentTimeMillis()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Benchmarks should take 8-60 ms (still fast, slow enough to give real data)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Trade Offs</a:t>
            </a:r>
            <a:endParaRPr/>
          </a:p>
        </p:txBody>
      </p:sp>
      <p:sp>
        <p:nvSpPr>
          <p:cNvPr id="200" name="Google Shape;200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 any trade-offs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Typically in comments in the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For major design decisions that impact how the system is used, document in the README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 'Using bit-packing here to allow fully in-memory lookups of data' is a good class comment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  'Requires running with a jvm with a 32GB heap' should go in the README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Benchmark Test</a:t>
            </a:r>
            <a:endParaRPr/>
          </a:p>
        </p:txBody>
      </p:sp>
      <p:sp>
        <p:nvSpPr>
          <p:cNvPr id="206" name="Google Shape;206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To the IDE!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Program Performance</a:t>
            </a:r>
            <a:endParaRPr/>
          </a:p>
        </p:txBody>
      </p:sp>
      <p:sp>
        <p:nvSpPr>
          <p:cNvPr id="212" name="Google Shape;212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Ways to measure performance: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YourKit/instrumentation (YourKit is sadly no longer free)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Timing logging wrappers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System-level utilities (top, iostat, ping/netstat)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When all else fails: kill -3 produces thread dumps and can be called repeatedly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Instrumentation Tools</a:t>
            </a:r>
            <a:endParaRPr/>
          </a:p>
        </p:txBody>
      </p:sp>
      <p:sp>
        <p:nvSpPr>
          <p:cNvPr id="218" name="Google Shape;218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YourKit - if $ is involved, use this, it's worth 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JConsole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better UI than kill -3 (and works on Windows)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supports remote debugging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Building block for many frameworks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Included with the JDK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Instrumentation Tools</a:t>
            </a:r>
            <a:endParaRPr/>
          </a:p>
        </p:txBody>
      </p:sp>
      <p:sp>
        <p:nvSpPr>
          <p:cNvPr id="224" name="Google Shape;224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JConsole limitations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Requires manual steps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Imprecise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⇒ This is a tool to give you a rough idea where to start looking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Do </a:t>
            </a:r>
            <a:r>
              <a:rPr b="1" lang="en"/>
              <a:t>not</a:t>
            </a:r>
            <a:r>
              <a:rPr lang="en"/>
              <a:t> try to replace benchmarks with JConsole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JConsole</a:t>
            </a:r>
            <a:endParaRPr/>
          </a:p>
        </p:txBody>
      </p:sp>
      <p:sp>
        <p:nvSpPr>
          <p:cNvPr id="230" name="Google Shape;230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Executable (called 'jconsole') located in &lt;path to jdk&gt;/bin</a:t>
            </a:r>
            <a:endParaRPr/>
          </a:p>
        </p:txBody>
      </p:sp>
      <p:pic>
        <p:nvPicPr>
          <p:cNvPr id="231" name="Google Shape;23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638" y="1675413"/>
            <a:ext cx="7362825" cy="27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JConsole</a:t>
            </a:r>
            <a:endParaRPr/>
          </a:p>
        </p:txBody>
      </p:sp>
      <p:sp>
        <p:nvSpPr>
          <p:cNvPr id="237" name="Google Shape;237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For local testing, often helpful to put a breakpoint at the beginning of main until you have JConsole connected</a:t>
            </a:r>
            <a:endParaRPr/>
          </a:p>
        </p:txBody>
      </p:sp>
      <p:pic>
        <p:nvPicPr>
          <p:cNvPr id="238" name="Google Shape;23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1275" y="1677725"/>
            <a:ext cx="4635074" cy="346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JConsole</a:t>
            </a:r>
            <a:endParaRPr/>
          </a:p>
        </p:txBody>
      </p:sp>
      <p:sp>
        <p:nvSpPr>
          <p:cNvPr id="244" name="Google Shape;244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local testing, often helpful to put a breakpoint at the beginning of main until you have JConsole connected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it complains about no SSL,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that's ok, just use an insecure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connection</a:t>
            </a:r>
            <a:endParaRPr/>
          </a:p>
        </p:txBody>
      </p:sp>
      <p:pic>
        <p:nvPicPr>
          <p:cNvPr id="245" name="Google Shape;24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1275" y="1677725"/>
            <a:ext cx="4635074" cy="346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2043" y="0"/>
            <a:ext cx="615991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3144" y="0"/>
            <a:ext cx="615771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4443" y="0"/>
            <a:ext cx="615991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Turn!</a:t>
            </a:r>
            <a:endParaRPr/>
          </a:p>
        </p:txBody>
      </p:sp>
      <p:sp>
        <p:nvSpPr>
          <p:cNvPr id="272" name="Google Shape;272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Start with the code in the exercise2 package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Don't look at the code for MysteryClass yet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Use JConsole to find the method call(s)/section of code in PerformanceTuning.main that's causing a bottleneck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Timing Logging</a:t>
            </a:r>
            <a:endParaRPr/>
          </a:p>
        </p:txBody>
      </p:sp>
      <p:sp>
        <p:nvSpPr>
          <p:cNvPr id="278" name="Google Shape;278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Easier to investigate after the fact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Useful when no remote debugging is possible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provide arbitrary details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You have to build it or buy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Be careful the logging itself doesn't cause slowdowns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Timing Logging</a:t>
            </a:r>
            <a:endParaRPr/>
          </a:p>
        </p:txBody>
      </p:sp>
      <p:sp>
        <p:nvSpPr>
          <p:cNvPr id="284" name="Google Shape;284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wrapper around the relevant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Based on some condition, record stats on that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Common conditions: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always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when 'debug' logging is enabled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when a ThreadLocal flag is set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ThreadLocal</a:t>
            </a:r>
            <a:endParaRPr/>
          </a:p>
        </p:txBody>
      </p:sp>
      <p:sp>
        <p:nvSpPr>
          <p:cNvPr id="290" name="Google Shape;290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Useful type for multithreaded situations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Under the hood, it’s a Map with Thread objects as keys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Can be used like a “global stack” - it’s not a local variable or parameter, but also (effectively) not shared between threads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Timing Logging</a:t>
            </a:r>
            <a:endParaRPr/>
          </a:p>
        </p:txBody>
      </p:sp>
      <p:sp>
        <p:nvSpPr>
          <p:cNvPr id="296" name="Google Shape;296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wrapper around the relevant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Based on some condition, record stats on that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Common stats: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often it's called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immediate caller (stack trace)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long it runs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Timing Logging</a:t>
            </a:r>
            <a:endParaRPr/>
          </a:p>
        </p:txBody>
      </p:sp>
      <p:sp>
        <p:nvSpPr>
          <p:cNvPr id="302" name="Google Shape;302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Periodically, record the timing logging somewhere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central monitoring server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file system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Timing Logging Example</a:t>
            </a:r>
            <a:endParaRPr/>
          </a:p>
        </p:txBody>
      </p:sp>
      <p:sp>
        <p:nvSpPr>
          <p:cNvPr id="308" name="Google Shape;308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To the IDE!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Tuning: Caching</a:t>
            </a:r>
            <a:endParaRPr/>
          </a:p>
        </p:txBody>
      </p:sp>
      <p:sp>
        <p:nvSpPr>
          <p:cNvPr id="314" name="Google Shape;314;p54"/>
          <p:cNvSpPr txBox="1"/>
          <p:nvPr>
            <p:ph idx="1" type="body"/>
          </p:nvPr>
        </p:nvSpPr>
        <p:spPr>
          <a:xfrm>
            <a:off x="311700" y="1152475"/>
            <a:ext cx="8520600" cy="38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Avoid doing an expensive operation (network call, file system read, large computation) multiple times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Lots of memory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Cache invalidation when data changes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Tuning: Caching</a:t>
            </a:r>
            <a:endParaRPr/>
          </a:p>
        </p:txBody>
      </p:sp>
      <p:sp>
        <p:nvSpPr>
          <p:cNvPr id="320" name="Google Shape;320;p55"/>
          <p:cNvSpPr txBox="1"/>
          <p:nvPr>
            <p:ph idx="1" type="body"/>
          </p:nvPr>
        </p:nvSpPr>
        <p:spPr>
          <a:xfrm>
            <a:off x="311700" y="1152475"/>
            <a:ext cx="8520600" cy="38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Suppliers.memoize() - since grpc pulls in Guava, this is already on your classpath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Supplier&lt;Integer&gt; numRows = Suppliers.memoize(() -&gt; loadNumRowsFromDb());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CacheBuilder - more options for complex caches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Most common: maximumSize, expireAfterWrite, expireAfterAccess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Other less common features: 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a "weight" instead of a count (maximumWeight, Weigher)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weakKeys, softValues (less useful for classic caching)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Review</a:t>
            </a:r>
            <a:endParaRPr/>
          </a:p>
        </p:txBody>
      </p:sp>
      <p:sp>
        <p:nvSpPr>
          <p:cNvPr id="326" name="Google Shape;326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When in the development cycle should you focus on performance tuning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Some factors to consider when deciding if a system needs further performance improvements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Why you should base performance tuning on measurements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is a benchmark, and how would you create a good 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Common sources of performance bottlenecks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Common tools to detect a bottleneck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