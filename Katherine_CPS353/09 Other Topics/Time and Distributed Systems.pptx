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5f5037b6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5f5037b6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5f5037b6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5f5037b6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5f5037b6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5f5037b6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5f5037b6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5f5037b6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5f5037b6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5f5037b6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5f5037b6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15f5037b6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5f5037b6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5f5037b6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5f5037b6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5f5037b6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5f5037b6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5f5037b6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5f5037b6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5f5037b6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5f5037b6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5f5037b6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5f5037b6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5f5037b6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5f5037b6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5f5037b6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616c9ad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616c9ad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616c9ad7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616c9ad7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616c9ad7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1616c9ad7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5f5037b6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5f5037b6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5f5037b6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15f5037b6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616c9ad7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1616c9ad7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192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Engineering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281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Causality &amp; Distributed Systems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7113" y="0"/>
            <a:ext cx="4769775" cy="335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With Users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far: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Multi-process for performance reasons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Other uses too: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Geographically spaced backups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Improved latency for users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Multi-Process With Users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1, connected to Server 1, changes some state at time t</a:t>
            </a:r>
            <a:r>
              <a:rPr baseline="-25000" lang="en"/>
              <a:t>1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Ex: picking up an item off the ground in a game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 2, connected to Server 2, wants to change the same state at time t</a:t>
            </a:r>
            <a:r>
              <a:rPr baseline="-25000" lang="en"/>
              <a:t>2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should happen?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Clock Drift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themselves, two servers can't provide a consistent ordering of events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practice, clocks drift constantly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to order events anyway?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Time Server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NTP (Network Time Protocol) to sync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common: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pool.ntp.org (or filtered versions)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time.nist.gov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reduces clock drift into the millisecond range (typically 200-500ms), but doesn't completely eliminate it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Time Server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Sticking with the central server approach: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to handle conflicting data due to (small, unusual) clock drift?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Time Server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Sticking with the central server approach: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to keep all the servers in sync about the state of </a:t>
            </a:r>
            <a:r>
              <a:rPr lang="en"/>
              <a:t>the world?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Clocks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you don't have a central server?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Geographically remote locations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Air-gapped networks for security reasons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Intermittent connectivity 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high latency connections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More common than you'd think (ex: Taiwan)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Clocks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</a:t>
            </a:r>
            <a:r>
              <a:rPr b="1" lang="en"/>
              <a:t>monotonically increasing</a:t>
            </a:r>
            <a:r>
              <a:rPr lang="en"/>
              <a:t> sequence can be used as a clock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12:01 pm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12: 05 pm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1:10 pm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/>
        </p:nvSpPr>
        <p:spPr>
          <a:xfrm>
            <a:off x="2728000" y="2111125"/>
            <a:ext cx="5370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4624275" y="2078550"/>
            <a:ext cx="27588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</a:t>
            </a:r>
            <a:r>
              <a:rPr baseline="-25000"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Clocks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server maintains a "logical clock" - the time only increases when something happens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server knows what order things happened on for that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problem does this cause?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Clocks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one clock, keep a list of clocks. Now a "timestamp" looks like: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[server 1=t</a:t>
            </a:r>
            <a:r>
              <a:rPr baseline="-25000" lang="en"/>
              <a:t>1</a:t>
            </a:r>
            <a:r>
              <a:rPr lang="en"/>
              <a:t>, server 2 = t</a:t>
            </a:r>
            <a:r>
              <a:rPr baseline="-25000" lang="en"/>
              <a:t>2</a:t>
            </a:r>
            <a:r>
              <a:rPr lang="en"/>
              <a:t>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server 1, its entry is based on its logical clock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Every other entry is based on the "last time the server synced"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Clocks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do things "happening at the same time" look like in this system?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Clocks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application: git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Instead of servers/logical clocks, git knows about branches and commits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commit = one 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Commits are applied as </a:t>
            </a:r>
            <a:r>
              <a:rPr b="1" lang="en"/>
              <a:t>diffs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Changes happening "at the same time" = merge conflict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Which of the following will cause a merge conflict?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</a:t>
            </a:r>
            <a:endParaRPr/>
          </a:p>
        </p:txBody>
      </p:sp>
      <p:sp>
        <p:nvSpPr>
          <p:cNvPr id="142" name="Google Shape;142;p27"/>
          <p:cNvSpPr txBox="1"/>
          <p:nvPr/>
        </p:nvSpPr>
        <p:spPr>
          <a:xfrm>
            <a:off x="9294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abc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18438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def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1843800" y="22553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123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28344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4g5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46" name="Google Shape;146;p27"/>
          <p:cNvCxnSpPr>
            <a:stCxn id="142" idx="3"/>
            <a:endCxn id="143" idx="1"/>
          </p:cNvCxnSpPr>
          <p:nvPr/>
        </p:nvCxnSpPr>
        <p:spPr>
          <a:xfrm>
            <a:off x="1450200" y="1464825"/>
            <a:ext cx="39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7"/>
          <p:cNvCxnSpPr>
            <a:stCxn id="143" idx="2"/>
            <a:endCxn id="144" idx="0"/>
          </p:cNvCxnSpPr>
          <p:nvPr/>
        </p:nvCxnSpPr>
        <p:spPr>
          <a:xfrm>
            <a:off x="2104200" y="1664925"/>
            <a:ext cx="0" cy="5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7"/>
          <p:cNvCxnSpPr>
            <a:stCxn id="144" idx="3"/>
            <a:endCxn id="145" idx="2"/>
          </p:cNvCxnSpPr>
          <p:nvPr/>
        </p:nvCxnSpPr>
        <p:spPr>
          <a:xfrm flipH="1" rot="10800000">
            <a:off x="2364600" y="1664925"/>
            <a:ext cx="730200" cy="79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7"/>
          <p:cNvCxnSpPr>
            <a:stCxn id="143" idx="3"/>
            <a:endCxn id="145" idx="1"/>
          </p:cNvCxnSpPr>
          <p:nvPr/>
        </p:nvCxnSpPr>
        <p:spPr>
          <a:xfrm>
            <a:off x="2364600" y="1464825"/>
            <a:ext cx="46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27"/>
          <p:cNvSpPr txBox="1"/>
          <p:nvPr/>
        </p:nvSpPr>
        <p:spPr>
          <a:xfrm>
            <a:off x="2834400" y="294787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h6j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40512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7k9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52" name="Google Shape;152;p27"/>
          <p:cNvCxnSpPr>
            <a:stCxn id="145" idx="2"/>
            <a:endCxn id="150" idx="0"/>
          </p:cNvCxnSpPr>
          <p:nvPr/>
        </p:nvCxnSpPr>
        <p:spPr>
          <a:xfrm>
            <a:off x="3094800" y="1664925"/>
            <a:ext cx="0" cy="128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7"/>
          <p:cNvCxnSpPr>
            <a:stCxn id="145" idx="3"/>
            <a:endCxn id="151" idx="1"/>
          </p:cNvCxnSpPr>
          <p:nvPr/>
        </p:nvCxnSpPr>
        <p:spPr>
          <a:xfrm>
            <a:off x="3355200" y="1464825"/>
            <a:ext cx="69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7"/>
          <p:cNvCxnSpPr>
            <a:stCxn id="150" idx="3"/>
            <a:endCxn id="151" idx="2"/>
          </p:cNvCxnSpPr>
          <p:nvPr/>
        </p:nvCxnSpPr>
        <p:spPr>
          <a:xfrm flipH="1" rot="10800000">
            <a:off x="3355200" y="1665075"/>
            <a:ext cx="956400" cy="14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7"/>
          <p:cNvSpPr txBox="1"/>
          <p:nvPr/>
        </p:nvSpPr>
        <p:spPr>
          <a:xfrm>
            <a:off x="164400" y="1297275"/>
            <a:ext cx="696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481800" y="2208775"/>
            <a:ext cx="10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branch1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1548600" y="2970775"/>
            <a:ext cx="10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branch2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</a:t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9294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abc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18438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def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1843800" y="22553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123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28344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4g5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67" name="Google Shape;167;p28"/>
          <p:cNvCxnSpPr>
            <a:stCxn id="163" idx="3"/>
            <a:endCxn id="164" idx="1"/>
          </p:cNvCxnSpPr>
          <p:nvPr/>
        </p:nvCxnSpPr>
        <p:spPr>
          <a:xfrm>
            <a:off x="1450200" y="1464825"/>
            <a:ext cx="39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8"/>
          <p:cNvCxnSpPr>
            <a:stCxn id="164" idx="2"/>
            <a:endCxn id="165" idx="0"/>
          </p:cNvCxnSpPr>
          <p:nvPr/>
        </p:nvCxnSpPr>
        <p:spPr>
          <a:xfrm>
            <a:off x="2104200" y="1664925"/>
            <a:ext cx="0" cy="5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8"/>
          <p:cNvCxnSpPr>
            <a:stCxn id="165" idx="3"/>
            <a:endCxn id="166" idx="2"/>
          </p:cNvCxnSpPr>
          <p:nvPr/>
        </p:nvCxnSpPr>
        <p:spPr>
          <a:xfrm flipH="1" rot="10800000">
            <a:off x="2364600" y="1664925"/>
            <a:ext cx="730200" cy="79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8"/>
          <p:cNvCxnSpPr>
            <a:stCxn id="164" idx="3"/>
            <a:endCxn id="166" idx="1"/>
          </p:cNvCxnSpPr>
          <p:nvPr/>
        </p:nvCxnSpPr>
        <p:spPr>
          <a:xfrm>
            <a:off x="2364600" y="1464825"/>
            <a:ext cx="46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28"/>
          <p:cNvSpPr txBox="1"/>
          <p:nvPr/>
        </p:nvSpPr>
        <p:spPr>
          <a:xfrm>
            <a:off x="1386600" y="33529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h6j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40512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7k9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73" name="Google Shape;173;p28"/>
          <p:cNvCxnSpPr>
            <a:stCxn id="164" idx="2"/>
            <a:endCxn id="171" idx="0"/>
          </p:cNvCxnSpPr>
          <p:nvPr/>
        </p:nvCxnSpPr>
        <p:spPr>
          <a:xfrm flipH="1">
            <a:off x="1647000" y="1664925"/>
            <a:ext cx="457200" cy="168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8"/>
          <p:cNvCxnSpPr>
            <a:stCxn id="166" idx="3"/>
            <a:endCxn id="172" idx="1"/>
          </p:cNvCxnSpPr>
          <p:nvPr/>
        </p:nvCxnSpPr>
        <p:spPr>
          <a:xfrm>
            <a:off x="3355200" y="1464825"/>
            <a:ext cx="69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8"/>
          <p:cNvCxnSpPr>
            <a:stCxn id="171" idx="3"/>
            <a:endCxn id="172" idx="2"/>
          </p:cNvCxnSpPr>
          <p:nvPr/>
        </p:nvCxnSpPr>
        <p:spPr>
          <a:xfrm flipH="1" rot="10800000">
            <a:off x="1907400" y="1664825"/>
            <a:ext cx="2404200" cy="18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8"/>
          <p:cNvSpPr txBox="1"/>
          <p:nvPr/>
        </p:nvSpPr>
        <p:spPr>
          <a:xfrm>
            <a:off x="164400" y="1297275"/>
            <a:ext cx="696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481800" y="2208775"/>
            <a:ext cx="10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branch1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197625" y="3352925"/>
            <a:ext cx="10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branch2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</a:t>
            </a:r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9294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abc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18438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def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1843800" y="22553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123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28344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4g5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88" name="Google Shape;188;p29"/>
          <p:cNvCxnSpPr>
            <a:stCxn id="184" idx="3"/>
            <a:endCxn id="185" idx="1"/>
          </p:cNvCxnSpPr>
          <p:nvPr/>
        </p:nvCxnSpPr>
        <p:spPr>
          <a:xfrm>
            <a:off x="1450200" y="1464825"/>
            <a:ext cx="39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9"/>
          <p:cNvCxnSpPr>
            <a:stCxn id="185" idx="2"/>
            <a:endCxn id="186" idx="0"/>
          </p:cNvCxnSpPr>
          <p:nvPr/>
        </p:nvCxnSpPr>
        <p:spPr>
          <a:xfrm>
            <a:off x="2104200" y="1664925"/>
            <a:ext cx="0" cy="5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9"/>
          <p:cNvCxnSpPr>
            <a:stCxn id="186" idx="3"/>
            <a:endCxn id="187" idx="2"/>
          </p:cNvCxnSpPr>
          <p:nvPr/>
        </p:nvCxnSpPr>
        <p:spPr>
          <a:xfrm flipH="1" rot="10800000">
            <a:off x="2364600" y="1664925"/>
            <a:ext cx="730200" cy="79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9"/>
          <p:cNvCxnSpPr>
            <a:stCxn id="185" idx="3"/>
            <a:endCxn id="187" idx="1"/>
          </p:cNvCxnSpPr>
          <p:nvPr/>
        </p:nvCxnSpPr>
        <p:spPr>
          <a:xfrm>
            <a:off x="2364600" y="1464825"/>
            <a:ext cx="46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29"/>
          <p:cNvSpPr txBox="1"/>
          <p:nvPr/>
        </p:nvSpPr>
        <p:spPr>
          <a:xfrm>
            <a:off x="1752825" y="350757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h6j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4051200" y="1264725"/>
            <a:ext cx="520800" cy="400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7k9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94" name="Google Shape;194;p29"/>
          <p:cNvCxnSpPr>
            <a:stCxn id="186" idx="2"/>
            <a:endCxn id="192" idx="0"/>
          </p:cNvCxnSpPr>
          <p:nvPr/>
        </p:nvCxnSpPr>
        <p:spPr>
          <a:xfrm flipH="1">
            <a:off x="2013300" y="2655525"/>
            <a:ext cx="90900" cy="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9"/>
          <p:cNvCxnSpPr>
            <a:stCxn id="187" idx="3"/>
            <a:endCxn id="193" idx="1"/>
          </p:cNvCxnSpPr>
          <p:nvPr/>
        </p:nvCxnSpPr>
        <p:spPr>
          <a:xfrm>
            <a:off x="3355200" y="1464825"/>
            <a:ext cx="69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9"/>
          <p:cNvCxnSpPr>
            <a:stCxn id="192" idx="3"/>
            <a:endCxn id="193" idx="2"/>
          </p:cNvCxnSpPr>
          <p:nvPr/>
        </p:nvCxnSpPr>
        <p:spPr>
          <a:xfrm flipH="1" rot="10800000">
            <a:off x="2273625" y="1664975"/>
            <a:ext cx="2037900" cy="20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29"/>
          <p:cNvSpPr txBox="1"/>
          <p:nvPr/>
        </p:nvSpPr>
        <p:spPr>
          <a:xfrm>
            <a:off x="164400" y="1297275"/>
            <a:ext cx="696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481800" y="2208775"/>
            <a:ext cx="10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branch1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515025" y="3507575"/>
            <a:ext cx="10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branch2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Resolving Conflicts</a:t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 an action as a "change" to the server state.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User picks up a block of dirt in Minecraft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ServerState initial: int gridValue = FLOATING_BLOCK_DIRT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UserAction userAction: () -&gt; pickUpDirt();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ServerState newState = applyUserAction(initial, userAction);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newState: int gridValue = EMPTY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Resolving Conflicts</a:t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 an action as a "change" to the server state.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the order in which changes are applied doesn't matter, there's no conflict: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applyUserAction(applyUserAction(initial, userAction1), userAction2)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==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applyUserAction(applyUserAction(initial, userAction2), userAction1)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</a:t>
            </a:r>
            <a:endParaRPr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semantic knowledge ⇒ better automated conflict resolution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Git knows about: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lines of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does not know: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compile Java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whether or not whitespace matters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