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1ff88fa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1ff88fa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bbe16dfb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bbe16dfb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bbe16dfb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bbe16dfb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bbe16dfb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bbe16dfb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bbe16dfb0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bbe16dfb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bbe16dfb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bbe16dfb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bbe16dfb0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bbe16dfb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1ff88fa3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1ff88fa3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bbe16dfb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bbe16dfb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bbe16dfb0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bbe16dfb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bbe16dfb0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bbe16dfb0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bbe16dfb0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bbe16dfb0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398b813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1398b813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398b813ba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398b813ba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398b813b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398b813b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398b813b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1398b813b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398b813b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1398b813b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398b813ba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1398b813b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398b813b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398b813b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398b813b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1398b813b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398b813ba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1398b813b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1398b813b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1398b813b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1398b813ba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1398b813ba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398b813ba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398b813ba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1398b813ba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1398b813ba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1398b813ba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1398b813ba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1398b813ba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1398b813ba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398b813ba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1398b813ba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1398b813ba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1398b813ba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1398b813ba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1398b813ba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1398b813b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1398b813b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1398b813b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1398b813b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1398b813b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1398b813b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1398b813b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1398b813b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1398b813b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1398b813b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1398b813b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1398b813b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1398b813b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1398b813b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952cdee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a952cdee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952cdee6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a952cdee6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952cdee6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a952cdee6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952cdee6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952cdee6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952cdee6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a952cdee6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952cdee6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a952cdee6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a952cdee6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a952cdee6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952cdee6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a952cdee6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952cdee6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952cdee6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952cdee6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a952cdee6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952cdee6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a952cdee6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952cdee6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a952cdee6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952cdee6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a952cdee6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952cdee6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a952cdee6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a952cdee6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a952cdee6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a952cdee6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a952cdee6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a952cdee6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a952cdee6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a952cdee6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a952cdee6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static.googleusercontent.com/media/research.google.com/en//archive/mapreduce-osdi04.pdf" TargetMode="External"/><Relationship Id="rId4" Type="http://schemas.openxmlformats.org/officeDocument/2006/relationships/hyperlink" Target="https://www.usenix.org/legacy/event/hotcloud10/tech/full_papers/Zaharia.pdf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Engineering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Multi-Process Computing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First…Memory Management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Stack/Heap: Beyond the Basics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on the stack gets cleaned up when it goes out of </a:t>
            </a:r>
            <a:r>
              <a:rPr b="1" lang="en"/>
              <a:t>scope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about the heap?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C/C++: manual memory management, every </a:t>
            </a:r>
            <a:r>
              <a:rPr b="1" lang="en"/>
              <a:t>new </a:t>
            </a:r>
            <a:r>
              <a:rPr lang="en"/>
              <a:t>must have a </a:t>
            </a:r>
            <a:r>
              <a:rPr b="1" lang="en"/>
              <a:t>free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→ Turns out this is </a:t>
            </a:r>
            <a:r>
              <a:rPr b="1" lang="en"/>
              <a:t>extremely</a:t>
            </a:r>
            <a:r>
              <a:rPr lang="en"/>
              <a:t> error prone (std::unique_ptr helps)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Java/Python/C#, etc: Track references to objects in the heap as a </a:t>
            </a:r>
            <a:r>
              <a:rPr b="1" lang="en"/>
              <a:t>reference counter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 Counting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widely used - prone to memory leaks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Tracks how many pointers point to a given object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When the count reaches 0, garbage collect the 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Downsides: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Need to instrument every pointer assignment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Consider circular linked lists, or doubly linked lists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 And Sweep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Apply performance tuning technique: add </a:t>
            </a:r>
            <a:r>
              <a:rPr b="1" lang="en"/>
              <a:t>batching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Two phases of garbage collection: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"Mark" - track all </a:t>
            </a:r>
            <a:r>
              <a:rPr b="1" lang="en"/>
              <a:t>reachable </a:t>
            </a:r>
            <a:r>
              <a:rPr lang="en"/>
              <a:t>objects and mark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"Sweep" - remove all unmarked objects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"Mark" Phase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String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String(</a:t>
            </a:r>
            <a:r>
              <a:rPr lang="en" sz="140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"Hello World"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String(</a:t>
            </a:r>
            <a:r>
              <a:rPr lang="en" sz="140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"New Text"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FFFFF"/>
                </a:highlight>
              </a:rPr>
              <a:t>Start at "root" objects:</a:t>
            </a:r>
            <a:endParaRPr sz="1600">
              <a:highlight>
                <a:srgbClr val="FFFFFF"/>
              </a:highlight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600">
                <a:highlight>
                  <a:srgbClr val="FFFFFF"/>
                </a:highlight>
              </a:rPr>
              <a:t>Anything pointed to by a pointer currently on the stack (technically, </a:t>
            </a:r>
            <a:r>
              <a:rPr b="1" lang="en" sz="1600">
                <a:highlight>
                  <a:srgbClr val="FFFFFF"/>
                </a:highlight>
              </a:rPr>
              <a:t>a</a:t>
            </a:r>
            <a:r>
              <a:rPr lang="en" sz="1600">
                <a:highlight>
                  <a:srgbClr val="FFFFFF"/>
                </a:highlight>
              </a:rPr>
              <a:t> stack)</a:t>
            </a:r>
            <a:endParaRPr sz="1600">
              <a:highlight>
                <a:srgbClr val="FFFFFF"/>
              </a:highlight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600">
                <a:highlight>
                  <a:srgbClr val="FFFFFF"/>
                </a:highlight>
              </a:rPr>
              <a:t>Any globally-accessible static state</a:t>
            </a:r>
            <a:endParaRPr sz="16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FFFFF"/>
                </a:highlight>
              </a:rPr>
              <a:t>Add these to the "set of current pointers"</a:t>
            </a:r>
            <a:endParaRPr sz="16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FFFFF"/>
                </a:highlight>
              </a:rPr>
              <a:t>Repeat:</a:t>
            </a:r>
            <a:endParaRPr sz="1600">
              <a:highlight>
                <a:srgbClr val="FFFFFF"/>
              </a:highlight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600">
                <a:highlight>
                  <a:srgbClr val="FFFFFF"/>
                </a:highlight>
              </a:rPr>
              <a:t>For everything pointed to by a current pointer, set the 'mark' bit to 1</a:t>
            </a:r>
            <a:endParaRPr sz="1600">
              <a:highlight>
                <a:srgbClr val="FFFFFF"/>
              </a:highlight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600">
                <a:highlight>
                  <a:srgbClr val="FFFFFF"/>
                </a:highlight>
              </a:rPr>
              <a:t>For any pointers contained in a pointed-to object, add that pointer to the next set of pointers</a:t>
            </a:r>
            <a:endParaRPr sz="1600">
              <a:highlight>
                <a:srgbClr val="FFFFFF"/>
              </a:highlight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600">
                <a:highlight>
                  <a:srgbClr val="FFFFFF"/>
                </a:highlight>
              </a:rPr>
              <a:t>Once we're done with this pass, update the "set of current pointers" to the "next set of pointers"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"Sweep" Phase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 through all objects in the heap: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the 'mark' bit is not set, free the memory for that object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 Fragmentation: Mark and Compact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490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Freeing lots of little bits of memory leaves "holes" in the heap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Makes allocating new memory expensive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Alternate version: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Copy all objects with a mark bit of 1 somewhere else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Free everything left behind</a:t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100" y="1152475"/>
            <a:ext cx="3145975" cy="23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Demo!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 No need to sweep everything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 fact: objects tend to either be short-lived or live forever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Have multiple "spaces" in the heap, don't sweep all of them every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Spaces for Java: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Young generation (Eden + survivor)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Old generation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 No need to sweep everything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compacting, copy everything to a one-older generation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"Minor" gc - just Eden space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"Major" gc - progressively older spaces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Garbage Collection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Avoid (most) memory leaks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Automated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Runs in the background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Freezes the world (sort of, there have been improvements)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take a long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Tuning this is tricky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Garbage Collection Tuning (Unusual)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7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System.gc() - suggests to the JVM that now would be a good time to run garbage collection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Many JVM parameters to tune garbage collection performance, which can be important for large long-running servers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-Xmx, -Xms, -XX:ParallelGCThreads, many more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is also where </a:t>
            </a:r>
            <a:r>
              <a:rPr b="1" lang="en"/>
              <a:t>weak </a:t>
            </a:r>
            <a:r>
              <a:rPr lang="en"/>
              <a:t>and </a:t>
            </a:r>
            <a:r>
              <a:rPr b="1" lang="en"/>
              <a:t>soft </a:t>
            </a:r>
            <a:r>
              <a:rPr lang="en"/>
              <a:t>references come in: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Weak reference - do not increase the reference counter to the object (doesn’t set the mark bit)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Soft reference - only GC this object as a last resort/"kind of" count the reference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Multi-Process Computing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Single servers have upper bounds on IO and CPU (fairly large these days, but still noticeable)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Threads require a shared heap, and therefore must run on one server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continue to scale software, we need to move Beyond Threads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Splitting a job across multiple machines is called </a:t>
            </a:r>
            <a:r>
              <a:rPr b="1" lang="en"/>
              <a:t>sharding</a:t>
            </a:r>
            <a:r>
              <a:rPr lang="en"/>
              <a:t> (each machine is a </a:t>
            </a:r>
            <a:r>
              <a:rPr b="1" lang="en"/>
              <a:t>shard)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Multi-Process Advantages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Arbitrarily scalable: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disk 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CPU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Cost-effective scaling (similar to RAID for disks)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Multi-Process Oversimplifications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1152475"/>
            <a:ext cx="8520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more secure!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Security is a reason why an OS will have many processes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Multi-Process Oversimplifications</a:t>
            </a:r>
            <a:endParaRPr/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311700" y="1152475"/>
            <a:ext cx="8520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Fault tolerance: (effective) multi-process requires that you add fault tolerance, it does not get that for free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 fault tolerance?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Similar to RAID; as number of servers increases, time to single server failure decreases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Fault tolerance requirements: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Failure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Retry for failures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Known state after failure: idempotent (retriable) operations, or checkpoints + rollback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Multi-Process Computing</a:t>
            </a:r>
            <a:endParaRPr/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fault tolerance easier by making operations </a:t>
            </a:r>
            <a:r>
              <a:rPr b="1" lang="en"/>
              <a:t>stateless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Relates to a 'design for debugability' concept: keep state as local as possible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Refactor code to keep logic independent (top-down design helps here)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Streaming algorithms (constant space, constant time, easily sharded)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For Multi-Process</a:t>
            </a:r>
            <a:endParaRPr/>
          </a:p>
        </p:txBody>
      </p:sp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 must be </a:t>
            </a:r>
            <a:r>
              <a:rPr b="1" lang="en"/>
              <a:t>shardable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Identify "batches" of work that can happen independently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Send one batch to each shard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Overall result must be computable from results of each shard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goal: build some multi-process 'find top 3 values'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1: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Create a method that will take in a List&lt;Integer&gt; and a number of shards, and create one batch of integers per shard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Combining Results</a:t>
            </a:r>
            <a:endParaRPr/>
          </a:p>
        </p:txBody>
      </p:sp>
      <p:sp>
        <p:nvSpPr>
          <p:cNvPr id="176" name="Google Shape;176;p33"/>
          <p:cNvSpPr txBox="1"/>
          <p:nvPr/>
        </p:nvSpPr>
        <p:spPr>
          <a:xfrm>
            <a:off x="831750" y="3820200"/>
            <a:ext cx="2238000" cy="7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Process batch, return Batch Result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7" name="Google Shape;177;p33"/>
          <p:cNvSpPr txBox="1"/>
          <p:nvPr/>
        </p:nvSpPr>
        <p:spPr>
          <a:xfrm>
            <a:off x="3453000" y="3820200"/>
            <a:ext cx="2238000" cy="7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Process batch, return Batch Result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8" name="Google Shape;178;p33"/>
          <p:cNvSpPr txBox="1"/>
          <p:nvPr/>
        </p:nvSpPr>
        <p:spPr>
          <a:xfrm>
            <a:off x="5957400" y="3820200"/>
            <a:ext cx="2238000" cy="7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Process batch, return Batch Result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9" name="Google Shape;179;p33"/>
          <p:cNvSpPr txBox="1"/>
          <p:nvPr/>
        </p:nvSpPr>
        <p:spPr>
          <a:xfrm>
            <a:off x="3196250" y="1585825"/>
            <a:ext cx="2982600" cy="7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Send off batches, combine BatchResults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80" name="Google Shape;180;p33"/>
          <p:cNvCxnSpPr>
            <a:stCxn id="179" idx="2"/>
            <a:endCxn id="176" idx="0"/>
          </p:cNvCxnSpPr>
          <p:nvPr/>
        </p:nvCxnSpPr>
        <p:spPr>
          <a:xfrm flipH="1">
            <a:off x="1950650" y="2350825"/>
            <a:ext cx="2736900" cy="146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33"/>
          <p:cNvCxnSpPr>
            <a:stCxn id="179" idx="2"/>
            <a:endCxn id="177" idx="0"/>
          </p:cNvCxnSpPr>
          <p:nvPr/>
        </p:nvCxnSpPr>
        <p:spPr>
          <a:xfrm flipH="1">
            <a:off x="4572050" y="2350825"/>
            <a:ext cx="115500" cy="146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33"/>
          <p:cNvCxnSpPr>
            <a:stCxn id="179" idx="2"/>
            <a:endCxn id="178" idx="0"/>
          </p:cNvCxnSpPr>
          <p:nvPr/>
        </p:nvCxnSpPr>
        <p:spPr>
          <a:xfrm>
            <a:off x="4687550" y="2350825"/>
            <a:ext cx="2388900" cy="146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Combining Results</a:t>
            </a:r>
            <a:endParaRPr/>
          </a:p>
        </p:txBody>
      </p:sp>
      <p:sp>
        <p:nvSpPr>
          <p:cNvPr id="188" name="Google Shape;188;p34"/>
          <p:cNvSpPr txBox="1"/>
          <p:nvPr/>
        </p:nvSpPr>
        <p:spPr>
          <a:xfrm>
            <a:off x="58600" y="3885325"/>
            <a:ext cx="1119000" cy="572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Process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9" name="Google Shape;189;p34"/>
          <p:cNvSpPr txBox="1"/>
          <p:nvPr/>
        </p:nvSpPr>
        <p:spPr>
          <a:xfrm>
            <a:off x="1507925" y="3820200"/>
            <a:ext cx="1119000" cy="504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Process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" name="Google Shape;190;p34"/>
          <p:cNvSpPr txBox="1"/>
          <p:nvPr/>
        </p:nvSpPr>
        <p:spPr>
          <a:xfrm>
            <a:off x="2913625" y="3820200"/>
            <a:ext cx="1157100" cy="431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Process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1" name="Google Shape;191;p34"/>
          <p:cNvSpPr txBox="1"/>
          <p:nvPr/>
        </p:nvSpPr>
        <p:spPr>
          <a:xfrm>
            <a:off x="705875" y="2407800"/>
            <a:ext cx="2982600" cy="7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Send off batches, combine BatchResults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92" name="Google Shape;192;p34"/>
          <p:cNvCxnSpPr>
            <a:stCxn id="191" idx="2"/>
            <a:endCxn id="188" idx="0"/>
          </p:cNvCxnSpPr>
          <p:nvPr/>
        </p:nvCxnSpPr>
        <p:spPr>
          <a:xfrm flipH="1">
            <a:off x="617975" y="3172800"/>
            <a:ext cx="1579200" cy="71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34"/>
          <p:cNvCxnSpPr>
            <a:stCxn id="191" idx="2"/>
            <a:endCxn id="189" idx="0"/>
          </p:cNvCxnSpPr>
          <p:nvPr/>
        </p:nvCxnSpPr>
        <p:spPr>
          <a:xfrm flipH="1">
            <a:off x="2067275" y="3172800"/>
            <a:ext cx="129900" cy="64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34"/>
          <p:cNvCxnSpPr>
            <a:stCxn id="191" idx="2"/>
            <a:endCxn id="190" idx="0"/>
          </p:cNvCxnSpPr>
          <p:nvPr/>
        </p:nvCxnSpPr>
        <p:spPr>
          <a:xfrm>
            <a:off x="2197175" y="3172800"/>
            <a:ext cx="1295100" cy="64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" name="Google Shape;195;p34"/>
          <p:cNvSpPr txBox="1"/>
          <p:nvPr/>
        </p:nvSpPr>
        <p:spPr>
          <a:xfrm>
            <a:off x="4572000" y="4049275"/>
            <a:ext cx="1119000" cy="572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Process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6" name="Google Shape;196;p34"/>
          <p:cNvSpPr txBox="1"/>
          <p:nvPr/>
        </p:nvSpPr>
        <p:spPr>
          <a:xfrm>
            <a:off x="6021325" y="3984150"/>
            <a:ext cx="1119000" cy="504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Process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7" name="Google Shape;197;p34"/>
          <p:cNvSpPr txBox="1"/>
          <p:nvPr/>
        </p:nvSpPr>
        <p:spPr>
          <a:xfrm>
            <a:off x="7427025" y="3984150"/>
            <a:ext cx="1157100" cy="431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Process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8" name="Google Shape;198;p34"/>
          <p:cNvSpPr txBox="1"/>
          <p:nvPr/>
        </p:nvSpPr>
        <p:spPr>
          <a:xfrm>
            <a:off x="5219275" y="2571750"/>
            <a:ext cx="2982600" cy="7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Send off batches, combine BatchResults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99" name="Google Shape;199;p34"/>
          <p:cNvCxnSpPr>
            <a:stCxn id="198" idx="2"/>
            <a:endCxn id="195" idx="0"/>
          </p:cNvCxnSpPr>
          <p:nvPr/>
        </p:nvCxnSpPr>
        <p:spPr>
          <a:xfrm flipH="1">
            <a:off x="5131375" y="3336750"/>
            <a:ext cx="1579200" cy="71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34"/>
          <p:cNvCxnSpPr>
            <a:stCxn id="198" idx="2"/>
            <a:endCxn id="196" idx="0"/>
          </p:cNvCxnSpPr>
          <p:nvPr/>
        </p:nvCxnSpPr>
        <p:spPr>
          <a:xfrm flipH="1">
            <a:off x="6580675" y="3336750"/>
            <a:ext cx="129900" cy="64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34"/>
          <p:cNvCxnSpPr>
            <a:stCxn id="198" idx="2"/>
            <a:endCxn id="197" idx="0"/>
          </p:cNvCxnSpPr>
          <p:nvPr/>
        </p:nvCxnSpPr>
        <p:spPr>
          <a:xfrm>
            <a:off x="6710575" y="3336750"/>
            <a:ext cx="1295100" cy="64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34"/>
          <p:cNvSpPr txBox="1"/>
          <p:nvPr/>
        </p:nvSpPr>
        <p:spPr>
          <a:xfrm>
            <a:off x="2982400" y="995400"/>
            <a:ext cx="2982600" cy="7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Send off batches, combine BatchResults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03" name="Google Shape;203;p34"/>
          <p:cNvCxnSpPr>
            <a:stCxn id="202" idx="2"/>
            <a:endCxn id="191" idx="0"/>
          </p:cNvCxnSpPr>
          <p:nvPr/>
        </p:nvCxnSpPr>
        <p:spPr>
          <a:xfrm flipH="1">
            <a:off x="2197300" y="1760400"/>
            <a:ext cx="2276400" cy="64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34"/>
          <p:cNvCxnSpPr>
            <a:stCxn id="202" idx="2"/>
            <a:endCxn id="198" idx="0"/>
          </p:cNvCxnSpPr>
          <p:nvPr/>
        </p:nvCxnSpPr>
        <p:spPr>
          <a:xfrm>
            <a:off x="4473700" y="1760400"/>
            <a:ext cx="2236800" cy="81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210" name="Google Shape;21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Overall goal: build some multi-process 'find top 3 values'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2: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 a method that will take in a batch of integers and return an initial "batch result" (what would be a convenient type?)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3: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Create a method that will take in a list of "batch results" and return a combined "batch result"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MapReduce</a:t>
            </a:r>
            <a:endParaRPr/>
          </a:p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"Map" - math term for 'transform'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"Reduce" - math term for 'combine into single value'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Process initial batch into BatchResult = map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Combine many BatchResults into one = reduce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MapReduce</a:t>
            </a:r>
            <a:endParaRPr/>
          </a:p>
        </p:txBody>
      </p:sp>
      <p:sp>
        <p:nvSpPr>
          <p:cNvPr id="222" name="Google Shape;222;p37"/>
          <p:cNvSpPr txBox="1"/>
          <p:nvPr>
            <p:ph idx="1" type="body"/>
          </p:nvPr>
        </p:nvSpPr>
        <p:spPr>
          <a:xfrm>
            <a:off x="311700" y="1152475"/>
            <a:ext cx="8520600" cy="37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Several frameworks for doing this IRL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MapReduce (Hadoop) and Spark are two of the most common (and closely related)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All the details: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MapReduce white paper: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https://static.googleusercontent.com/media/research.google.com/en//archive/mapreduce-osdi04.pdf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Spark white paper: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https://www.usenix.org/legacy/event/hotcloud10/tech/full_papers/Zaharia.pdf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Both integrate nicely with Java, either natively (Hadoop) or effectively so (Spark is written in Scala)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Fault tolerance - Hadoop</a:t>
            </a:r>
            <a:endParaRPr/>
          </a:p>
        </p:txBody>
      </p:sp>
      <p:sp>
        <p:nvSpPr>
          <p:cNvPr id="228" name="Google Shape;22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HDFS (HaDoop File System):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Replicates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Every operation gets written to disk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Very fault tolerant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Low chance of having to redo computation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Downside: </a:t>
            </a:r>
            <a:r>
              <a:rPr lang="en"/>
              <a:t>computations are usually cheaper than disk writes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Fault Tolerance - Spark</a:t>
            </a:r>
            <a:endParaRPr/>
          </a:p>
        </p:txBody>
      </p:sp>
      <p:sp>
        <p:nvSpPr>
          <p:cNvPr id="234" name="Google Shape;23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Avoids the overhead and io expense of Hadoop by keeping things in memory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wait! What about failure recovery if everything is in </a:t>
            </a:r>
            <a:r>
              <a:rPr b="1" lang="en"/>
              <a:t>volatile</a:t>
            </a:r>
            <a:r>
              <a:rPr lang="en"/>
              <a:t> storage?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RDD - Resilient Distributed Dataset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Rather than store the actual data, Spark (mostly) stores how the data was computed (lineage)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Takes the lazy initialization pattern to another level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Spark - General Overview</a:t>
            </a:r>
            <a:endParaRPr/>
          </a:p>
        </p:txBody>
      </p:sp>
      <p:sp>
        <p:nvSpPr>
          <p:cNvPr id="240" name="Google Shape;240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data either from code outside Spark (through a </a:t>
            </a:r>
            <a:r>
              <a:rPr b="1" lang="en"/>
              <a:t>driver</a:t>
            </a:r>
            <a:r>
              <a:rPr lang="en"/>
              <a:t> program) or loaded from a distributed file system (HDFS, s3, etc)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Execute MapReduce-like operations on it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Adds an explicit "filter" operation to remove elements from a result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These map/reduce steps can be </a:t>
            </a:r>
            <a:r>
              <a:rPr b="1" lang="en"/>
              <a:t>chained</a:t>
            </a:r>
            <a:r>
              <a:rPr lang="en"/>
              <a:t> together to allow more complex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Spark land, each operation is called a "closure"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Collect (or save) results - this is what actually triggers any sort of computation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Spark</a:t>
            </a:r>
            <a:endParaRPr/>
          </a:p>
        </p:txBody>
      </p:sp>
      <p:sp>
        <p:nvSpPr>
          <p:cNvPr id="246" name="Google Shape;246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Generally preferred to Hadoop unless parallelism in the nested reduce steps is critical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Multi-process means that RAM can be nearly unlimited, which adds a substantial speed-up over Hadoop (no extra i/o)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Additional usability features (filters, accumulators, foreach) make it easier to adapt to program logic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252" name="Google Shape;25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main method for the 'find top 3' code. It should: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Load numbers from a file (format up to you: csv, 1 per line, space separated, etc)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Split the numbers into batches, and send them off to be run in parallel (for now, we'll use threads)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 some additional batch-to-thread association, so that if a batch fails, it can be retried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 a 10 second timeout to future.get()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 retry logic in the catch block for future.get() for both exceptions and timeouts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It's Not Stateless</a:t>
            </a:r>
            <a:endParaRPr/>
          </a:p>
        </p:txBody>
      </p:sp>
      <p:sp>
        <p:nvSpPr>
          <p:cNvPr id="258" name="Google Shape;258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Sometimes, shared state is unavoidable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file system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⇒ Use a central server (single point of failure)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Multi-Process Computing</a:t>
            </a:r>
            <a:endParaRPr/>
          </a:p>
        </p:txBody>
      </p:sp>
      <p:sp>
        <p:nvSpPr>
          <p:cNvPr id="264" name="Google Shape;264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So….how to scale this central server?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Non-trivial, do not try to reinvent a solution yourself!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Options: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Databases - Vertica, Cassandra (Postgres HA is notoriously buggy, Oracle HA is notoriously $$$$)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Algorithms - Paxos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Enormous amounts of hardware everywhere - Spanner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Multi-Process Example</a:t>
            </a:r>
            <a:endParaRPr/>
          </a:p>
        </p:txBody>
      </p:sp>
      <p:sp>
        <p:nvSpPr>
          <p:cNvPr id="270" name="Google Shape;270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Incoming stream of BigInteger values, where one element occurs more than half the time. Find that element.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1,1,2,2,1 ⇒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1,2,3 ⇒ invalid input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2 ⇒ 2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Multi-Process Example</a:t>
            </a:r>
            <a:endParaRPr/>
          </a:p>
        </p:txBody>
      </p:sp>
      <p:sp>
        <p:nvSpPr>
          <p:cNvPr id="276" name="Google Shape;276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Incoming stream of BigInteger values, where one element occurs more than half the time. Find that element.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 Constraints: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 sure each step of the process uses constant space (makes it easy to parallelize across machines)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SPOILERS AHEAD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Multi-Process Example</a:t>
            </a:r>
            <a:endParaRPr/>
          </a:p>
        </p:txBody>
      </p:sp>
      <p:sp>
        <p:nvSpPr>
          <p:cNvPr id="282" name="Google Shape;282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Incoming stream of BigInteger values, where one element occurs more than half the time. Find that element.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Key Insight (not obvious):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"more than half the time" = can pair instances of the element with non-instances of the element and still have some left over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1,2,3,1,1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 &amp; 2, 1 &amp; 3, and an extra 1 left over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Multi-Process Example</a:t>
            </a:r>
            <a:endParaRPr/>
          </a:p>
        </p:txBody>
      </p:sp>
      <p:sp>
        <p:nvSpPr>
          <p:cNvPr id="288" name="Google Shape;288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Incoming stream of BigInteger values, where one element occurs more than half the time. Find that element.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Track: best guess for element, number of "extra" of that element seen so far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getting a new element from the stream: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it's the best guess, increment the number of "extra"; if 'best guess' is not set, set it to the current element and 'extra' to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it's not the best guess, decrement the number of "extra" by 1. If 'extra' is now 0, unset the best guess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the stream is done, return the best guess (or error if not set)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Let's write the code!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Multi-Process Example</a:t>
            </a:r>
            <a:endParaRPr/>
          </a:p>
        </p:txBody>
      </p:sp>
      <p:sp>
        <p:nvSpPr>
          <p:cNvPr id="294" name="Google Shape;294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parallelize?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Given an incoming stream, round-robin inputs to all the different servers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Take the results (plus the 'extra' counter) and consolidate as the final step (central coordinating server)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Note that now, the 'stream' length is bounded by the number of servers from part (1)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Multi-Process Example</a:t>
            </a:r>
            <a:endParaRPr/>
          </a:p>
        </p:txBody>
      </p:sp>
      <p:sp>
        <p:nvSpPr>
          <p:cNvPr id="300" name="Google Shape;300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Fun fact: If you change "more than 1/2" to "more than 1/k", you can use this to create a multi-process streaming histogram algorithm that can quickly create pretty summaries of terabytes of data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Multi-Process Computing</a:t>
            </a:r>
            <a:endParaRPr/>
          </a:p>
        </p:txBody>
      </p:sp>
      <p:sp>
        <p:nvSpPr>
          <p:cNvPr id="306" name="Google Shape;306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Single servers have upper bounds on IO and CPU (fairly large these days, but still noticeable)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Threads require a shared heap, and therefore must run on one server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continue to scale software, we need to move Beyond Threads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Splitting a job across multiple machines is called </a:t>
            </a:r>
            <a:r>
              <a:rPr b="1" lang="en"/>
              <a:t>sharding</a:t>
            </a:r>
            <a:r>
              <a:rPr lang="en"/>
              <a:t> (each machine is a </a:t>
            </a:r>
            <a:r>
              <a:rPr b="1" lang="en"/>
              <a:t>shard)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For Multi-Process</a:t>
            </a:r>
            <a:endParaRPr/>
          </a:p>
        </p:txBody>
      </p:sp>
      <p:sp>
        <p:nvSpPr>
          <p:cNvPr id="312" name="Google Shape;312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 must be </a:t>
            </a:r>
            <a:r>
              <a:rPr b="1" lang="en"/>
              <a:t>shardable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Identify "batches" of work that can happen independently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Send one batch to each shard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Overall result must be computable from results of each shard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Multi-Process Example</a:t>
            </a:r>
            <a:endParaRPr/>
          </a:p>
        </p:txBody>
      </p:sp>
      <p:sp>
        <p:nvSpPr>
          <p:cNvPr id="318" name="Google Shape;318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Incoming stream of BigInteger values, where one element occurs more than half the time. Find that element.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1,1,2,2,1 ⇒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1,2,3 ⇒ invalid input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2 ⇒ 2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Multi-Process Example</a:t>
            </a:r>
            <a:endParaRPr/>
          </a:p>
        </p:txBody>
      </p:sp>
      <p:sp>
        <p:nvSpPr>
          <p:cNvPr id="324" name="Google Shape;324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Incoming stream of BigInteger values, where one element occurs more than half the time. Find that element.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 Constraints: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 sure each step of the process uses constant space (makes it easy to parallelize across machines)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SPOILERS AHEAD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Multi-Process Example</a:t>
            </a:r>
            <a:endParaRPr/>
          </a:p>
        </p:txBody>
      </p:sp>
      <p:sp>
        <p:nvSpPr>
          <p:cNvPr id="330" name="Google Shape;330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Incoming stream of BigInteger values, where one element occurs more than half the time. Find that element.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Key Insight (not obvious):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"more than half the time" = can pair instances of the element with non-instances of the element and still have some left over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1,2,3,1,1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 &amp; 2, 1 &amp; 3, and an extra 1 left over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Multi-Process Example</a:t>
            </a:r>
            <a:endParaRPr/>
          </a:p>
        </p:txBody>
      </p:sp>
      <p:sp>
        <p:nvSpPr>
          <p:cNvPr id="336" name="Google Shape;336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Incoming stream of BigInteger values, where one element occurs more than half the time. Find that element.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Track: best guess for element, number of "extra" of that element seen so far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getting a new element from the stream: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it's the best guess, increment the number of "extra"; if 'best guess' is not set, set it to the current element and 'extra' to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it's not the best guess, decrement the number of "extra" by 1. If 'extra' is now 0, unset the best guess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the stream is done, return the best guess (or error if not set)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Let's write the code!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Combining Results</a:t>
            </a:r>
            <a:endParaRPr/>
          </a:p>
        </p:txBody>
      </p:sp>
      <p:sp>
        <p:nvSpPr>
          <p:cNvPr id="342" name="Google Shape;342;p57"/>
          <p:cNvSpPr txBox="1"/>
          <p:nvPr/>
        </p:nvSpPr>
        <p:spPr>
          <a:xfrm>
            <a:off x="831750" y="3820200"/>
            <a:ext cx="2238000" cy="7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Process batch, return Batch Result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3" name="Google Shape;343;p57"/>
          <p:cNvSpPr txBox="1"/>
          <p:nvPr/>
        </p:nvSpPr>
        <p:spPr>
          <a:xfrm>
            <a:off x="3453000" y="3820200"/>
            <a:ext cx="2238000" cy="7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Process batch, return Batch Result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4" name="Google Shape;344;p57"/>
          <p:cNvSpPr txBox="1"/>
          <p:nvPr/>
        </p:nvSpPr>
        <p:spPr>
          <a:xfrm>
            <a:off x="5957400" y="3820200"/>
            <a:ext cx="2238000" cy="7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Process batch, return Batch Result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5" name="Google Shape;345;p57"/>
          <p:cNvSpPr txBox="1"/>
          <p:nvPr/>
        </p:nvSpPr>
        <p:spPr>
          <a:xfrm>
            <a:off x="3196250" y="1585825"/>
            <a:ext cx="2982600" cy="765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Send off batches, combine BatchResults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46" name="Google Shape;346;p57"/>
          <p:cNvCxnSpPr>
            <a:stCxn id="345" idx="2"/>
            <a:endCxn id="342" idx="0"/>
          </p:cNvCxnSpPr>
          <p:nvPr/>
        </p:nvCxnSpPr>
        <p:spPr>
          <a:xfrm flipH="1">
            <a:off x="1950650" y="2350825"/>
            <a:ext cx="2736900" cy="146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p57"/>
          <p:cNvCxnSpPr>
            <a:stCxn id="345" idx="2"/>
            <a:endCxn id="343" idx="0"/>
          </p:cNvCxnSpPr>
          <p:nvPr/>
        </p:nvCxnSpPr>
        <p:spPr>
          <a:xfrm flipH="1">
            <a:off x="4572050" y="2350825"/>
            <a:ext cx="115500" cy="146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57"/>
          <p:cNvCxnSpPr>
            <a:stCxn id="345" idx="2"/>
            <a:endCxn id="344" idx="0"/>
          </p:cNvCxnSpPr>
          <p:nvPr/>
        </p:nvCxnSpPr>
        <p:spPr>
          <a:xfrm>
            <a:off x="4687550" y="2350825"/>
            <a:ext cx="2388900" cy="146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Modifying Result to Allow Re-combining </a:t>
            </a:r>
            <a:endParaRPr/>
          </a:p>
        </p:txBody>
      </p:sp>
      <p:sp>
        <p:nvSpPr>
          <p:cNvPr id="354" name="Google Shape;354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batches: {1,1,1,1,1}, {2,2,2,1,1}, {2,2,2,1,1}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Naive approach, get back: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{1}, {2}, {2}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Multi-Process Example</a:t>
            </a:r>
            <a:endParaRPr/>
          </a:p>
        </p:txBody>
      </p:sp>
      <p:sp>
        <p:nvSpPr>
          <p:cNvPr id="360" name="Google Shape;360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parallelize?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Given an incoming stream, round-robin inputs to all the different servers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Take the results (plus the 'extra' counter) and consolidate as the final step (central coordinating server)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Note that now, the 'stream' length is bounded by the number of servers from part (1)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the Data Arrived Earlier?</a:t>
            </a:r>
            <a:endParaRPr/>
          </a:p>
        </p:txBody>
      </p:sp>
      <p:sp>
        <p:nvSpPr>
          <p:cNvPr id="366" name="Google Shape;366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"Incoming stream from network" is a little weird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"Data built up over time in a program", on the other hand…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Pre-Stored Batches</a:t>
            </a:r>
            <a:endParaRPr/>
          </a:p>
        </p:txBody>
      </p:sp>
      <p:sp>
        <p:nvSpPr>
          <p:cNvPr id="372" name="Google Shape;372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each shard have data + process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Batch is whatever data is stored locally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Make This Useful</a:t>
            </a:r>
            <a:endParaRPr/>
          </a:p>
        </p:txBody>
      </p:sp>
      <p:sp>
        <p:nvSpPr>
          <p:cNvPr id="378" name="Google Shape;378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IRL, this went the other way: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simplify a complex problem down to a small situation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solve the simple case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regeneralize the solution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Make This Useful</a:t>
            </a:r>
            <a:endParaRPr/>
          </a:p>
        </p:txBody>
      </p:sp>
      <p:sp>
        <p:nvSpPr>
          <p:cNvPr id="384" name="Google Shape;384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 Problem: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10TB* of structured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User wants a histogram of some feature (ex: country codes for phone numbers), as quickly as possible (&lt;10 seconds)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Features are unknown ahead of time (user-defined schema)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Make This Useful</a:t>
            </a:r>
            <a:endParaRPr/>
          </a:p>
        </p:txBody>
      </p:sp>
      <p:sp>
        <p:nvSpPr>
          <p:cNvPr id="390" name="Google Shape;390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Digging into requirements: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User doesn't care about the long tail, they want the top "several"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User would prefer the program decide how many is "several" depending on the data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Make This Useful</a:t>
            </a:r>
            <a:endParaRPr/>
          </a:p>
        </p:txBody>
      </p:sp>
      <p:sp>
        <p:nvSpPr>
          <p:cNvPr id="396" name="Google Shape;396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case: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One item occurs more than 1/2 the time; return that item and an 'other' bucket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Make This Useful</a:t>
            </a:r>
            <a:endParaRPr/>
          </a:p>
        </p:txBody>
      </p:sp>
      <p:sp>
        <p:nvSpPr>
          <p:cNvPr id="402" name="Google Shape;402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complex case: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One item occurs more than 1/k of the time: same algorithm, but storing (up to) k-1 items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Make This Useful</a:t>
            </a:r>
            <a:endParaRPr/>
          </a:p>
        </p:txBody>
      </p:sp>
      <p:sp>
        <p:nvSpPr>
          <p:cNvPr id="408" name="Google Shape;408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Pick a plausibly large value of k that can also easily fit in memory (100 ish, configurable)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Return counts for everything that shows up more than 1% of the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nothing returned (unusual): add an order of magnitude to k, try again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Make This Useful</a:t>
            </a:r>
            <a:endParaRPr/>
          </a:p>
        </p:txBody>
      </p:sp>
      <p:sp>
        <p:nvSpPr>
          <p:cNvPr id="414" name="Google Shape;414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Still needs to be fast: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10 TB of RAM is hard to get on one machine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784 GB is available on EC2, though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⇒ a few dozen servers and the whole thing is cached in memory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