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94e925752_0_1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94e925752_0_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94e925752_0_1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94e925752_0_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a94e925752_0_2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a94e925752_0_2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a94e925752_0_2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a94e925752_0_2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a94e925752_0_2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a94e925752_0_2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a94e925752_0_2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a94e925752_0_2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a94e925752_0_2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a94e925752_0_2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a94e925752_0_2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a94e925752_0_2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a94e925752_0_2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a94e925752_0_2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a94e925752_0_2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a94e925752_0_2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a94e925752_0_2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a94e925752_0_2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a94e925752_0_2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a94e925752_0_2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a94e925752_0_2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a94e925752_0_2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a94e925752_0_2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a94e925752_0_2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a94e925752_0_2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a94e925752_0_2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a94e925752_0_2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a94e925752_0_2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a94e925752_0_2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a94e925752_0_2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a94e925752_0_2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a94e925752_0_2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a94e925752_0_2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a94e925752_0_2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a94e925752_0_2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a94e925752_0_2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a94e925752_0_3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a94e925752_0_3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a94e925752_0_3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a94e925752_0_3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a94e925752_0_3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3a94e925752_0_3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a94e925752_0_3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3a94e925752_0_3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a94e925752_0_3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3a94e925752_0_3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a94e925752_0_3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3a94e925752_0_3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a94e925752_0_3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3a94e925752_0_3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a94e925752_0_3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3a94e925752_0_3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a94e925752_0_3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3a94e925752_0_3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a94e925752_0_4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3a94e925752_0_4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a94e925752_0_4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3a94e925752_0_4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a94e925752_0_4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" name="Google Shape;265;g3a94e925752_0_4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a94e925752_0_4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" name="Google Shape;273;g3a94e925752_0_4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a94e925752_0_4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3a94e925752_0_4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a94e925752_0_4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3a94e925752_0_4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a94e925752_0_4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" name="Google Shape;296;g3a94e925752_0_4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3a94e925752_0_4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3a94e925752_0_4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3a94e925752_0_4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" name="Google Shape;312;g3a94e925752_0_4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a94e925752_0_4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3a94e925752_0_4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3a94e925752_0_4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3a94e925752_0_4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a94e925752_0_4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3a94e925752_0_4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a94e925752_0_4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3a94e925752_0_4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a94e925752_0_4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" name="Google Shape;346;g3a94e925752_0_4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3a94e925752_0_4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2" name="Google Shape;352;g3a94e925752_0_4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3a94e925752_0_4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" name="Google Shape;359;g3a94e925752_0_4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3a94e925752_0_5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5" name="Google Shape;365;g3a94e925752_0_5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3a94e925752_0_5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3a94e925752_0_5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3a94e925752_0_5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7" name="Google Shape;377;g3a94e925752_0_5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3a94e925752_0_5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3" name="Google Shape;383;g3a94e925752_0_5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3a94e925752_0_5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0" name="Google Shape;390;g3a94e925752_0_5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3a94e925752_0_5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6" name="Google Shape;396;g3a94e925752_0_5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refactoring.guru/design-patterns" TargetMode="External"/><Relationship Id="rId4" Type="http://schemas.openxmlformats.org/officeDocument/2006/relationships/image" Target="../media/image18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4.jpg"/><Relationship Id="rId4" Type="http://schemas.openxmlformats.org/officeDocument/2006/relationships/image" Target="../media/image10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0.png"/><Relationship Id="rId4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4.png"/><Relationship Id="rId4" Type="http://schemas.openxmlformats.org/officeDocument/2006/relationships/image" Target="../media/image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7.png"/><Relationship Id="rId4" Type="http://schemas.openxmlformats.org/officeDocument/2006/relationships/image" Target="../media/image1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.png"/><Relationship Id="rId4" Type="http://schemas.openxmlformats.org/officeDocument/2006/relationships/image" Target="../media/image20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5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3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5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5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8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9.png"/><Relationship Id="rId4" Type="http://schemas.openxmlformats.org/officeDocument/2006/relationships/image" Target="../media/image16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6.png"/><Relationship Id="rId4" Type="http://schemas.openxmlformats.org/officeDocument/2006/relationships/image" Target="../media/image21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9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3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6.png"/><Relationship Id="rId4" Type="http://schemas.openxmlformats.org/officeDocument/2006/relationships/image" Target="../media/image23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6.png"/><Relationship Id="rId4" Type="http://schemas.openxmlformats.org/officeDocument/2006/relationships/image" Target="../media/image23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25.png"/><Relationship Id="rId4" Type="http://schemas.openxmlformats.org/officeDocument/2006/relationships/image" Target="../media/image34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31.png"/><Relationship Id="rId4" Type="http://schemas.openxmlformats.org/officeDocument/2006/relationships/image" Target="../media/image27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32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Code Readability</a:t>
            </a:r>
            <a:endParaRPr/>
          </a:p>
        </p:txBody>
      </p:sp>
      <p:sp>
        <p:nvSpPr>
          <p:cNvPr id="55" name="Google Shape;55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Code = for humans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Compiled code = for computers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Natural Language conventions work well for humans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In particular: saying something in a verbose/unusual way carries implied meaning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Ex: you'll vs you will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x = x + 1 vs x++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Java Conventions: Collections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Java Collections: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List/ArrayList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Set/HashSet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Map/HashMap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[] arrays are </a:t>
            </a:r>
            <a:r>
              <a:rPr b="1" lang="en"/>
              <a:t>unusual</a:t>
            </a:r>
            <a:r>
              <a:rPr lang="en"/>
              <a:t> in practice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typically only if you're doing memory management performance optimizations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Java Conventions: Iteration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Iteration over a List/Set/Collection/Iterable: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Old: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List&lt;String&gt; </a:t>
            </a:r>
            <a:r>
              <a:rPr lang="en" sz="1600">
                <a:solidFill>
                  <a:srgbClr val="6A3E3E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b="1" lang="en" sz="1600">
                <a:solidFill>
                  <a:srgbClr val="7F0055"/>
                </a:solidFill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ArrayList&lt;&gt;();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b="1" lang="en" sz="1600">
                <a:solidFill>
                  <a:srgbClr val="7F0055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b="1" lang="en" sz="1600">
                <a:solidFill>
                  <a:srgbClr val="7F0055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600">
                <a:solidFill>
                  <a:srgbClr val="6A3E3E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0; </a:t>
            </a:r>
            <a:r>
              <a:rPr lang="en" sz="1600">
                <a:solidFill>
                  <a:srgbClr val="6A3E3E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&lt; </a:t>
            </a:r>
            <a:r>
              <a:rPr lang="en" sz="1600">
                <a:solidFill>
                  <a:srgbClr val="6A3E3E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.size(); </a:t>
            </a:r>
            <a:r>
              <a:rPr lang="en" sz="1600">
                <a:solidFill>
                  <a:srgbClr val="6A3E3E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++) {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 String </a:t>
            </a:r>
            <a:r>
              <a:rPr lang="en" sz="1600">
                <a:solidFill>
                  <a:srgbClr val="6A3E3E"/>
                </a:solidFill>
                <a:latin typeface="Consolas"/>
                <a:ea typeface="Consolas"/>
                <a:cs typeface="Consolas"/>
                <a:sym typeface="Consolas"/>
              </a:rPr>
              <a:t>s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" sz="1600">
                <a:solidFill>
                  <a:srgbClr val="6A3E3E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.get(</a:t>
            </a:r>
            <a:r>
              <a:rPr lang="en" sz="1600">
                <a:solidFill>
                  <a:srgbClr val="6A3E3E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 System.</a:t>
            </a:r>
            <a:r>
              <a:rPr b="1" i="1" lang="en" sz="1600">
                <a:solidFill>
                  <a:srgbClr val="0000C0"/>
                </a:solidFill>
                <a:latin typeface="Consolas"/>
                <a:ea typeface="Consolas"/>
                <a:cs typeface="Consolas"/>
                <a:sym typeface="Consolas"/>
              </a:rPr>
              <a:t>out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.println(</a:t>
            </a:r>
            <a:r>
              <a:rPr lang="en" sz="1600">
                <a:solidFill>
                  <a:srgbClr val="6A3E3E"/>
                </a:solidFill>
                <a:latin typeface="Consolas"/>
                <a:ea typeface="Consolas"/>
                <a:cs typeface="Consolas"/>
                <a:sym typeface="Consolas"/>
              </a:rPr>
              <a:t>s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}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Java Conventions: Iteration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Iteration over a List/Set/Collection/Iterable: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New: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List&lt;String&gt; </a:t>
            </a:r>
            <a:r>
              <a:rPr lang="en" sz="1600">
                <a:solidFill>
                  <a:srgbClr val="6A3E3E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b="1" lang="en" sz="1600">
                <a:solidFill>
                  <a:srgbClr val="7F0055"/>
                </a:solidFill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ArrayList&lt;&gt;();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b="1" lang="en" sz="1600">
                <a:solidFill>
                  <a:srgbClr val="7F0055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(String </a:t>
            </a:r>
            <a:r>
              <a:rPr lang="en" sz="1600">
                <a:solidFill>
                  <a:srgbClr val="6A3E3E"/>
                </a:solidFill>
                <a:latin typeface="Consolas"/>
                <a:ea typeface="Consolas"/>
                <a:cs typeface="Consolas"/>
                <a:sym typeface="Consolas"/>
              </a:rPr>
              <a:t>s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: </a:t>
            </a:r>
            <a:r>
              <a:rPr lang="en" sz="1600">
                <a:solidFill>
                  <a:srgbClr val="6A3E3E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 {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 System.</a:t>
            </a:r>
            <a:r>
              <a:rPr b="1" i="1" lang="en" sz="1600">
                <a:solidFill>
                  <a:srgbClr val="0000C0"/>
                </a:solidFill>
                <a:latin typeface="Consolas"/>
                <a:ea typeface="Consolas"/>
                <a:cs typeface="Consolas"/>
                <a:sym typeface="Consolas"/>
              </a:rPr>
              <a:t>out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.println(</a:t>
            </a:r>
            <a:r>
              <a:rPr lang="en" sz="1600">
                <a:solidFill>
                  <a:srgbClr val="6A3E3E"/>
                </a:solidFill>
                <a:latin typeface="Consolas"/>
                <a:ea typeface="Consolas"/>
                <a:cs typeface="Consolas"/>
                <a:sym typeface="Consolas"/>
              </a:rPr>
              <a:t>s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}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Java Conventions: Function Pointers</a:t>
            </a:r>
            <a:endParaRPr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Instead of parameterizing a </a:t>
            </a:r>
            <a:r>
              <a:rPr b="1" lang="en"/>
              <a:t>type</a:t>
            </a:r>
            <a:r>
              <a:rPr lang="en"/>
              <a:t>, allows parameterizing </a:t>
            </a:r>
            <a:r>
              <a:rPr b="1" lang="en"/>
              <a:t>behavior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Ex: sorting objects needs a Comparator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How to pass this to a method?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Everything is an Object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Create an interface with the necessary method signature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Pass an implementation of the interface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    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Java Conventions: Function Pointers</a:t>
            </a:r>
            <a:endParaRPr/>
          </a:p>
        </p:txBody>
      </p:sp>
      <p:sp>
        <p:nvSpPr>
          <p:cNvPr id="85" name="Google Shape;85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Problem: Creating a whole class just to sort one list is clunky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Solution: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Anonymous inner classes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List&lt;String&gt; </a:t>
            </a:r>
            <a:r>
              <a:rPr lang="en" sz="1600">
                <a:solidFill>
                  <a:srgbClr val="6A3E3E"/>
                </a:solidFill>
                <a:latin typeface="Consolas"/>
                <a:ea typeface="Consolas"/>
                <a:cs typeface="Consolas"/>
                <a:sym typeface="Consolas"/>
              </a:rPr>
              <a:t>strings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b="1" lang="en" sz="1600">
                <a:solidFill>
                  <a:srgbClr val="7F0055"/>
                </a:solidFill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ArrayList&lt;String&gt;();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Collections.</a:t>
            </a:r>
            <a:r>
              <a:rPr i="1"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sort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600">
                <a:solidFill>
                  <a:srgbClr val="6A3E3E"/>
                </a:solidFill>
                <a:latin typeface="Consolas"/>
                <a:ea typeface="Consolas"/>
                <a:cs typeface="Consolas"/>
                <a:sym typeface="Consolas"/>
              </a:rPr>
              <a:t>strings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1" lang="en" sz="1600">
                <a:solidFill>
                  <a:srgbClr val="7F0055"/>
                </a:solidFill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Comparator&lt;String&gt;() {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" sz="1600">
                <a:solidFill>
                  <a:srgbClr val="646464"/>
                </a:solidFill>
                <a:latin typeface="Consolas"/>
                <a:ea typeface="Consolas"/>
                <a:cs typeface="Consolas"/>
                <a:sym typeface="Consolas"/>
              </a:rPr>
              <a:t>@Override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b="1" lang="en" sz="1600">
                <a:solidFill>
                  <a:srgbClr val="7F0055"/>
                </a:solidFill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600">
                <a:solidFill>
                  <a:srgbClr val="7F0055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compare(String </a:t>
            </a:r>
            <a:r>
              <a:rPr lang="en" sz="1600">
                <a:solidFill>
                  <a:srgbClr val="6A3E3E"/>
                </a:solidFill>
                <a:latin typeface="Consolas"/>
                <a:ea typeface="Consolas"/>
                <a:cs typeface="Consolas"/>
                <a:sym typeface="Consolas"/>
              </a:rPr>
              <a:t>s1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String </a:t>
            </a:r>
            <a:r>
              <a:rPr lang="en" sz="1600">
                <a:solidFill>
                  <a:srgbClr val="6A3E3E"/>
                </a:solidFill>
                <a:latin typeface="Consolas"/>
                <a:ea typeface="Consolas"/>
                <a:cs typeface="Consolas"/>
                <a:sym typeface="Consolas"/>
              </a:rPr>
              <a:t>s2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 {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     </a:t>
            </a:r>
            <a:r>
              <a:rPr lang="en" sz="1600">
                <a:solidFill>
                  <a:srgbClr val="3F7F5F"/>
                </a:solidFill>
                <a:latin typeface="Consolas"/>
                <a:ea typeface="Consolas"/>
                <a:cs typeface="Consolas"/>
                <a:sym typeface="Consolas"/>
              </a:rPr>
              <a:t>// reverse the standard order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     </a:t>
            </a:r>
            <a:r>
              <a:rPr b="1" lang="en" sz="1600">
                <a:solidFill>
                  <a:srgbClr val="7F0055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-1*</a:t>
            </a:r>
            <a:r>
              <a:rPr lang="en" sz="1600">
                <a:solidFill>
                  <a:srgbClr val="6A3E3E"/>
                </a:solidFill>
                <a:latin typeface="Consolas"/>
                <a:ea typeface="Consolas"/>
                <a:cs typeface="Consolas"/>
                <a:sym typeface="Consolas"/>
              </a:rPr>
              <a:t>s1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.compareTo(</a:t>
            </a:r>
            <a:r>
              <a:rPr lang="en" sz="1600">
                <a:solidFill>
                  <a:srgbClr val="6A3E3E"/>
                </a:solidFill>
                <a:latin typeface="Consolas"/>
                <a:ea typeface="Consolas"/>
                <a:cs typeface="Consolas"/>
                <a:sym typeface="Consolas"/>
              </a:rPr>
              <a:t>s2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 }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});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Java Conventions: Function Pointers</a:t>
            </a:r>
            <a:endParaRPr/>
          </a:p>
        </p:txBody>
      </p:sp>
      <p:sp>
        <p:nvSpPr>
          <p:cNvPr id="91" name="Google Shape;91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Problem: Anonymous inner classes are clunky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Solution: Lambdas (introduced in Java 8)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List&lt;String&gt; </a:t>
            </a:r>
            <a:r>
              <a:rPr lang="en" sz="1600">
                <a:solidFill>
                  <a:srgbClr val="6A3E3E"/>
                </a:solidFill>
                <a:latin typeface="Consolas"/>
                <a:ea typeface="Consolas"/>
                <a:cs typeface="Consolas"/>
                <a:sym typeface="Consolas"/>
              </a:rPr>
              <a:t>strings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b="1" lang="en" sz="1600">
                <a:solidFill>
                  <a:srgbClr val="7F0055"/>
                </a:solidFill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ArrayList&lt;String&gt;();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Collections.</a:t>
            </a:r>
            <a:r>
              <a:rPr i="1"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sort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600">
                <a:solidFill>
                  <a:srgbClr val="6A3E3E"/>
                </a:solidFill>
                <a:latin typeface="Consolas"/>
                <a:ea typeface="Consolas"/>
                <a:cs typeface="Consolas"/>
                <a:sym typeface="Consolas"/>
              </a:rPr>
              <a:t>strings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(</a:t>
            </a:r>
            <a:r>
              <a:rPr lang="en" sz="1600">
                <a:solidFill>
                  <a:srgbClr val="6A3E3E"/>
                </a:solidFill>
                <a:latin typeface="Consolas"/>
                <a:ea typeface="Consolas"/>
                <a:cs typeface="Consolas"/>
                <a:sym typeface="Consolas"/>
              </a:rPr>
              <a:t>s1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600">
                <a:solidFill>
                  <a:srgbClr val="6A3E3E"/>
                </a:solidFill>
                <a:latin typeface="Consolas"/>
                <a:ea typeface="Consolas"/>
                <a:cs typeface="Consolas"/>
                <a:sym typeface="Consolas"/>
              </a:rPr>
              <a:t>s2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 -&gt; -1*</a:t>
            </a:r>
            <a:r>
              <a:rPr lang="en" sz="1600">
                <a:solidFill>
                  <a:srgbClr val="6A3E3E"/>
                </a:solidFill>
                <a:latin typeface="Consolas"/>
                <a:ea typeface="Consolas"/>
                <a:cs typeface="Consolas"/>
                <a:sym typeface="Consolas"/>
              </a:rPr>
              <a:t>s1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.compareTo(</a:t>
            </a:r>
            <a:r>
              <a:rPr lang="en" sz="1600">
                <a:solidFill>
                  <a:srgbClr val="6A3E3E"/>
                </a:solidFill>
                <a:latin typeface="Consolas"/>
                <a:ea typeface="Consolas"/>
                <a:cs typeface="Consolas"/>
                <a:sym typeface="Consolas"/>
              </a:rPr>
              <a:t>s2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));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Java Conventions: Function Pointers</a:t>
            </a:r>
            <a:endParaRPr/>
          </a:p>
        </p:txBody>
      </p:sp>
      <p:sp>
        <p:nvSpPr>
          <p:cNvPr id="97" name="Google Shape;97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Problem: Lambdas remove </a:t>
            </a:r>
            <a:r>
              <a:rPr b="1" lang="en"/>
              <a:t>too much</a:t>
            </a:r>
            <a:r>
              <a:rPr lang="en"/>
              <a:t> info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Solution: More than 1 lambda in a scope → create named, typed variables for them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List&lt;String&gt; </a:t>
            </a:r>
            <a:r>
              <a:rPr lang="en" sz="1600">
                <a:solidFill>
                  <a:srgbClr val="6A3E3E"/>
                </a:solidFill>
                <a:latin typeface="Consolas"/>
                <a:ea typeface="Consolas"/>
                <a:cs typeface="Consolas"/>
                <a:sym typeface="Consolas"/>
              </a:rPr>
              <a:t>strings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b="1" lang="en" sz="1600">
                <a:solidFill>
                  <a:srgbClr val="7F0055"/>
                </a:solidFill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ArrayList&lt;String&gt;();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Comparator&lt;String&gt; </a:t>
            </a:r>
            <a:r>
              <a:rPr lang="en" sz="1600">
                <a:solidFill>
                  <a:srgbClr val="6A3E3E"/>
                </a:solidFill>
                <a:latin typeface="Consolas"/>
                <a:ea typeface="Consolas"/>
                <a:cs typeface="Consolas"/>
                <a:sym typeface="Consolas"/>
              </a:rPr>
              <a:t>reverseSort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(</a:t>
            </a:r>
            <a:r>
              <a:rPr lang="en" sz="1600">
                <a:solidFill>
                  <a:srgbClr val="6A3E3E"/>
                </a:solidFill>
                <a:latin typeface="Consolas"/>
                <a:ea typeface="Consolas"/>
                <a:cs typeface="Consolas"/>
                <a:sym typeface="Consolas"/>
              </a:rPr>
              <a:t>s1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600">
                <a:solidFill>
                  <a:srgbClr val="6A3E3E"/>
                </a:solidFill>
                <a:latin typeface="Consolas"/>
                <a:ea typeface="Consolas"/>
                <a:cs typeface="Consolas"/>
                <a:sym typeface="Consolas"/>
              </a:rPr>
              <a:t>s2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 -&gt; -1*</a:t>
            </a:r>
            <a:r>
              <a:rPr lang="en" sz="1600">
                <a:solidFill>
                  <a:srgbClr val="6A3E3E"/>
                </a:solidFill>
                <a:latin typeface="Consolas"/>
                <a:ea typeface="Consolas"/>
                <a:cs typeface="Consolas"/>
                <a:sym typeface="Consolas"/>
              </a:rPr>
              <a:t>s1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.compareTo(</a:t>
            </a:r>
            <a:r>
              <a:rPr lang="en" sz="1600">
                <a:solidFill>
                  <a:srgbClr val="6A3E3E"/>
                </a:solidFill>
                <a:latin typeface="Consolas"/>
                <a:ea typeface="Consolas"/>
                <a:cs typeface="Consolas"/>
                <a:sym typeface="Consolas"/>
              </a:rPr>
              <a:t>s2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Collections.</a:t>
            </a:r>
            <a:r>
              <a:rPr i="1"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sort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600">
                <a:solidFill>
                  <a:srgbClr val="6A3E3E"/>
                </a:solidFill>
                <a:latin typeface="Consolas"/>
                <a:ea typeface="Consolas"/>
                <a:cs typeface="Consolas"/>
                <a:sym typeface="Consolas"/>
              </a:rPr>
              <a:t>strings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600">
                <a:solidFill>
                  <a:srgbClr val="6A3E3E"/>
                </a:solidFill>
                <a:latin typeface="Consolas"/>
                <a:ea typeface="Consolas"/>
                <a:cs typeface="Consolas"/>
                <a:sym typeface="Consolas"/>
              </a:rPr>
              <a:t>reverseSort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    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Lambdas as Constants</a:t>
            </a:r>
            <a:endParaRPr/>
          </a:p>
        </p:txBody>
      </p:sp>
      <p:sp>
        <p:nvSpPr>
          <p:cNvPr id="103" name="Google Shape;103;p21"/>
          <p:cNvSpPr txBox="1"/>
          <p:nvPr>
            <p:ph idx="1" type="body"/>
          </p:nvPr>
        </p:nvSpPr>
        <p:spPr>
          <a:xfrm>
            <a:off x="311700" y="1152475"/>
            <a:ext cx="8520600" cy="185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Combined with static constants on interfaces, you can easily and compactly return values without losing API flexibility.</a:t>
            </a:r>
            <a:endParaRPr/>
          </a:p>
        </p:txBody>
      </p:sp>
      <p:pic>
        <p:nvPicPr>
          <p:cNvPr id="104" name="Google Shape;10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1250" y="2659275"/>
            <a:ext cx="5551550" cy="1995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Java Conventions: Fluent Interfaces</a:t>
            </a:r>
            <a:endParaRPr/>
          </a:p>
        </p:txBody>
      </p:sp>
      <p:sp>
        <p:nvSpPr>
          <p:cNvPr id="110" name="Google Shape;110;p22"/>
          <p:cNvSpPr txBox="1"/>
          <p:nvPr>
            <p:ph idx="1" type="body"/>
          </p:nvPr>
        </p:nvSpPr>
        <p:spPr>
          <a:xfrm>
            <a:off x="311700" y="1152475"/>
            <a:ext cx="8520600" cy="390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Often combined with lambdas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Allows </a:t>
            </a:r>
            <a:r>
              <a:rPr b="1" lang="en"/>
              <a:t>chaining</a:t>
            </a:r>
            <a:r>
              <a:rPr lang="en"/>
              <a:t> method calls, by calling a method on the returned object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Without fluent interface: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n" sz="1600">
                <a:solidFill>
                  <a:srgbClr val="7F0055"/>
                </a:solidFill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600">
                <a:solidFill>
                  <a:srgbClr val="7F0055"/>
                </a:solidFill>
                <a:latin typeface="Consolas"/>
                <a:ea typeface="Consolas"/>
                <a:cs typeface="Consolas"/>
                <a:sym typeface="Consolas"/>
              </a:rPr>
              <a:t>static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600">
                <a:solidFill>
                  <a:srgbClr val="7F0055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main(String[] </a:t>
            </a:r>
            <a:r>
              <a:rPr lang="en" sz="1600">
                <a:solidFill>
                  <a:srgbClr val="6A3E3E"/>
                </a:solidFill>
                <a:latin typeface="Consolas"/>
                <a:ea typeface="Consolas"/>
                <a:cs typeface="Consolas"/>
                <a:sym typeface="Consolas"/>
              </a:rPr>
              <a:t>args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 { 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Widget </a:t>
            </a:r>
            <a:r>
              <a:rPr lang="en" sz="1600">
                <a:solidFill>
                  <a:srgbClr val="6A3E3E"/>
                </a:solidFill>
                <a:latin typeface="Consolas"/>
                <a:ea typeface="Consolas"/>
                <a:cs typeface="Consolas"/>
                <a:sym typeface="Consolas"/>
              </a:rPr>
              <a:t>w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b="1" lang="en" sz="1600">
                <a:solidFill>
                  <a:srgbClr val="7F0055"/>
                </a:solidFill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Widget();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" sz="1600">
                <a:solidFill>
                  <a:srgbClr val="6A3E3E"/>
                </a:solidFill>
                <a:latin typeface="Consolas"/>
                <a:ea typeface="Consolas"/>
                <a:cs typeface="Consolas"/>
                <a:sym typeface="Consolas"/>
              </a:rPr>
              <a:t>w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.addGearToWidget();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" sz="1600">
                <a:solidFill>
                  <a:srgbClr val="6A3E3E"/>
                </a:solidFill>
                <a:latin typeface="Consolas"/>
                <a:ea typeface="Consolas"/>
                <a:cs typeface="Consolas"/>
                <a:sym typeface="Consolas"/>
              </a:rPr>
              <a:t>w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.addCrankToWidget();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n" sz="1600">
                <a:solidFill>
                  <a:srgbClr val="7F0055"/>
                </a:solidFill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600">
                <a:solidFill>
                  <a:srgbClr val="7F0055"/>
                </a:solidFill>
                <a:latin typeface="Consolas"/>
                <a:ea typeface="Consolas"/>
                <a:cs typeface="Consolas"/>
                <a:sym typeface="Consolas"/>
              </a:rPr>
              <a:t>static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600">
                <a:solidFill>
                  <a:srgbClr val="7F0055"/>
                </a:solidFill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Widget {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b="1" lang="en" sz="1600">
                <a:solidFill>
                  <a:srgbClr val="7F0055"/>
                </a:solidFill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600">
                <a:solidFill>
                  <a:srgbClr val="7F0055"/>
                </a:solidFill>
                <a:latin typeface="Consolas"/>
                <a:ea typeface="Consolas"/>
                <a:cs typeface="Consolas"/>
                <a:sym typeface="Consolas"/>
              </a:rPr>
              <a:t>void 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addGearToWidget() {</a:t>
            </a:r>
            <a:r>
              <a:rPr b="1" lang="en" sz="1600">
                <a:solidFill>
                  <a:srgbClr val="00A000"/>
                </a:solidFill>
                <a:latin typeface="Consolas"/>
                <a:ea typeface="Consolas"/>
                <a:cs typeface="Consolas"/>
                <a:sym typeface="Consolas"/>
              </a:rPr>
              <a:t>/* do things */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b="1" lang="en" sz="1600">
                <a:solidFill>
                  <a:srgbClr val="7F0055"/>
                </a:solidFill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600">
                <a:solidFill>
                  <a:srgbClr val="7F0055"/>
                </a:solidFill>
                <a:latin typeface="Consolas"/>
                <a:ea typeface="Consolas"/>
                <a:cs typeface="Consolas"/>
                <a:sym typeface="Consolas"/>
              </a:rPr>
              <a:t>void 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addCrankToWidget() {</a:t>
            </a:r>
            <a:r>
              <a:rPr b="1" lang="en" sz="1600">
                <a:solidFill>
                  <a:srgbClr val="00A000"/>
                </a:solidFill>
                <a:latin typeface="Consolas"/>
                <a:ea typeface="Consolas"/>
                <a:cs typeface="Consolas"/>
                <a:sym typeface="Consolas"/>
              </a:rPr>
              <a:t>/* do things */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Java Conventions: Fluent Interfaces</a:t>
            </a:r>
            <a:endParaRPr/>
          </a:p>
        </p:txBody>
      </p:sp>
      <p:sp>
        <p:nvSpPr>
          <p:cNvPr id="116" name="Google Shape;116;p23"/>
          <p:cNvSpPr txBox="1"/>
          <p:nvPr>
            <p:ph idx="1" type="body"/>
          </p:nvPr>
        </p:nvSpPr>
        <p:spPr>
          <a:xfrm>
            <a:off x="311700" y="1152475"/>
            <a:ext cx="8520600" cy="390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Often combined with lambdas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Allows </a:t>
            </a:r>
            <a:r>
              <a:rPr b="1" lang="en"/>
              <a:t>chaining</a:t>
            </a:r>
            <a:r>
              <a:rPr lang="en"/>
              <a:t> method calls, by calling a method on the returned object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With fluent interface: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n" sz="1600">
                <a:solidFill>
                  <a:srgbClr val="7F0055"/>
                </a:solidFill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600">
                <a:solidFill>
                  <a:srgbClr val="7F0055"/>
                </a:solidFill>
                <a:latin typeface="Consolas"/>
                <a:ea typeface="Consolas"/>
                <a:cs typeface="Consolas"/>
                <a:sym typeface="Consolas"/>
              </a:rPr>
              <a:t>static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600">
                <a:solidFill>
                  <a:srgbClr val="7F0055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main(String[] </a:t>
            </a:r>
            <a:r>
              <a:rPr lang="en" sz="1600">
                <a:solidFill>
                  <a:srgbClr val="6A3E3E"/>
                </a:solidFill>
                <a:latin typeface="Consolas"/>
                <a:ea typeface="Consolas"/>
                <a:cs typeface="Consolas"/>
                <a:sym typeface="Consolas"/>
              </a:rPr>
              <a:t>args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 { 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Widget </a:t>
            </a:r>
            <a:r>
              <a:rPr lang="en" sz="1600">
                <a:solidFill>
                  <a:srgbClr val="6A3E3E"/>
                </a:solidFill>
                <a:latin typeface="Consolas"/>
                <a:ea typeface="Consolas"/>
                <a:cs typeface="Consolas"/>
                <a:sym typeface="Consolas"/>
              </a:rPr>
              <a:t>w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b="1" lang="en" sz="1600">
                <a:solidFill>
                  <a:srgbClr val="7F0055"/>
                </a:solidFill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Widget()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    .addGearToWidget()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    .addCrankToWidget();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n" sz="1600">
                <a:solidFill>
                  <a:srgbClr val="7F0055"/>
                </a:solidFill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600">
                <a:solidFill>
                  <a:srgbClr val="7F0055"/>
                </a:solidFill>
                <a:latin typeface="Consolas"/>
                <a:ea typeface="Consolas"/>
                <a:cs typeface="Consolas"/>
                <a:sym typeface="Consolas"/>
              </a:rPr>
              <a:t>static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600">
                <a:solidFill>
                  <a:srgbClr val="7F0055"/>
                </a:solidFill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Widget {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b="1" lang="en" sz="1600">
                <a:solidFill>
                  <a:srgbClr val="7F0055"/>
                </a:solidFill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Widget addGearToWidget() {</a:t>
            </a:r>
            <a:r>
              <a:rPr b="1" lang="en" sz="1600">
                <a:solidFill>
                  <a:srgbClr val="00A000"/>
                </a:solidFill>
                <a:latin typeface="Consolas"/>
                <a:ea typeface="Consolas"/>
                <a:cs typeface="Consolas"/>
                <a:sym typeface="Consolas"/>
              </a:rPr>
              <a:t>/* do things */ </a:t>
            </a:r>
            <a:r>
              <a:rPr b="1" lang="en" sz="1600">
                <a:solidFill>
                  <a:srgbClr val="7F0055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600">
                <a:solidFill>
                  <a:srgbClr val="7F0055"/>
                </a:solidFill>
                <a:latin typeface="Consolas"/>
                <a:ea typeface="Consolas"/>
                <a:cs typeface="Consolas"/>
                <a:sym typeface="Consolas"/>
              </a:rPr>
              <a:t>this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;}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b="1" lang="en" sz="1600">
                <a:solidFill>
                  <a:srgbClr val="7F0055"/>
                </a:solidFill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Widget addCrankToWidget() {</a:t>
            </a:r>
            <a:r>
              <a:rPr b="1" lang="en" sz="1600">
                <a:solidFill>
                  <a:srgbClr val="00A000"/>
                </a:solidFill>
                <a:latin typeface="Consolas"/>
                <a:ea typeface="Consolas"/>
                <a:cs typeface="Consolas"/>
                <a:sym typeface="Consolas"/>
              </a:rPr>
              <a:t>/* do things */ </a:t>
            </a:r>
            <a:r>
              <a:rPr b="1" lang="en" sz="1600">
                <a:solidFill>
                  <a:srgbClr val="7F0055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600">
                <a:solidFill>
                  <a:srgbClr val="7F0055"/>
                </a:solidFill>
                <a:latin typeface="Consolas"/>
                <a:ea typeface="Consolas"/>
                <a:cs typeface="Consolas"/>
                <a:sym typeface="Consolas"/>
              </a:rPr>
              <a:t>this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;} 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Design Patterns</a:t>
            </a:r>
            <a:endParaRPr/>
          </a:p>
        </p:txBody>
      </p:sp>
      <p:sp>
        <p:nvSpPr>
          <p:cNvPr id="122" name="Google Shape;122;p24"/>
          <p:cNvSpPr txBox="1"/>
          <p:nvPr>
            <p:ph idx="1" type="body"/>
          </p:nvPr>
        </p:nvSpPr>
        <p:spPr>
          <a:xfrm>
            <a:off x="311700" y="1152475"/>
            <a:ext cx="5939100" cy="39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Many problems have a common structure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Design patterns are like a toolbox to help solve common problems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For each pattern: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Know what type of problem to apply it to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Know how to adapt the pattern to the problem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Recognize complex uses of the pattern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We'll be covering some common ones, there are many more (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https://refactoring.guru/design-patterns</a:t>
            </a:r>
            <a:r>
              <a:rPr lang="en"/>
              <a:t> has a good list)</a:t>
            </a:r>
            <a:endParaRPr/>
          </a:p>
        </p:txBody>
      </p:sp>
      <p:pic>
        <p:nvPicPr>
          <p:cNvPr id="123" name="Google Shape;123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84150" y="346125"/>
            <a:ext cx="2458900" cy="2458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Design Patterns</a:t>
            </a:r>
            <a:endParaRPr/>
          </a:p>
        </p:txBody>
      </p:sp>
      <p:sp>
        <p:nvSpPr>
          <p:cNvPr id="129" name="Google Shape;129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When should you use a design pattern?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Usually, when you have no other choice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Tools, not building blocks - don't go looking for ways to use them, let the problems come to you</a:t>
            </a:r>
            <a:endParaRPr/>
          </a:p>
        </p:txBody>
      </p:sp>
      <p:pic>
        <p:nvPicPr>
          <p:cNvPr descr="Screwdriver Tool SVG, Screwdriver Clipart, Screwdriver SVG, Transparent  Background, Yellow, Red, Blue, Gray, Black, Instant Digital Download - Etsy" id="130" name="Google Shape;130;p25"/>
          <p:cNvPicPr preferRelativeResize="0"/>
          <p:nvPr/>
        </p:nvPicPr>
        <p:blipFill rotWithShape="1">
          <a:blip r:embed="rId3">
            <a:alphaModFix/>
          </a:blip>
          <a:srcRect b="17563" l="10007" r="80895" t="9224"/>
          <a:stretch/>
        </p:blipFill>
        <p:spPr>
          <a:xfrm>
            <a:off x="7694225" y="2571750"/>
            <a:ext cx="374417" cy="2408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5,891 Screw Clip Art Images, Stock Photos, 3D objects, &amp; Vectors |  Shutterstock" id="131" name="Google Shape;131;p25"/>
          <p:cNvPicPr preferRelativeResize="0"/>
          <p:nvPr/>
        </p:nvPicPr>
        <p:blipFill rotWithShape="1">
          <a:blip r:embed="rId4">
            <a:alphaModFix/>
          </a:blip>
          <a:srcRect b="6314" l="0" r="0" t="0"/>
          <a:stretch/>
        </p:blipFill>
        <p:spPr>
          <a:xfrm>
            <a:off x="6072300" y="3712547"/>
            <a:ext cx="1128703" cy="57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Design Patterns</a:t>
            </a:r>
            <a:endParaRPr/>
          </a:p>
        </p:txBody>
      </p:sp>
      <p:sp>
        <p:nvSpPr>
          <p:cNvPr id="137" name="Google Shape;137;p26"/>
          <p:cNvSpPr txBox="1"/>
          <p:nvPr>
            <p:ph idx="1" type="body"/>
          </p:nvPr>
        </p:nvSpPr>
        <p:spPr>
          <a:xfrm>
            <a:off x="311700" y="1152475"/>
            <a:ext cx="4095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Builder </a:t>
            </a:r>
            <a:r>
              <a:rPr lang="en"/>
              <a:t>Pattern (related: Factory pattern)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Problem: Some object that will be widely passed around can't easily be constructed all at once with a constructor.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How to avoid having mutable state all over the codebase?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38" name="Google Shape;138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56577" y="122950"/>
            <a:ext cx="1880275" cy="15473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06700" y="1822650"/>
            <a:ext cx="4750200" cy="3243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Design Patterns</a:t>
            </a:r>
            <a:endParaRPr/>
          </a:p>
        </p:txBody>
      </p:sp>
      <p:sp>
        <p:nvSpPr>
          <p:cNvPr id="145" name="Google Shape;145;p27"/>
          <p:cNvSpPr txBox="1"/>
          <p:nvPr>
            <p:ph idx="1" type="body"/>
          </p:nvPr>
        </p:nvSpPr>
        <p:spPr>
          <a:xfrm>
            <a:off x="311700" y="1086125"/>
            <a:ext cx="4422600" cy="393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Builder </a:t>
            </a:r>
            <a:r>
              <a:rPr lang="en"/>
              <a:t>Pattern (related: Factory pattern)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Solution</a:t>
            </a:r>
            <a:r>
              <a:rPr lang="en"/>
              <a:t>: Create a helper class that handles construction; the resulting object is </a:t>
            </a:r>
            <a:r>
              <a:rPr b="1" lang="en"/>
              <a:t>immutable</a:t>
            </a:r>
            <a:r>
              <a:rPr lang="en"/>
              <a:t>, while the helper class (WidgetBuilder/WidgetFactory) contains the mutable data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Note the </a:t>
            </a:r>
            <a:r>
              <a:rPr b="1" lang="en"/>
              <a:t>return values</a:t>
            </a:r>
            <a:r>
              <a:rPr lang="en"/>
              <a:t> - this is a </a:t>
            </a:r>
            <a:r>
              <a:rPr b="1" lang="en"/>
              <a:t>fluent</a:t>
            </a:r>
            <a:r>
              <a:rPr lang="en"/>
              <a:t> interface, meaning the code that uses it has easily-readable chained calls: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64">
                <a:latin typeface="Courier New"/>
                <a:ea typeface="Courier New"/>
                <a:cs typeface="Courier New"/>
                <a:sym typeface="Courier New"/>
              </a:rPr>
              <a:t>new WidgetBuilder()</a:t>
            </a:r>
            <a:endParaRPr sz="1564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64">
                <a:latin typeface="Courier New"/>
                <a:ea typeface="Courier New"/>
                <a:cs typeface="Courier New"/>
                <a:sym typeface="Courier New"/>
              </a:rPr>
              <a:t>.setValue1(1)</a:t>
            </a:r>
            <a:endParaRPr sz="1564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64">
                <a:latin typeface="Courier New"/>
                <a:ea typeface="Courier New"/>
                <a:cs typeface="Courier New"/>
                <a:sym typeface="Courier New"/>
              </a:rPr>
              <a:t>.setValue2(2)</a:t>
            </a:r>
            <a:endParaRPr sz="1564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64">
                <a:latin typeface="Courier New"/>
                <a:ea typeface="Courier New"/>
                <a:cs typeface="Courier New"/>
                <a:sym typeface="Courier New"/>
              </a:rPr>
              <a:t>.build()</a:t>
            </a:r>
            <a:endParaRPr sz="1564"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146" name="Google Shape;146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59800" y="91400"/>
            <a:ext cx="2911250" cy="2370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08325" y="2571750"/>
            <a:ext cx="3096924" cy="2377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Design Patterns</a:t>
            </a:r>
            <a:endParaRPr/>
          </a:p>
        </p:txBody>
      </p:sp>
      <p:sp>
        <p:nvSpPr>
          <p:cNvPr id="153" name="Google Shape;153;p28"/>
          <p:cNvSpPr txBox="1"/>
          <p:nvPr>
            <p:ph idx="1" type="body"/>
          </p:nvPr>
        </p:nvSpPr>
        <p:spPr>
          <a:xfrm>
            <a:off x="311700" y="1152475"/>
            <a:ext cx="4422600" cy="379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Builder </a:t>
            </a:r>
            <a:r>
              <a:rPr lang="en"/>
              <a:t>Pattern (related: Factory pattern)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Fancy Solution</a:t>
            </a:r>
            <a:r>
              <a:rPr lang="en"/>
              <a:t>: Make the helper class a static inner class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Caller: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64">
                <a:latin typeface="Courier New"/>
                <a:ea typeface="Courier New"/>
                <a:cs typeface="Courier New"/>
                <a:sym typeface="Courier New"/>
              </a:rPr>
              <a:t>Widget.builder()</a:t>
            </a:r>
            <a:endParaRPr sz="1564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64">
                <a:latin typeface="Courier New"/>
                <a:ea typeface="Courier New"/>
                <a:cs typeface="Courier New"/>
                <a:sym typeface="Courier New"/>
              </a:rPr>
              <a:t>.setValue1(1)</a:t>
            </a:r>
            <a:endParaRPr sz="1564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64">
                <a:latin typeface="Courier New"/>
                <a:ea typeface="Courier New"/>
                <a:cs typeface="Courier New"/>
                <a:sym typeface="Courier New"/>
              </a:rPr>
              <a:t>.setValue2(2)</a:t>
            </a:r>
            <a:endParaRPr sz="1564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64">
                <a:latin typeface="Courier New"/>
                <a:ea typeface="Courier New"/>
                <a:cs typeface="Courier New"/>
                <a:sym typeface="Courier New"/>
              </a:rPr>
              <a:t>.build()</a:t>
            </a:r>
            <a:endParaRPr sz="1564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64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64"/>
              <a:t>Extra bonus: with overloaded constructors, there’s no way to make both value1 and value2 independently options, since they’re both ints. With builders, you can!</a:t>
            </a:r>
            <a:endParaRPr/>
          </a:p>
        </p:txBody>
      </p:sp>
      <p:pic>
        <p:nvPicPr>
          <p:cNvPr id="154" name="Google Shape;154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86700" y="54100"/>
            <a:ext cx="3945600" cy="49320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Your Turn!</a:t>
            </a:r>
            <a:endParaRPr/>
          </a:p>
        </p:txBody>
      </p:sp>
      <p:sp>
        <p:nvSpPr>
          <p:cNvPr id="160" name="Google Shape;160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" sz="1600"/>
              <a:t>Follow the link from Brightspace to check out the CodingExercises repo; use </a:t>
            </a:r>
            <a:r>
              <a:rPr lang="en" sz="1600">
                <a:latin typeface="Courier New"/>
                <a:ea typeface="Courier New"/>
                <a:cs typeface="Courier New"/>
                <a:sym typeface="Courier New"/>
              </a:rPr>
              <a:t>./gradlew eclipse</a:t>
            </a:r>
            <a:r>
              <a:rPr lang="en" sz="1600"/>
              <a:t> to set up a project to import into your IDE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AutoNum type="alphaLcPeriod"/>
            </a:pPr>
            <a:r>
              <a:rPr lang="en" sz="1600"/>
              <a:t>If you need to update your JUnit version, do that before running </a:t>
            </a:r>
            <a:r>
              <a:rPr lang="en" sz="1600">
                <a:latin typeface="Courier New"/>
                <a:ea typeface="Courier New"/>
                <a:cs typeface="Courier New"/>
                <a:sym typeface="Courier New"/>
              </a:rPr>
              <a:t>gradlew eclipse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" sz="1600"/>
              <a:t>In exercise1, u</a:t>
            </a:r>
            <a:r>
              <a:rPr lang="en" sz="1600"/>
              <a:t>se the Builder pattern to fix the TODO in Train.java; when you're done, you should have two different classes, and the TrainTest should no longer compile</a:t>
            </a:r>
            <a:endParaRPr sz="16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Design Patterns</a:t>
            </a:r>
            <a:endParaRPr/>
          </a:p>
        </p:txBody>
      </p:sp>
      <p:sp>
        <p:nvSpPr>
          <p:cNvPr id="166" name="Google Shape;166;p30"/>
          <p:cNvSpPr txBox="1"/>
          <p:nvPr>
            <p:ph idx="1" type="body"/>
          </p:nvPr>
        </p:nvSpPr>
        <p:spPr>
          <a:xfrm>
            <a:off x="238925" y="1152475"/>
            <a:ext cx="4495500" cy="386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Dependency Injection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Problem: Component1 depends on Component2 and Component3, and is set up to connect to/create them in the constructor.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How do I unit test this code?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Solution: Force the constructor to take in an already-build Component2 and Component3, and move the connection/creation logic elsewhere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Fun fact: Using TDD (test-driven development) forces you to set everything up this way from the beginning</a:t>
            </a:r>
            <a:endParaRPr/>
          </a:p>
        </p:txBody>
      </p:sp>
      <p:pic>
        <p:nvPicPr>
          <p:cNvPr id="167" name="Google Shape;167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57438" y="62363"/>
            <a:ext cx="5057775" cy="1514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08275" y="2034051"/>
            <a:ext cx="4346225" cy="1916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Design Patterns</a:t>
            </a:r>
            <a:endParaRPr/>
          </a:p>
        </p:txBody>
      </p:sp>
      <p:sp>
        <p:nvSpPr>
          <p:cNvPr id="174" name="Google Shape;174;p31"/>
          <p:cNvSpPr txBox="1"/>
          <p:nvPr>
            <p:ph idx="1" type="body"/>
          </p:nvPr>
        </p:nvSpPr>
        <p:spPr>
          <a:xfrm>
            <a:off x="238925" y="1152475"/>
            <a:ext cx="4083000" cy="412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Dependency Injection (part 2)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Problem: 3 different components all use the same (expensive-to-build) sub-component.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How do I get them to share an instance?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Solution: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Use a dependency injection library: Guice, Dagger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Good to recognize, since codebases using an annotation framework never explicitly call a constructor, which can be confusing to see</a:t>
            </a:r>
            <a:endParaRPr/>
          </a:p>
        </p:txBody>
      </p:sp>
      <p:pic>
        <p:nvPicPr>
          <p:cNvPr id="175" name="Google Shape;175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80725" y="175400"/>
            <a:ext cx="5163275" cy="20409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21925" y="2744169"/>
            <a:ext cx="4517276" cy="17946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Design Patterns</a:t>
            </a:r>
            <a:endParaRPr/>
          </a:p>
        </p:txBody>
      </p:sp>
      <p:sp>
        <p:nvSpPr>
          <p:cNvPr id="182" name="Google Shape;182;p32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Lazy Initialization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Problem: Some object relies on an expensive computation to be able to work properly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/>
              <a:t>How to prevent this slowing down server/process/component startup?</a:t>
            </a:r>
            <a:endParaRPr b="1"/>
          </a:p>
        </p:txBody>
      </p:sp>
      <p:pic>
        <p:nvPicPr>
          <p:cNvPr id="183" name="Google Shape;183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57825" y="1017725"/>
            <a:ext cx="3924300" cy="2400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Design Patterns</a:t>
            </a:r>
            <a:endParaRPr/>
          </a:p>
        </p:txBody>
      </p:sp>
      <p:sp>
        <p:nvSpPr>
          <p:cNvPr id="189" name="Google Shape;189;p33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Lazy Initialization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Solution: initialize on demand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Bonus: May never need to initialize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This is fragile, so only use if needed, and make sure to test!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Ex: what happens if initializeSchema() fails?</a:t>
            </a:r>
            <a:endParaRPr/>
          </a:p>
        </p:txBody>
      </p:sp>
      <p:pic>
        <p:nvPicPr>
          <p:cNvPr id="190" name="Google Shape;190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94875" y="320950"/>
            <a:ext cx="2879476" cy="382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2702125"/>
            <a:ext cx="495125" cy="495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Design Patterns</a:t>
            </a:r>
            <a:endParaRPr/>
          </a:p>
        </p:txBody>
      </p:sp>
      <p:sp>
        <p:nvSpPr>
          <p:cNvPr id="197" name="Google Shape;197;p34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Wrapper/Decorator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Problem: I have a complicated object, and I want to add a small amount of functionality to it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How can I easily augment every method of a class?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98" name="Google Shape;198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97175" y="445025"/>
            <a:ext cx="3786936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Design Patterns</a:t>
            </a:r>
            <a:endParaRPr/>
          </a:p>
        </p:txBody>
      </p:sp>
      <p:sp>
        <p:nvSpPr>
          <p:cNvPr id="204" name="Google Shape;204;p35"/>
          <p:cNvSpPr txBox="1"/>
          <p:nvPr>
            <p:ph idx="1" type="body"/>
          </p:nvPr>
        </p:nvSpPr>
        <p:spPr>
          <a:xfrm>
            <a:off x="311700" y="1152475"/>
            <a:ext cx="4260300" cy="369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Wrapper/Decorator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Why not just extend a class?</a:t>
            </a:r>
            <a:endParaRPr/>
          </a:p>
        </p:txBody>
      </p:sp>
      <p:pic>
        <p:nvPicPr>
          <p:cNvPr id="205" name="Google Shape;205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97175" y="445025"/>
            <a:ext cx="3786936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Design Patterns</a:t>
            </a:r>
            <a:endParaRPr/>
          </a:p>
        </p:txBody>
      </p:sp>
      <p:sp>
        <p:nvSpPr>
          <p:cNvPr id="211" name="Google Shape;211;p36"/>
          <p:cNvSpPr txBox="1"/>
          <p:nvPr>
            <p:ph idx="1" type="body"/>
          </p:nvPr>
        </p:nvSpPr>
        <p:spPr>
          <a:xfrm>
            <a:off x="311700" y="1152475"/>
            <a:ext cx="4260300" cy="369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Wrapper/Decorator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Why not just extend a class?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This is more flexible!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Accepts any implementation of an interface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Can be nested with other wrappers (if combined with implementing the interface itself)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Can limit the methods of the wrapped object (if needed)</a:t>
            </a:r>
            <a:endParaRPr/>
          </a:p>
        </p:txBody>
      </p:sp>
      <p:pic>
        <p:nvPicPr>
          <p:cNvPr id="212" name="Google Shape;212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97175" y="445025"/>
            <a:ext cx="3786936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Design Patterns</a:t>
            </a:r>
            <a:endParaRPr/>
          </a:p>
        </p:txBody>
      </p:sp>
      <p:pic>
        <p:nvPicPr>
          <p:cNvPr id="218" name="Google Shape;218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688" y="2596175"/>
            <a:ext cx="6178776" cy="2547325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37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Wrapper/Decorator Xtreme: Proxy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Hidden by the classloader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Doesn't change the type of the object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37"/>
          <p:cNvSpPr txBox="1"/>
          <p:nvPr/>
        </p:nvSpPr>
        <p:spPr>
          <a:xfrm>
            <a:off x="5625250" y="383950"/>
            <a:ext cx="2943000" cy="23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Advantage: automatically updates as the class/interface changes (reduces maintenance burden).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Often used for security checks or logging frameworks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Your Turn!</a:t>
            </a:r>
            <a:endParaRPr/>
          </a:p>
        </p:txBody>
      </p:sp>
      <p:sp>
        <p:nvSpPr>
          <p:cNvPr id="226" name="Google Shape;226;p3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Use the starter code in the exercise2 package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Use the Wrapper pattern to create an Animal implementation that stops you from trying to pet an unfriendly animal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Use the wrapper you created to add some safety precautions to the PettingZoo - when you’re done, the PettingZooTest should pass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Design Patterns</a:t>
            </a:r>
            <a:endParaRPr/>
          </a:p>
        </p:txBody>
      </p:sp>
      <p:sp>
        <p:nvSpPr>
          <p:cNvPr id="232" name="Google Shape;232;p39"/>
          <p:cNvSpPr txBox="1"/>
          <p:nvPr>
            <p:ph idx="1" type="body"/>
          </p:nvPr>
        </p:nvSpPr>
        <p:spPr>
          <a:xfrm>
            <a:off x="311700" y="1152475"/>
            <a:ext cx="4313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Visitor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Problem: I have a collection of related objects of different types, and I want users to be able to interact with the collection seamlessly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Normally, I'd use an </a:t>
            </a:r>
            <a:r>
              <a:rPr b="1" lang="en"/>
              <a:t>iterator</a:t>
            </a:r>
            <a:r>
              <a:rPr lang="en"/>
              <a:t>, but the types are all wrong!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How can I make 'choose how to interact with an object' part of my API?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33" name="Google Shape;233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75963" y="865075"/>
            <a:ext cx="4524375" cy="1219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Design Patterns</a:t>
            </a:r>
            <a:endParaRPr/>
          </a:p>
        </p:txBody>
      </p:sp>
      <p:sp>
        <p:nvSpPr>
          <p:cNvPr id="239" name="Google Shape;239;p40"/>
          <p:cNvSpPr txBox="1"/>
          <p:nvPr>
            <p:ph idx="1" type="body"/>
          </p:nvPr>
        </p:nvSpPr>
        <p:spPr>
          <a:xfrm>
            <a:off x="311700" y="1152475"/>
            <a:ext cx="4313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Visitor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Solution: Give users a structured way to specify per-type behavior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If types change over time, much easier to find and fix problems vs an iterator with instanceof/type casts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Easier to implement as a user (what types are present is enforced by compiler)</a:t>
            </a:r>
            <a:endParaRPr/>
          </a:p>
        </p:txBody>
      </p:sp>
      <p:pic>
        <p:nvPicPr>
          <p:cNvPr id="240" name="Google Shape;240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01775" y="236050"/>
            <a:ext cx="4214100" cy="3433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Design Patterns</a:t>
            </a:r>
            <a:endParaRPr/>
          </a:p>
        </p:txBody>
      </p:sp>
      <p:sp>
        <p:nvSpPr>
          <p:cNvPr id="246" name="Google Shape;246;p41"/>
          <p:cNvSpPr txBox="1"/>
          <p:nvPr>
            <p:ph idx="1" type="body"/>
          </p:nvPr>
        </p:nvSpPr>
        <p:spPr>
          <a:xfrm>
            <a:off x="311700" y="1152475"/>
            <a:ext cx="4313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Visitor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Solution: Give users a structured way to specify per-type behavior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If types change over time, much easier to find and fix problems vs an iterator with instanceof/type casts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Easier to implement as a user (what types are present is enforced by compiler)</a:t>
            </a:r>
            <a:endParaRPr/>
          </a:p>
        </p:txBody>
      </p:sp>
      <p:pic>
        <p:nvPicPr>
          <p:cNvPr id="247" name="Google Shape;247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77500" y="1170125"/>
            <a:ext cx="4214100" cy="24524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Design Patterns</a:t>
            </a:r>
            <a:endParaRPr/>
          </a:p>
        </p:txBody>
      </p:sp>
      <p:sp>
        <p:nvSpPr>
          <p:cNvPr id="253" name="Google Shape;253;p42"/>
          <p:cNvSpPr txBox="1"/>
          <p:nvPr>
            <p:ph idx="1" type="body"/>
          </p:nvPr>
        </p:nvSpPr>
        <p:spPr>
          <a:xfrm>
            <a:off x="311700" y="1152475"/>
            <a:ext cx="4313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Visitor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Additional use: structured type casting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If you have an interface where you need a compile-time check of the types of things that implement it (say, hypothetically, an InputConfiguration), visitors let you enforce that</a:t>
            </a:r>
            <a:endParaRPr/>
          </a:p>
        </p:txBody>
      </p:sp>
      <p:pic>
        <p:nvPicPr>
          <p:cNvPr id="254" name="Google Shape;254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77500" y="1170125"/>
            <a:ext cx="4313401" cy="21672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Design Patterns</a:t>
            </a:r>
            <a:endParaRPr/>
          </a:p>
        </p:txBody>
      </p:sp>
      <p:sp>
        <p:nvSpPr>
          <p:cNvPr id="260" name="Google Shape;260;p43"/>
          <p:cNvSpPr txBox="1"/>
          <p:nvPr>
            <p:ph idx="1" type="body"/>
          </p:nvPr>
        </p:nvSpPr>
        <p:spPr>
          <a:xfrm>
            <a:off x="311700" y="1152475"/>
            <a:ext cx="4313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Visitor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Additional use: structured type casting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If you have an interface where you need a compile-time check of the types of things that implement it (say, hypothetically, an InputConfiguration), visitors let you enforce that</a:t>
            </a:r>
            <a:endParaRPr/>
          </a:p>
        </p:txBody>
      </p:sp>
      <p:pic>
        <p:nvPicPr>
          <p:cNvPr id="261" name="Google Shape;261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08000" y="445025"/>
            <a:ext cx="3562350" cy="1819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77500" y="2416700"/>
            <a:ext cx="4214101" cy="22112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Design Patterns</a:t>
            </a:r>
            <a:endParaRPr/>
          </a:p>
        </p:txBody>
      </p:sp>
      <p:sp>
        <p:nvSpPr>
          <p:cNvPr id="268" name="Google Shape;268;p44"/>
          <p:cNvSpPr txBox="1"/>
          <p:nvPr>
            <p:ph idx="1" type="body"/>
          </p:nvPr>
        </p:nvSpPr>
        <p:spPr>
          <a:xfrm>
            <a:off x="311700" y="1152475"/>
            <a:ext cx="4313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Visitor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Additional use: structured type casting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If you have an interface where you need a compile-time check of the types of things that implement it (say, hypothetically, an InputConfiguration), visitors let you enforce that</a:t>
            </a:r>
            <a:endParaRPr/>
          </a:p>
        </p:txBody>
      </p:sp>
      <p:pic>
        <p:nvPicPr>
          <p:cNvPr id="269" name="Google Shape;269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77500" y="2416700"/>
            <a:ext cx="4214101" cy="2211286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77500" y="394675"/>
            <a:ext cx="4054799" cy="19100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Design Patterns</a:t>
            </a:r>
            <a:endParaRPr/>
          </a:p>
        </p:txBody>
      </p:sp>
      <p:sp>
        <p:nvSpPr>
          <p:cNvPr id="276" name="Google Shape;276;p45"/>
          <p:cNvSpPr txBox="1"/>
          <p:nvPr>
            <p:ph idx="1" type="body"/>
          </p:nvPr>
        </p:nvSpPr>
        <p:spPr>
          <a:xfrm>
            <a:off x="311700" y="1152475"/>
            <a:ext cx="4313400" cy="39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Visitor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What happens if we add Bananas?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Update FruitVisitor to have visitBanana()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Option 1: Include a default no-op Banana behavior (backwards-compatible)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Option 2: Compiler will find you every place that needs to be updated (guaranteed)</a:t>
            </a:r>
            <a:endParaRPr/>
          </a:p>
        </p:txBody>
      </p:sp>
      <p:pic>
        <p:nvPicPr>
          <p:cNvPr id="277" name="Google Shape;277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25100" y="333100"/>
            <a:ext cx="4214100" cy="27171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Design Patterns</a:t>
            </a:r>
            <a:endParaRPr/>
          </a:p>
        </p:txBody>
      </p:sp>
      <p:sp>
        <p:nvSpPr>
          <p:cNvPr id="283" name="Google Shape;283;p46"/>
          <p:cNvSpPr txBox="1"/>
          <p:nvPr>
            <p:ph idx="1" type="body"/>
          </p:nvPr>
        </p:nvSpPr>
        <p:spPr>
          <a:xfrm>
            <a:off x="311700" y="1017725"/>
            <a:ext cx="4313400" cy="403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Visitor (Alternate)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Is there any way to get rid of those instanceof checks entirely?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⇒ Have the fruit itself handle the type checking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But:</a:t>
            </a:r>
            <a:endParaRPr/>
          </a:p>
          <a:p>
            <a:pPr indent="-317182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the downside in terms of readability means in practice this is not a good option (breaks OOP best practices with inversion of control)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still have to exhaustively list all types in the Visitor definition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⇒ Good to recognize, not to use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Best practices constantly evolve depending on what works </a:t>
            </a:r>
            <a:r>
              <a:rPr b="1" lang="en"/>
              <a:t>in practice</a:t>
            </a:r>
            <a:r>
              <a:rPr lang="en"/>
              <a:t> - this was a good idea that didn’t turn out to work well</a:t>
            </a:r>
            <a:endParaRPr/>
          </a:p>
        </p:txBody>
      </p:sp>
      <p:sp>
        <p:nvSpPr>
          <p:cNvPr id="284" name="Google Shape;284;p46"/>
          <p:cNvSpPr txBox="1"/>
          <p:nvPr/>
        </p:nvSpPr>
        <p:spPr>
          <a:xfrm>
            <a:off x="4876800" y="152400"/>
            <a:ext cx="3904800" cy="15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000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interface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Fruit {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n" sz="1000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000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accept(FruitVisitor </a:t>
            </a:r>
            <a:r>
              <a:rPr lang="en" sz="1000">
                <a:solidFill>
                  <a:srgbClr val="6A3E3E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visitor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n" sz="1000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000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static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000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interface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FruitVisitor {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b="1" lang="en" sz="1000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visitApple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(Apple </a:t>
            </a:r>
            <a:r>
              <a:rPr lang="en" sz="1000">
                <a:solidFill>
                  <a:srgbClr val="6A3E3E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apple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b="1" lang="en" sz="1000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visitOrange(Orange </a:t>
            </a:r>
            <a:r>
              <a:rPr lang="en" sz="1000">
                <a:solidFill>
                  <a:srgbClr val="6A3E3E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orange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}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85" name="Google Shape;285;p46"/>
          <p:cNvSpPr txBox="1"/>
          <p:nvPr/>
        </p:nvSpPr>
        <p:spPr>
          <a:xfrm>
            <a:off x="4953000" y="1752600"/>
            <a:ext cx="4000800" cy="12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000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Apple </a:t>
            </a:r>
            <a:r>
              <a:rPr b="1" lang="en" sz="1000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implements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Fruit {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" sz="1000">
                <a:solidFill>
                  <a:srgbClr val="646464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@Override</a:t>
            </a:r>
            <a:endParaRPr sz="1000">
              <a:solidFill>
                <a:srgbClr val="646464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n" sz="1000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000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accept(Fruit.FruitVisitor </a:t>
            </a:r>
            <a:r>
              <a:rPr lang="en" sz="1000">
                <a:solidFill>
                  <a:srgbClr val="6A3E3E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visitor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 {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" sz="1000">
                <a:solidFill>
                  <a:srgbClr val="6A3E3E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visitor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.visitApple(</a:t>
            </a:r>
            <a:r>
              <a:rPr b="1" lang="en" sz="1000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this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}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86" name="Google Shape;286;p46"/>
          <p:cNvSpPr txBox="1"/>
          <p:nvPr/>
        </p:nvSpPr>
        <p:spPr>
          <a:xfrm>
            <a:off x="4495800" y="3200400"/>
            <a:ext cx="4458000" cy="246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n" sz="1000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000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eatAFruit(Bowl </a:t>
            </a:r>
            <a:r>
              <a:rPr lang="en" sz="1000">
                <a:solidFill>
                  <a:srgbClr val="6A3E3E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bowl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 {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" sz="1000">
                <a:solidFill>
                  <a:srgbClr val="6A3E3E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bowl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.grabFruit().accept(</a:t>
            </a:r>
            <a:r>
              <a:rPr b="1" lang="en" sz="1000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FruitVisitor() {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   </a:t>
            </a:r>
            <a:r>
              <a:rPr lang="en" sz="1000">
                <a:solidFill>
                  <a:srgbClr val="646464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@Override</a:t>
            </a:r>
            <a:endParaRPr sz="1000">
              <a:solidFill>
                <a:srgbClr val="646464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   </a:t>
            </a:r>
            <a:r>
              <a:rPr b="1" lang="en" sz="1000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000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visitApple(Apple </a:t>
            </a:r>
            <a:r>
              <a:rPr lang="en" sz="1000">
                <a:solidFill>
                  <a:srgbClr val="6A3E3E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apple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 {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       eat(</a:t>
            </a:r>
            <a:r>
              <a:rPr lang="en" sz="1000">
                <a:solidFill>
                  <a:srgbClr val="6A3E3E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apple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   }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   </a:t>
            </a:r>
            <a:r>
              <a:rPr lang="en" sz="1000">
                <a:solidFill>
                  <a:srgbClr val="646464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@Override</a:t>
            </a:r>
            <a:endParaRPr sz="1000">
              <a:solidFill>
                <a:srgbClr val="646464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   </a:t>
            </a:r>
            <a:r>
              <a:rPr b="1" lang="en" sz="1000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000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visitOrange(Orange </a:t>
            </a:r>
            <a:r>
              <a:rPr lang="en" sz="1000">
                <a:solidFill>
                  <a:srgbClr val="6A3E3E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orange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 {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       eat(</a:t>
            </a:r>
            <a:r>
              <a:rPr lang="en" sz="1000">
                <a:solidFill>
                  <a:srgbClr val="6A3E3E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orange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.removePeel());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   }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});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}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Design Patterns</a:t>
            </a:r>
            <a:endParaRPr/>
          </a:p>
        </p:txBody>
      </p:sp>
      <p:sp>
        <p:nvSpPr>
          <p:cNvPr id="292" name="Google Shape;292;p47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Listener/Subscriber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Problem: When some data changes, I want to tell any other pieces of code that might be interested, but I don't know what they all are up front.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/>
              <a:t>How can I introduce runtime connections between components tied to changing data?</a:t>
            </a:r>
            <a:r>
              <a:rPr lang="en"/>
              <a:t> </a:t>
            </a:r>
            <a:endParaRPr/>
          </a:p>
        </p:txBody>
      </p:sp>
      <p:pic>
        <p:nvPicPr>
          <p:cNvPr id="293" name="Google Shape;293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12275" y="1277050"/>
            <a:ext cx="4267200" cy="213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Design Patterns</a:t>
            </a:r>
            <a:endParaRPr/>
          </a:p>
        </p:txBody>
      </p:sp>
      <p:sp>
        <p:nvSpPr>
          <p:cNvPr id="299" name="Google Shape;299;p48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Listener/Subscriber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Solution: A component can </a:t>
            </a:r>
            <a:r>
              <a:rPr b="1" lang="en"/>
              <a:t>subscribe</a:t>
            </a:r>
            <a:r>
              <a:rPr lang="en"/>
              <a:t> to a particular set of changes</a:t>
            </a:r>
            <a:endParaRPr/>
          </a:p>
        </p:txBody>
      </p:sp>
      <p:pic>
        <p:nvPicPr>
          <p:cNvPr id="300" name="Google Shape;300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33250" y="114725"/>
            <a:ext cx="4598400" cy="2900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Google Shape;301;p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60838" y="3076563"/>
            <a:ext cx="5686425" cy="2066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Design Patterns</a:t>
            </a:r>
            <a:endParaRPr/>
          </a:p>
        </p:txBody>
      </p:sp>
      <p:sp>
        <p:nvSpPr>
          <p:cNvPr id="307" name="Google Shape;307;p49"/>
          <p:cNvSpPr txBox="1"/>
          <p:nvPr>
            <p:ph idx="1" type="body"/>
          </p:nvPr>
        </p:nvSpPr>
        <p:spPr>
          <a:xfrm>
            <a:off x="311700" y="1152475"/>
            <a:ext cx="4260300" cy="386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Listener/Subscriber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When to use listener/subscriber vs. having 'on data changed' logic in the data class: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Generic data classes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Many different behaviors for listeners</a:t>
            </a:r>
            <a:endParaRPr/>
          </a:p>
        </p:txBody>
      </p:sp>
      <p:pic>
        <p:nvPicPr>
          <p:cNvPr id="308" name="Google Shape;308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33250" y="114725"/>
            <a:ext cx="4598400" cy="2900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09" name="Google Shape;309;p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97572" y="3562447"/>
            <a:ext cx="4349700" cy="1581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Your Turn!</a:t>
            </a:r>
            <a:endParaRPr/>
          </a:p>
        </p:txBody>
      </p:sp>
      <p:sp>
        <p:nvSpPr>
          <p:cNvPr id="315" name="Google Shape;315;p5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Start with the code in the exercise3 package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Use the Listener pattern to fix the TODOs in StudentDirectory, CSDepartment, and ITDepartment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Coding Concept Patterns</a:t>
            </a:r>
            <a:endParaRPr/>
          </a:p>
        </p:txBody>
      </p:sp>
      <p:sp>
        <p:nvSpPr>
          <p:cNvPr id="321" name="Google Shape;321;p5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Somewhere between a "best practice" and a "design pattern"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Still matches a problem to a solution, but in a more abstract way than design patterns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Resilient Code</a:t>
            </a:r>
            <a:endParaRPr/>
          </a:p>
        </p:txBody>
      </p:sp>
      <p:sp>
        <p:nvSpPr>
          <p:cNvPr id="327" name="Google Shape;327;p5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Goes by many names (code path/execution isolation, defensive coding, etc)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Goal: If Component A has a bug/becomes malicious, Component B should still work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Solutions: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Sanitize/validate inputs for </a:t>
            </a:r>
            <a:r>
              <a:rPr b="1" lang="en"/>
              <a:t>public </a:t>
            </a:r>
            <a:r>
              <a:rPr lang="en"/>
              <a:t>methods and constructors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Isolate method calls by default (clients must pass a key or some other info to connect different calls)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Methods can be called in any order (hide implementation details behind wrapper methods)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5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Resilient Code</a:t>
            </a:r>
            <a:endParaRPr/>
          </a:p>
        </p:txBody>
      </p:sp>
      <p:sp>
        <p:nvSpPr>
          <p:cNvPr id="333" name="Google Shape;333;p53"/>
          <p:cNvSpPr txBox="1"/>
          <p:nvPr>
            <p:ph idx="1" type="body"/>
          </p:nvPr>
        </p:nvSpPr>
        <p:spPr>
          <a:xfrm>
            <a:off x="311700" y="1017725"/>
            <a:ext cx="8520600" cy="44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Good:								Fragile:</a:t>
            </a:r>
            <a:endParaRPr/>
          </a:p>
        </p:txBody>
      </p:sp>
      <p:pic>
        <p:nvPicPr>
          <p:cNvPr id="334" name="Google Shape;334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463624"/>
            <a:ext cx="3229450" cy="3679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5" name="Google Shape;335;p5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94200" y="1385425"/>
            <a:ext cx="3832241" cy="36798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5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Resilient Code</a:t>
            </a:r>
            <a:endParaRPr/>
          </a:p>
        </p:txBody>
      </p:sp>
      <p:sp>
        <p:nvSpPr>
          <p:cNvPr id="341" name="Google Shape;341;p54"/>
          <p:cNvSpPr txBox="1"/>
          <p:nvPr>
            <p:ph idx="1" type="body"/>
          </p:nvPr>
        </p:nvSpPr>
        <p:spPr>
          <a:xfrm>
            <a:off x="311700" y="1017725"/>
            <a:ext cx="8520600" cy="44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Good:								              Fragile:</a:t>
            </a:r>
            <a:endParaRPr/>
          </a:p>
        </p:txBody>
      </p:sp>
      <p:pic>
        <p:nvPicPr>
          <p:cNvPr id="342" name="Google Shape;342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72200" y="1543150"/>
            <a:ext cx="3371850" cy="2466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3" name="Google Shape;343;p5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615925"/>
            <a:ext cx="4834659" cy="2466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5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Stateless Services</a:t>
            </a:r>
            <a:endParaRPr/>
          </a:p>
        </p:txBody>
      </p:sp>
      <p:sp>
        <p:nvSpPr>
          <p:cNvPr id="349" name="Google Shape;349;p5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Goal: Prevent multiple callers of a method/clients of a server from messing with each other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Solution: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Move state management from implementation to client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5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Stateless Services</a:t>
            </a:r>
            <a:endParaRPr/>
          </a:p>
        </p:txBody>
      </p:sp>
      <p:sp>
        <p:nvSpPr>
          <p:cNvPr id="355" name="Google Shape;355;p56"/>
          <p:cNvSpPr txBox="1"/>
          <p:nvPr>
            <p:ph idx="1" type="body"/>
          </p:nvPr>
        </p:nvSpPr>
        <p:spPr>
          <a:xfrm>
            <a:off x="182925" y="1152475"/>
            <a:ext cx="4681500" cy="39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Adding multiple clients is risky/difficult:</a:t>
            </a:r>
            <a:endParaRPr/>
          </a:p>
          <a:p>
            <a:pPr indent="0" lvl="0" marL="254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100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static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100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interface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Server {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b="1" lang="en" sz="1100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100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initializeWorkflow(String </a:t>
            </a:r>
            <a:r>
              <a:rPr lang="en" sz="1100">
                <a:solidFill>
                  <a:srgbClr val="6A3E3E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startingData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b="1" lang="en" sz="1100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100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runWorkflow();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b="1" lang="en" sz="1100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String getResultsOfWorkflow();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100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client(Server </a:t>
            </a:r>
            <a:r>
              <a:rPr lang="en" sz="1100">
                <a:solidFill>
                  <a:srgbClr val="6A3E3E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server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 {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lang="en" sz="1100">
                <a:solidFill>
                  <a:srgbClr val="6A3E3E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server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.initializeWorkflow(</a:t>
            </a:r>
            <a:r>
              <a:rPr lang="en" sz="1100">
                <a:solidFill>
                  <a:srgbClr val="2A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"Hello World"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lang="en" sz="1100">
                <a:solidFill>
                  <a:srgbClr val="6A3E3E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server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.runWorkflow();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	String </a:t>
            </a:r>
            <a:r>
              <a:rPr lang="en" sz="1100">
                <a:solidFill>
                  <a:srgbClr val="6A3E3E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result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" sz="1100">
                <a:solidFill>
                  <a:srgbClr val="6A3E3E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server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.getResultsOfWorkflow();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highlight>
                  <a:srgbClr val="FFFFFF"/>
                </a:highlight>
              </a:rPr>
              <a:t>⇒ Use parameters/return values to track </a:t>
            </a:r>
            <a:r>
              <a:rPr b="1" lang="en" sz="1600">
                <a:highlight>
                  <a:srgbClr val="FFFFFF"/>
                </a:highlight>
              </a:rPr>
              <a:t>client-related</a:t>
            </a:r>
            <a:r>
              <a:rPr lang="en" sz="1600">
                <a:highlight>
                  <a:srgbClr val="FFFFFF"/>
                </a:highlight>
              </a:rPr>
              <a:t> state; implementation should only store client-independent state</a:t>
            </a:r>
            <a:endParaRPr sz="1600"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56"/>
          <p:cNvSpPr txBox="1"/>
          <p:nvPr/>
        </p:nvSpPr>
        <p:spPr>
          <a:xfrm>
            <a:off x="4819325" y="1171775"/>
            <a:ext cx="4247100" cy="33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Adding multiple clients is easy: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100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static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100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interface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Server {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en" sz="1100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String runWorkflow(String </a:t>
            </a:r>
            <a:r>
              <a:rPr lang="en" sz="1100">
                <a:solidFill>
                  <a:srgbClr val="6A3E3E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startingData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100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client(Server </a:t>
            </a:r>
            <a:r>
              <a:rPr lang="en" sz="1100">
                <a:solidFill>
                  <a:srgbClr val="6A3E3E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server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 {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String </a:t>
            </a:r>
            <a:r>
              <a:rPr lang="en" sz="1100">
                <a:solidFill>
                  <a:srgbClr val="6A3E3E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result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" sz="1100">
                <a:solidFill>
                  <a:srgbClr val="6A3E3E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server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.runWorkflow(</a:t>
            </a:r>
            <a:r>
              <a:rPr lang="en" sz="1100">
                <a:solidFill>
                  <a:srgbClr val="2A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"Hello World"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5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Streaming Inputs/Outputs</a:t>
            </a:r>
            <a:endParaRPr/>
          </a:p>
        </p:txBody>
      </p:sp>
      <p:sp>
        <p:nvSpPr>
          <p:cNvPr id="362" name="Google Shape;362;p5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Large (or potentially large) inputs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Doesn't fit in memory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Fits in memory, but it's slow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Usually fits in memory, but sometimes…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Inputs without a known-beforehand end point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Files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Network socket inputs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Running a 'where' query on a database table</a:t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5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Streaming Solutions</a:t>
            </a:r>
            <a:endParaRPr/>
          </a:p>
        </p:txBody>
      </p:sp>
      <p:sp>
        <p:nvSpPr>
          <p:cNvPr id="368" name="Google Shape;368;p5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Iterable&lt;T&gt;/Iterator&lt;T&gt;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Most </a:t>
            </a:r>
            <a:r>
              <a:rPr b="1" lang="en"/>
              <a:t>general</a:t>
            </a:r>
            <a:r>
              <a:rPr lang="en"/>
              <a:t>/flexible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Iterable is nicer than iterator (can be used in for loops), but requires that the input can be </a:t>
            </a:r>
            <a:r>
              <a:rPr b="1" lang="en"/>
              <a:t>restarted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Typically used when the </a:t>
            </a:r>
            <a:r>
              <a:rPr b="1" lang="en"/>
              <a:t>entire </a:t>
            </a:r>
            <a:r>
              <a:rPr lang="en"/>
              <a:t>stream needs to be read</a:t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5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Streaming Solutions</a:t>
            </a:r>
            <a:endParaRPr/>
          </a:p>
        </p:txBody>
      </p:sp>
      <p:sp>
        <p:nvSpPr>
          <p:cNvPr id="374" name="Google Shape;374;p59"/>
          <p:cNvSpPr txBox="1"/>
          <p:nvPr>
            <p:ph idx="1" type="body"/>
          </p:nvPr>
        </p:nvSpPr>
        <p:spPr>
          <a:xfrm>
            <a:off x="311700" y="1152475"/>
            <a:ext cx="8520600" cy="36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Stream&lt;T&gt;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Introduced in Java 8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Rarely explicitly instantiated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Good for </a:t>
            </a:r>
            <a:r>
              <a:rPr b="1" lang="en"/>
              <a:t>pipelining </a:t>
            </a:r>
            <a:r>
              <a:rPr lang="en"/>
              <a:t>operations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Can become unreadable quickly, be careful about making your pipeline too dense!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b="1" lang="en"/>
              <a:t>map</a:t>
            </a:r>
            <a:r>
              <a:rPr lang="en"/>
              <a:t> means 'transform'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6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Streaming Solutions</a:t>
            </a:r>
            <a:endParaRPr/>
          </a:p>
        </p:txBody>
      </p:sp>
      <p:sp>
        <p:nvSpPr>
          <p:cNvPr id="380" name="Google Shape;380;p60"/>
          <p:cNvSpPr txBox="1"/>
          <p:nvPr>
            <p:ph idx="1" type="body"/>
          </p:nvPr>
        </p:nvSpPr>
        <p:spPr>
          <a:xfrm>
            <a:off x="311700" y="952675"/>
            <a:ext cx="8520600" cy="410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example of how lambdas can become too dense - remember to turn lambdas into their </a:t>
            </a:r>
            <a:r>
              <a:rPr b="1" lang="en"/>
              <a:t>own named variables </a:t>
            </a:r>
            <a:r>
              <a:rPr lang="en"/>
              <a:t>when there is more than 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even is this: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new ArrayList&lt;String&gt;().stream()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.filter(s -&gt; s.indexOf(" ") == -1)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.map(s -&gt; s.toUpperCase())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.distinct()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.flatMapToInt(s -&gt; s.chars());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Better: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new ArrayList&lt;String&gt;().stream()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    .filter(removeStringsWithSpaces)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    .map(toUpperCase)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    .distinct()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    .flatMapToInt(addAsciiValueOfCharacters);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6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Streaming Inputs/Outputs</a:t>
            </a:r>
            <a:endParaRPr/>
          </a:p>
        </p:txBody>
      </p:sp>
      <p:sp>
        <p:nvSpPr>
          <p:cNvPr id="386" name="Google Shape;386;p6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Paging</a:t>
            </a:r>
            <a:r>
              <a:rPr lang="en"/>
              <a:t>: define a page size and a hasMore flag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Good for situations where only </a:t>
            </a:r>
            <a:r>
              <a:rPr b="1" lang="en"/>
              <a:t>some </a:t>
            </a:r>
            <a:r>
              <a:rPr lang="en"/>
              <a:t>of the input is needed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Choose the page size to fit nicely in memory </a:t>
            </a:r>
            <a:endParaRPr/>
          </a:p>
          <a:p>
            <a:pPr indent="45720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(typically a List&lt;T&gt;)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Allows </a:t>
            </a:r>
            <a:r>
              <a:rPr b="1" lang="en"/>
              <a:t>batching </a:t>
            </a:r>
            <a:r>
              <a:rPr lang="en"/>
              <a:t>of downstream processing (ex: printing)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Can include the number of pages, or (more common) an </a:t>
            </a:r>
            <a:r>
              <a:rPr b="1" lang="en"/>
              <a:t>approximate </a:t>
            </a:r>
            <a:r>
              <a:rPr lang="en"/>
              <a:t>number of pages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Tricky bit: getNextPage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Deterministic ordering, O(n</a:t>
            </a:r>
            <a:r>
              <a:rPr baseline="30000" lang="en" sz="1800"/>
              <a:t>2</a:t>
            </a:r>
            <a:r>
              <a:rPr lang="en" sz="1800"/>
              <a:t>) traversal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Iterator pointer (can get into memory leak situations)</a:t>
            </a:r>
            <a:endParaRPr sz="1800"/>
          </a:p>
        </p:txBody>
      </p:sp>
      <p:pic>
        <p:nvPicPr>
          <p:cNvPr id="387" name="Google Shape;387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48557" y="153943"/>
            <a:ext cx="1787817" cy="2488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6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Your Turn!</a:t>
            </a:r>
            <a:endParaRPr/>
          </a:p>
        </p:txBody>
      </p:sp>
      <p:sp>
        <p:nvSpPr>
          <p:cNvPr id="393" name="Google Shape;393;p6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Start with the code in the exercise4 package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Using an Iterator, change findMaximumValue to accept an arbitrarily large number of input integers</a:t>
            </a:r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6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Let's Review!</a:t>
            </a:r>
            <a:endParaRPr/>
          </a:p>
        </p:txBody>
      </p:sp>
      <p:sp>
        <p:nvSpPr>
          <p:cNvPr id="399" name="Google Shape;399;p6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Code Conventions</a:t>
            </a:r>
            <a:r>
              <a:rPr lang="en"/>
              <a:t>: Compact iteration, lambdas, generics (syntax)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Design Patterns</a:t>
            </a:r>
            <a:r>
              <a:rPr lang="en"/>
              <a:t>: Problems/Basic solutions for Builders, Dependency Injection, Lazy Initialization, Wrappers, Visitors, Listeners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Resilient Code</a:t>
            </a:r>
            <a:r>
              <a:rPr lang="en"/>
              <a:t>: 3 ways to make a component robust to failure in other components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/>
              <a:t>Streaming</a:t>
            </a:r>
            <a:r>
              <a:rPr lang="en"/>
              <a:t>: When to use Collection vs Iterable vs Iterator vs Paging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